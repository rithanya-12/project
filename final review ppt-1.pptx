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80" r:id="rId4"/>
    <p:sldId id="281" r:id="rId5"/>
    <p:sldId id="282" r:id="rId6"/>
    <p:sldId id="283" r:id="rId7"/>
    <p:sldId id="284" r:id="rId8"/>
    <p:sldId id="286" r:id="rId9"/>
    <p:sldId id="290" r:id="rId10"/>
    <p:sldId id="291" r:id="rId11"/>
    <p:sldId id="289" r:id="rId12"/>
    <p:sldId id="262" r:id="rId13"/>
    <p:sldId id="264" r:id="rId14"/>
    <p:sldId id="287" r:id="rId15"/>
    <p:sldId id="288" r:id="rId16"/>
    <p:sldId id="295" r:id="rId17"/>
    <p:sldId id="296" r:id="rId18"/>
    <p:sldId id="294" r:id="rId19"/>
    <p:sldId id="292" r:id="rId20"/>
    <p:sldId id="265" r:id="rId21"/>
    <p:sldId id="293" r:id="rId22"/>
    <p:sldId id="297" r:id="rId23"/>
    <p:sldId id="266"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2B"/>
    <a:srgbClr val="009A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359898-9A38-4951-8B7C-86C6886F52B2}" v="57" dt="2026-01-04T13:44:31.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p:cViewPr varScale="1">
        <p:scale>
          <a:sx n="78" d="100"/>
          <a:sy n="78" d="100"/>
        </p:scale>
        <p:origin x="161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BC7C05-E423-4EBD-A9CD-0BD19CD9CF10}" type="datetimeFigureOut">
              <a:rPr lang="en-US" smtClean="0"/>
              <a:pPr/>
              <a:t>2/11/2026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C16892-7E8B-4F87-9102-170D81793AD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5C16892-7E8B-4F87-9102-170D81793AD5}" type="slidenum">
              <a:rPr lang="en-US" smtClean="0"/>
              <a:pPr/>
              <a:t>13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5C16892-7E8B-4F87-9102-170D81793AD5}" type="slidenum">
              <a:rPr lang="en-US" smtClean="0"/>
              <a:pPr/>
              <a:t>20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5C16892-7E8B-4F87-9102-170D81793AD5}" type="slidenum">
              <a:rPr lang="en-US" smtClean="0"/>
              <a:pPr/>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9647F04-DA46-4FC7-B537-CD6BF5AEE891}" type="datetime5">
              <a:rPr lang="en-US" smtClean="0"/>
              <a:t>11-Feb-26</a:t>
            </a:fld>
            <a:endParaRPr lang="en-US"/>
          </a:p>
        </p:txBody>
      </p:sp>
      <p:sp>
        <p:nvSpPr>
          <p:cNvPr id="5" name="Footer Placeholder 4"/>
          <p:cNvSpPr>
            <a:spLocks noGrp="1"/>
          </p:cNvSpPr>
          <p:nvPr>
            <p:ph type="ftr" sz="quarter" idx="11"/>
          </p:nvPr>
        </p:nvSpPr>
        <p:spPr/>
        <p:txBody>
          <a:bodyPr/>
          <a:lstStyle/>
          <a:p>
            <a:r>
              <a:rPr lang="en-US"/>
              <a:t>Department of AI&amp;DS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DB1138-FDF1-430B-A8D2-F48B28C81DF6}" type="datetime5">
              <a:rPr lang="en-US" smtClean="0"/>
              <a:t>11-Feb-26</a:t>
            </a:fld>
            <a:endParaRPr lang="en-US"/>
          </a:p>
        </p:txBody>
      </p:sp>
      <p:sp>
        <p:nvSpPr>
          <p:cNvPr id="5" name="Footer Placeholder 4"/>
          <p:cNvSpPr>
            <a:spLocks noGrp="1"/>
          </p:cNvSpPr>
          <p:nvPr>
            <p:ph type="ftr" sz="quarter" idx="11"/>
          </p:nvPr>
        </p:nvSpPr>
        <p:spPr/>
        <p:txBody>
          <a:bodyPr/>
          <a:lstStyle/>
          <a:p>
            <a:r>
              <a:rPr lang="en-US"/>
              <a:t>Department of AI&amp;DS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715F41-9E12-4EB4-B181-1BBE827C754D}" type="datetime5">
              <a:rPr lang="en-US" smtClean="0"/>
              <a:t>11-Feb-26</a:t>
            </a:fld>
            <a:endParaRPr lang="en-US"/>
          </a:p>
        </p:txBody>
      </p:sp>
      <p:sp>
        <p:nvSpPr>
          <p:cNvPr id="5" name="Footer Placeholder 4"/>
          <p:cNvSpPr>
            <a:spLocks noGrp="1"/>
          </p:cNvSpPr>
          <p:nvPr>
            <p:ph type="ftr" sz="quarter" idx="11"/>
          </p:nvPr>
        </p:nvSpPr>
        <p:spPr/>
        <p:txBody>
          <a:bodyPr/>
          <a:lstStyle/>
          <a:p>
            <a:r>
              <a:rPr lang="en-US"/>
              <a:t>Department of AI&amp;DS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35B7A3D-71BC-4728-96F4-2BB0751E9968}" type="datetime5">
              <a:rPr lang="en-US" smtClean="0"/>
              <a:t>11-Feb-26</a:t>
            </a:fld>
            <a:endParaRPr lang="en-US"/>
          </a:p>
        </p:txBody>
      </p:sp>
      <p:sp>
        <p:nvSpPr>
          <p:cNvPr id="6" name="Footer Placeholder 5"/>
          <p:cNvSpPr>
            <a:spLocks noGrp="1"/>
          </p:cNvSpPr>
          <p:nvPr>
            <p:ph type="ftr" sz="quarter" idx="11"/>
          </p:nvPr>
        </p:nvSpPr>
        <p:spPr/>
        <p:txBody>
          <a:bodyPr/>
          <a:lstStyle/>
          <a:p>
            <a:r>
              <a:rPr lang="en-US"/>
              <a:t>Department of AI&amp;DS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137A496-51F4-4047-9CE1-24AC940E39EC}" type="datetime5">
              <a:rPr lang="en-US" smtClean="0"/>
              <a:t>11-Feb-26</a:t>
            </a:fld>
            <a:endParaRPr lang="en-US"/>
          </a:p>
        </p:txBody>
      </p:sp>
      <p:sp>
        <p:nvSpPr>
          <p:cNvPr id="8" name="Footer Placeholder 7"/>
          <p:cNvSpPr>
            <a:spLocks noGrp="1"/>
          </p:cNvSpPr>
          <p:nvPr>
            <p:ph type="ftr" sz="quarter" idx="11"/>
          </p:nvPr>
        </p:nvSpPr>
        <p:spPr/>
        <p:txBody>
          <a:bodyPr/>
          <a:lstStyle/>
          <a:p>
            <a:r>
              <a:rPr lang="en-US"/>
              <a:t>Department of AI&amp;DS</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BB3B52F-2362-48C5-A10E-D31030FED84D}" type="datetime5">
              <a:rPr lang="en-US" smtClean="0"/>
              <a:t>11-Feb-26</a:t>
            </a:fld>
            <a:endParaRPr lang="en-US"/>
          </a:p>
        </p:txBody>
      </p:sp>
      <p:sp>
        <p:nvSpPr>
          <p:cNvPr id="4" name="Footer Placeholder 3"/>
          <p:cNvSpPr>
            <a:spLocks noGrp="1"/>
          </p:cNvSpPr>
          <p:nvPr>
            <p:ph type="ftr" sz="quarter" idx="11"/>
          </p:nvPr>
        </p:nvSpPr>
        <p:spPr/>
        <p:txBody>
          <a:bodyPr/>
          <a:lstStyle/>
          <a:p>
            <a:r>
              <a:rPr lang="en-US"/>
              <a:t>Department of AI&amp;DS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5FBA68-9816-4686-9912-D98927DC24D3}" type="datetime5">
              <a:rPr lang="en-US" smtClean="0"/>
              <a:t>11-Feb-26</a:t>
            </a:fld>
            <a:endParaRPr lang="en-US"/>
          </a:p>
        </p:txBody>
      </p:sp>
      <p:sp>
        <p:nvSpPr>
          <p:cNvPr id="3" name="Footer Placeholder 2"/>
          <p:cNvSpPr>
            <a:spLocks noGrp="1"/>
          </p:cNvSpPr>
          <p:nvPr>
            <p:ph type="ftr" sz="quarter" idx="11"/>
          </p:nvPr>
        </p:nvSpPr>
        <p:spPr/>
        <p:txBody>
          <a:bodyPr/>
          <a:lstStyle/>
          <a:p>
            <a:r>
              <a:rPr lang="en-US"/>
              <a:t>Department of AI&amp;DS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FFE7BF-3ABA-4675-871E-E55CFA36E3FC}" type="datetime5">
              <a:rPr lang="en-US" smtClean="0"/>
              <a:t>11-Feb-26</a:t>
            </a:fld>
            <a:endParaRPr lang="en-US"/>
          </a:p>
        </p:txBody>
      </p:sp>
      <p:sp>
        <p:nvSpPr>
          <p:cNvPr id="6" name="Footer Placeholder 5"/>
          <p:cNvSpPr>
            <a:spLocks noGrp="1"/>
          </p:cNvSpPr>
          <p:nvPr>
            <p:ph type="ftr" sz="quarter" idx="11"/>
          </p:nvPr>
        </p:nvSpPr>
        <p:spPr/>
        <p:txBody>
          <a:bodyPr/>
          <a:lstStyle/>
          <a:p>
            <a:r>
              <a:rPr lang="en-US"/>
              <a:t>Department of AI&amp;DS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AEC13C-A09A-4D27-A079-5F5333693257}" type="datetime5">
              <a:rPr lang="en-US" smtClean="0"/>
              <a:t>11-Feb-26</a:t>
            </a:fld>
            <a:endParaRPr lang="en-US"/>
          </a:p>
        </p:txBody>
      </p:sp>
      <p:sp>
        <p:nvSpPr>
          <p:cNvPr id="6" name="Footer Placeholder 5"/>
          <p:cNvSpPr>
            <a:spLocks noGrp="1"/>
          </p:cNvSpPr>
          <p:nvPr>
            <p:ph type="ftr" sz="quarter" idx="11"/>
          </p:nvPr>
        </p:nvSpPr>
        <p:spPr/>
        <p:txBody>
          <a:bodyPr/>
          <a:lstStyle/>
          <a:p>
            <a:r>
              <a:rPr lang="en-US"/>
              <a:t>Department of AI&amp;DS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8E3340-2D5F-416A-8F1A-B32FD325FC1E}" type="datetime5">
              <a:rPr lang="en-US" smtClean="0"/>
              <a:t>11-Feb-26</a:t>
            </a:fld>
            <a:endParaRPr lang="en-US"/>
          </a:p>
        </p:txBody>
      </p:sp>
      <p:sp>
        <p:nvSpPr>
          <p:cNvPr id="5" name="Footer Placeholder 4"/>
          <p:cNvSpPr>
            <a:spLocks noGrp="1"/>
          </p:cNvSpPr>
          <p:nvPr>
            <p:ph type="ftr" sz="quarter" idx="11"/>
          </p:nvPr>
        </p:nvSpPr>
        <p:spPr/>
        <p:txBody>
          <a:bodyPr/>
          <a:lstStyle/>
          <a:p>
            <a:r>
              <a:rPr lang="en-US"/>
              <a:t>Department of AI&amp;DS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DE14DD-37BA-407D-ADDF-C8782BFF62AA}" type="datetime5">
              <a:rPr lang="en-US" smtClean="0"/>
              <a:t>11-Feb-26</a:t>
            </a:fld>
            <a:endParaRPr lang="en-US"/>
          </a:p>
        </p:txBody>
      </p:sp>
      <p:sp>
        <p:nvSpPr>
          <p:cNvPr id="5" name="Footer Placeholder 4"/>
          <p:cNvSpPr>
            <a:spLocks noGrp="1"/>
          </p:cNvSpPr>
          <p:nvPr>
            <p:ph type="ftr" sz="quarter" idx="11"/>
          </p:nvPr>
        </p:nvSpPr>
        <p:spPr/>
        <p:txBody>
          <a:bodyPr/>
          <a:lstStyle/>
          <a:p>
            <a:r>
              <a:rPr lang="en-US"/>
              <a:t>Department of AI&amp;DS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1AD0F-458C-4F4C-A2B0-A2E60D5AFC0B}" type="datetime5">
              <a:rPr lang="en-US" smtClean="0"/>
              <a:t>11-Feb-26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AI&amp;DS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5" name="Rectangle 4"/>
          <p:cNvSpPr/>
          <p:nvPr/>
        </p:nvSpPr>
        <p:spPr>
          <a:xfrm>
            <a:off x="2514600" y="304800"/>
            <a:ext cx="5791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latin typeface="Times New Roman" pitchFamily="18" charset="0"/>
                <a:cs typeface="Times New Roman" pitchFamily="18" charset="0"/>
              </a:rPr>
              <a:t>22UAD801- PROJECT WORK</a:t>
            </a:r>
          </a:p>
          <a:p>
            <a:pPr algn="ctr"/>
            <a:r>
              <a:rPr lang="en-IN" sz="2400" b="1" dirty="0">
                <a:solidFill>
                  <a:schemeClr val="tx1"/>
                </a:solidFill>
                <a:latin typeface="Times New Roman" pitchFamily="18" charset="0"/>
                <a:cs typeface="Times New Roman" pitchFamily="18" charset="0"/>
              </a:rPr>
              <a:t>Review 2</a:t>
            </a:r>
            <a:endParaRPr lang="en-US" sz="2400" b="1" dirty="0">
              <a:solidFill>
                <a:schemeClr val="tx1"/>
              </a:solidFill>
              <a:latin typeface="Times New Roman" pitchFamily="18" charset="0"/>
              <a:cs typeface="Times New Roman" pitchFamily="18" charset="0"/>
            </a:endParaRPr>
          </a:p>
        </p:txBody>
      </p:sp>
      <p:sp>
        <p:nvSpPr>
          <p:cNvPr id="7" name="Rectangle 6"/>
          <p:cNvSpPr/>
          <p:nvPr/>
        </p:nvSpPr>
        <p:spPr>
          <a:xfrm>
            <a:off x="2209800" y="1746250"/>
            <a:ext cx="60960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itchFamily="18" charset="0"/>
                <a:cs typeface="Times New Roman" pitchFamily="18" charset="0"/>
              </a:rPr>
              <a:t>AI-POWERED BREED IDENTIFICATION SYSTEM FOR DAIRY CATTLE AND BUFFALOES</a:t>
            </a:r>
          </a:p>
        </p:txBody>
      </p:sp>
      <p:sp>
        <p:nvSpPr>
          <p:cNvPr id="13" name="Rectangle 12"/>
          <p:cNvSpPr/>
          <p:nvPr/>
        </p:nvSpPr>
        <p:spPr>
          <a:xfrm>
            <a:off x="1295400" y="2971800"/>
            <a:ext cx="3657600" cy="28194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IN" i="1" dirty="0">
                <a:latin typeface="Times New Roman" pitchFamily="18" charset="0"/>
                <a:cs typeface="Times New Roman" pitchFamily="18" charset="0"/>
              </a:rPr>
              <a:t>Presented by,</a:t>
            </a:r>
          </a:p>
          <a:p>
            <a:endParaRPr lang="en-IN" i="1" dirty="0">
              <a:latin typeface="Times New Roman" pitchFamily="18" charset="0"/>
              <a:cs typeface="Times New Roman"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ARUNIKA G      (710722243005)</a:t>
            </a:r>
          </a:p>
          <a:p>
            <a:pPr algn="just">
              <a:lnSpc>
                <a:spcPct val="150000"/>
              </a:lnSpc>
            </a:pPr>
            <a:r>
              <a:rPr lang="en-IN" dirty="0">
                <a:latin typeface="Times New Roman" panose="02020603050405020304" pitchFamily="18" charset="0"/>
                <a:cs typeface="Times New Roman" panose="02020603050405020304" pitchFamily="18" charset="0"/>
              </a:rPr>
              <a:t>NAVYA N J        (710722243034)</a:t>
            </a:r>
          </a:p>
          <a:p>
            <a:pPr algn="just">
              <a:lnSpc>
                <a:spcPct val="150000"/>
              </a:lnSpc>
            </a:pPr>
            <a:r>
              <a:rPr lang="en-IN" dirty="0">
                <a:latin typeface="Times New Roman" panose="02020603050405020304" pitchFamily="18" charset="0"/>
                <a:cs typeface="Times New Roman" panose="02020603050405020304" pitchFamily="18" charset="0"/>
              </a:rPr>
              <a:t>RITHANYA V    (710722243040)</a:t>
            </a:r>
          </a:p>
          <a:p>
            <a:endParaRPr lang="en-IN" dirty="0"/>
          </a:p>
          <a:p>
            <a:endParaRPr lang="en-US" dirty="0"/>
          </a:p>
        </p:txBody>
      </p:sp>
      <p:sp>
        <p:nvSpPr>
          <p:cNvPr id="14" name="Rectangle 13"/>
          <p:cNvSpPr/>
          <p:nvPr/>
        </p:nvSpPr>
        <p:spPr>
          <a:xfrm>
            <a:off x="5562600" y="3346450"/>
            <a:ext cx="3276600" cy="17526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IN" i="1" dirty="0">
                <a:latin typeface="Times New Roman" pitchFamily="18" charset="0"/>
                <a:cs typeface="Times New Roman" pitchFamily="18" charset="0"/>
              </a:rPr>
              <a:t>Under the Guidance of</a:t>
            </a:r>
          </a:p>
          <a:p>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Dr. I. Devi B.E., M.E., PhD.,</a:t>
            </a:r>
          </a:p>
          <a:p>
            <a:r>
              <a:rPr lang="en-IN" dirty="0">
                <a:latin typeface="Times New Roman" pitchFamily="18" charset="0"/>
                <a:cs typeface="Times New Roman" pitchFamily="18" charset="0"/>
              </a:rPr>
              <a:t>Assistant Professor (</a:t>
            </a:r>
            <a:r>
              <a:rPr lang="en-IN" dirty="0" err="1">
                <a:latin typeface="Times New Roman" panose="02020603050405020304" pitchFamily="18" charset="0"/>
                <a:cs typeface="Times New Roman" panose="02020603050405020304" pitchFamily="18" charset="0"/>
              </a:rPr>
              <a:t>Sr.Gr</a:t>
            </a:r>
            <a:r>
              <a:rPr lang="en-IN" dirty="0">
                <a:latin typeface="Times New Roman" panose="02020603050405020304" pitchFamily="18" charset="0"/>
                <a:cs typeface="Times New Roman" panose="02020603050405020304" pitchFamily="18" charset="0"/>
              </a:rPr>
              <a:t>.) </a:t>
            </a:r>
          </a:p>
          <a:p>
            <a:endParaRPr lang="en-IN" dirty="0"/>
          </a:p>
          <a:p>
            <a:endParaRPr lang="en-US" dirty="0"/>
          </a:p>
        </p:txBody>
      </p:sp>
      <p:sp>
        <p:nvSpPr>
          <p:cNvPr id="15" name="Date Placeholder 14"/>
          <p:cNvSpPr>
            <a:spLocks noGrp="1"/>
          </p:cNvSpPr>
          <p:nvPr>
            <p:ph type="dt" sz="half" idx="10"/>
          </p:nvPr>
        </p:nvSpPr>
        <p:spPr>
          <a:xfrm>
            <a:off x="1295400" y="6324600"/>
            <a:ext cx="2133600" cy="365125"/>
          </a:xfrm>
        </p:spPr>
        <p:txBody>
          <a:bodyPr/>
          <a:lstStyle/>
          <a:p>
            <a:fld id="{7F4C9F76-4268-4240-B178-391A94A3FBA1}" type="datetime5">
              <a:rPr lang="en-US" sz="1400" smtClean="0">
                <a:solidFill>
                  <a:schemeClr val="tx1"/>
                </a:solidFill>
                <a:latin typeface="Times New Roman" pitchFamily="18" charset="0"/>
                <a:cs typeface="Times New Roman" pitchFamily="18" charset="0"/>
              </a:rPr>
              <a:t>11-Feb-26</a:t>
            </a:fld>
            <a:endParaRPr lang="en-US" dirty="0">
              <a:solidFill>
                <a:schemeClr val="tx1"/>
              </a:solidFill>
              <a:latin typeface="Times New Roman" pitchFamily="18" charset="0"/>
              <a:cs typeface="Times New Roman" pitchFamily="18" charset="0"/>
            </a:endParaRPr>
          </a:p>
        </p:txBody>
      </p:sp>
      <p:sp>
        <p:nvSpPr>
          <p:cNvPr id="16" name="Footer Placeholder 15"/>
          <p:cNvSpPr>
            <a:spLocks noGrp="1"/>
          </p:cNvSpPr>
          <p:nvPr>
            <p:ph type="ftr" sz="quarter" idx="11"/>
          </p:nvPr>
        </p:nvSpPr>
        <p:spPr>
          <a:xfrm>
            <a:off x="3657600" y="6324600"/>
            <a:ext cx="2895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Department of AI&amp;DS</a:t>
            </a:r>
            <a:endParaRPr lang="en-US" sz="1600" b="1" dirty="0">
              <a:solidFill>
                <a:schemeClr val="tx1"/>
              </a:solidFill>
              <a:latin typeface="Times New Roman" pitchFamily="18" charset="0"/>
              <a:cs typeface="Times New Roman" pitchFamily="18" charset="0"/>
            </a:endParaRPr>
          </a:p>
        </p:txBody>
      </p:sp>
      <p:sp>
        <p:nvSpPr>
          <p:cNvPr id="17" name="Slide Number Placeholder 16"/>
          <p:cNvSpPr>
            <a:spLocks noGrp="1"/>
          </p:cNvSpPr>
          <p:nvPr>
            <p:ph type="sldNum" sz="quarter" idx="12"/>
          </p:nvPr>
        </p:nvSpPr>
        <p:spPr/>
        <p:txBody>
          <a:bodyPr/>
          <a:lstStyle/>
          <a:p>
            <a:fld id="{B6F15528-21DE-4FAA-801E-634DDDAF4B2B}" type="slidenum">
              <a:rPr lang="en-US" sz="1400" smtClean="0">
                <a:solidFill>
                  <a:schemeClr val="tx1"/>
                </a:solidFill>
                <a:latin typeface="Times New Roman" pitchFamily="18" charset="0"/>
                <a:cs typeface="Times New Roman" pitchFamily="18" charset="0"/>
              </a:rPr>
              <a:pPr/>
              <a:t>1</a:t>
            </a:fld>
            <a:endParaRPr lang="en-US" sz="1400" dirty="0">
              <a:solidFill>
                <a:schemeClr val="tx1"/>
              </a:solidFill>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0D50C8E8-6E95-AB19-91DB-54A496910894}"/>
              </a:ext>
            </a:extLst>
          </p:cNvPr>
          <p:cNvPicPr>
            <a:picLocks noChangeAspect="1"/>
          </p:cNvPicPr>
          <p:nvPr/>
        </p:nvPicPr>
        <p:blipFill>
          <a:blip r:embed="rId2"/>
          <a:stretch>
            <a:fillRect/>
          </a:stretch>
        </p:blipFill>
        <p:spPr>
          <a:xfrm>
            <a:off x="1236785" y="495300"/>
            <a:ext cx="1371600" cy="114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295400" y="121777"/>
            <a:ext cx="7543800" cy="1371600"/>
          </a:xfrm>
        </p:spPr>
        <p:txBody>
          <a:bodyPr>
            <a:normAutofit/>
          </a:bodyPr>
          <a:lstStyle/>
          <a:p>
            <a:r>
              <a:rPr lang="en-IN" sz="3600" dirty="0">
                <a:latin typeface="Times New Roman" pitchFamily="18" charset="0"/>
                <a:cs typeface="Times New Roman" pitchFamily="18" charset="0"/>
              </a:rPr>
              <a:t>Objective</a:t>
            </a:r>
            <a:endParaRPr lang="en-US"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430951A-62F7-42F0-9D39-0DCD21F5717B}" type="datetime5">
              <a:rPr lang="en-US" smtClean="0"/>
              <a:t>11-Feb-26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
        <p:nvSpPr>
          <p:cNvPr id="7" name="Rectangle 6"/>
          <p:cNvSpPr/>
          <p:nvPr/>
        </p:nvSpPr>
        <p:spPr>
          <a:xfrm>
            <a:off x="0" y="0"/>
            <a:ext cx="1143000" cy="6858000"/>
          </a:xfrm>
          <a:prstGeom prst="rect">
            <a:avLst/>
          </a:prstGeom>
          <a:solidFill>
            <a:srgbClr val="00602B"/>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endParaRPr lang="en-US" dirty="0">
              <a:solidFill>
                <a:schemeClr val="bg1"/>
              </a:solidFill>
              <a:latin typeface="Times New Roman" pitchFamily="18" charset="0"/>
              <a:cs typeface="Times New Roman" pitchFamily="18" charset="0"/>
            </a:endParaRPr>
          </a:p>
          <a:p>
            <a:pPr algn="ctr"/>
            <a:r>
              <a:rPr lang="en-US" dirty="0">
                <a:solidFill>
                  <a:schemeClr val="bg1"/>
                </a:solidFill>
                <a:latin typeface="Times New Roman" pitchFamily="18" charset="0"/>
                <a:cs typeface="Times New Roman" pitchFamily="18" charset="0"/>
              </a:rPr>
              <a:t> </a:t>
            </a:r>
            <a:r>
              <a:rPr lang="en-US" sz="2400" b="1" dirty="0">
                <a:solidFill>
                  <a:schemeClr val="bg1"/>
                </a:solidFill>
                <a:latin typeface="Times New Roman" pitchFamily="18" charset="0"/>
                <a:cs typeface="Times New Roman" pitchFamily="18" charset="0"/>
              </a:rPr>
              <a:t>Velalar College of Engineering and Technology</a:t>
            </a:r>
            <a:endParaRPr lang="en-US" b="1" dirty="0">
              <a:solidFill>
                <a:schemeClr val="bg1"/>
              </a:solidFill>
              <a:latin typeface="Times New Roman" pitchFamily="18" charset="0"/>
              <a:cs typeface="Times New Roman" pitchFamily="18" charset="0"/>
            </a:endParaRPr>
          </a:p>
        </p:txBody>
      </p:sp>
      <p:sp>
        <p:nvSpPr>
          <p:cNvPr id="2" name="Rectangle 1">
            <a:extLst>
              <a:ext uri="{FF2B5EF4-FFF2-40B4-BE49-F238E27FC236}">
                <a16:creationId xmlns:a16="http://schemas.microsoft.com/office/drawing/2014/main" id="{FB30E1B8-3F58-E36C-FF8C-F31B7E9F7704}"/>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F6C92390-75A0-0C3C-BA74-D56C834C2954}"/>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1" name="TextBox 10">
            <a:extLst>
              <a:ext uri="{FF2B5EF4-FFF2-40B4-BE49-F238E27FC236}">
                <a16:creationId xmlns:a16="http://schemas.microsoft.com/office/drawing/2014/main" id="{DE3BA016-DC09-96D4-9E2F-AFD24B755317}"/>
              </a:ext>
            </a:extLst>
          </p:cNvPr>
          <p:cNvSpPr txBox="1"/>
          <p:nvPr/>
        </p:nvSpPr>
        <p:spPr>
          <a:xfrm>
            <a:off x="1409700" y="1481087"/>
            <a:ext cx="7315200" cy="440120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objective of this project is to design and develop an </a:t>
            </a:r>
            <a:r>
              <a:rPr lang="en-US" sz="2000" b="1" dirty="0">
                <a:latin typeface="Times New Roman" panose="02020603050405020304" pitchFamily="18" charset="0"/>
                <a:cs typeface="Times New Roman" panose="02020603050405020304" pitchFamily="18" charset="0"/>
              </a:rPr>
              <a:t>AI-powered breed identification system for dairy cattle and buffaloes</a:t>
            </a:r>
            <a:r>
              <a:rPr lang="en-US" sz="2000" dirty="0">
                <a:latin typeface="Times New Roman" panose="02020603050405020304" pitchFamily="18" charset="0"/>
                <a:cs typeface="Times New Roman" panose="02020603050405020304" pitchFamily="18" charset="0"/>
              </a:rPr>
              <a:t> using image-based deep learning techniques. The system aims to accurately classify indigenous breeds under real-world farm conditions and </a:t>
            </a:r>
            <a:r>
              <a:rPr lang="en-US" sz="2000" b="1" dirty="0">
                <a:latin typeface="Times New Roman" panose="02020603050405020304" pitchFamily="18" charset="0"/>
                <a:cs typeface="Times New Roman" panose="02020603050405020304" pitchFamily="18" charset="0"/>
              </a:rPr>
              <a:t>improve the quality of livestock data used for breeding, insurance, and government schemes</a:t>
            </a:r>
            <a:r>
              <a:rPr lang="en-US" sz="2000" dirty="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Specific Objectives: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automate breed identification using image-based analysis.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perform automated breed identification using deep learning based image classification techniques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provide a practical and user-friendly solution suitable for real-time usage.</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DD2FE-7F40-4D18-9574-7CAE12DA18BD}"/>
              </a:ext>
            </a:extLst>
          </p:cNvPr>
          <p:cNvSpPr>
            <a:spLocks noGrp="1"/>
          </p:cNvSpPr>
          <p:nvPr>
            <p:ph type="title"/>
          </p:nvPr>
        </p:nvSpPr>
        <p:spPr>
          <a:xfrm>
            <a:off x="457200" y="73276"/>
            <a:ext cx="8229600" cy="1143000"/>
          </a:xfrm>
        </p:spPr>
        <p:txBody>
          <a:bodyPr>
            <a:normAutofit/>
          </a:bodyPr>
          <a:lstStyle/>
          <a:p>
            <a:r>
              <a:rPr lang="en-IN" sz="3600" dirty="0">
                <a:latin typeface="Times New Roman" panose="02020603050405020304" pitchFamily="18" charset="0"/>
                <a:cs typeface="Times New Roman" panose="02020603050405020304" pitchFamily="18" charset="0"/>
              </a:rPr>
              <a:t>Abstract</a:t>
            </a:r>
          </a:p>
        </p:txBody>
      </p:sp>
      <p:sp>
        <p:nvSpPr>
          <p:cNvPr id="3" name="Date Placeholder 2">
            <a:extLst>
              <a:ext uri="{FF2B5EF4-FFF2-40B4-BE49-F238E27FC236}">
                <a16:creationId xmlns:a16="http://schemas.microsoft.com/office/drawing/2014/main" id="{B3A9B340-E243-A3B7-E1C7-8954E365AD7D}"/>
              </a:ext>
            </a:extLst>
          </p:cNvPr>
          <p:cNvSpPr>
            <a:spLocks noGrp="1"/>
          </p:cNvSpPr>
          <p:nvPr>
            <p:ph type="dt" sz="half" idx="10"/>
          </p:nvPr>
        </p:nvSpPr>
        <p:spPr/>
        <p:txBody>
          <a:bodyPr/>
          <a:lstStyle/>
          <a:p>
            <a:fld id="{0BB3B52F-2362-48C5-A10E-D31030FED84D}" type="datetime5">
              <a:rPr lang="en-US" smtClean="0"/>
              <a:t>11-Feb-26</a:t>
            </a:fld>
            <a:endParaRPr lang="en-US"/>
          </a:p>
        </p:txBody>
      </p:sp>
      <p:sp>
        <p:nvSpPr>
          <p:cNvPr id="4" name="Footer Placeholder 3">
            <a:extLst>
              <a:ext uri="{FF2B5EF4-FFF2-40B4-BE49-F238E27FC236}">
                <a16:creationId xmlns:a16="http://schemas.microsoft.com/office/drawing/2014/main" id="{F0703EF1-A9FF-44EC-06CD-BBBBE2CCBD99}"/>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11E288B6-5DD0-5EA5-3C19-292AD2C1079F}"/>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7" name="Date Placeholder 3">
            <a:extLst>
              <a:ext uri="{FF2B5EF4-FFF2-40B4-BE49-F238E27FC236}">
                <a16:creationId xmlns:a16="http://schemas.microsoft.com/office/drawing/2014/main" id="{8DE65CA5-C756-DCD7-9D01-EF4787C193A4}"/>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430951A-62F7-42F0-9D39-0DCD21F5717B}" type="datetime5">
              <a:rPr lang="en-US" smtClean="0"/>
              <a:pPr/>
              <a:t>11-Feb-26</a:t>
            </a:fld>
            <a:endParaRPr lang="en-US"/>
          </a:p>
        </p:txBody>
      </p:sp>
      <p:sp>
        <p:nvSpPr>
          <p:cNvPr id="8" name="Slide Number Placeholder 5">
            <a:extLst>
              <a:ext uri="{FF2B5EF4-FFF2-40B4-BE49-F238E27FC236}">
                <a16:creationId xmlns:a16="http://schemas.microsoft.com/office/drawing/2014/main" id="{D1D8EAD2-026D-0402-0F51-6D90FADE738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a:t>
            </a:fld>
            <a:endParaRPr lang="en-US"/>
          </a:p>
        </p:txBody>
      </p:sp>
      <p:sp>
        <p:nvSpPr>
          <p:cNvPr id="9" name="Rectangle 8">
            <a:extLst>
              <a:ext uri="{FF2B5EF4-FFF2-40B4-BE49-F238E27FC236}">
                <a16:creationId xmlns:a16="http://schemas.microsoft.com/office/drawing/2014/main" id="{4A7E2DA0-2ED1-09E6-866A-42D7FFDEDAF3}"/>
              </a:ext>
            </a:extLst>
          </p:cNvPr>
          <p:cNvSpPr/>
          <p:nvPr/>
        </p:nvSpPr>
        <p:spPr>
          <a:xfrm>
            <a:off x="0" y="0"/>
            <a:ext cx="1143000" cy="6858000"/>
          </a:xfrm>
          <a:prstGeom prst="rect">
            <a:avLst/>
          </a:prstGeom>
          <a:solidFill>
            <a:srgbClr val="00602B"/>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endParaRPr lang="en-US" dirty="0">
              <a:solidFill>
                <a:schemeClr val="bg1"/>
              </a:solidFill>
              <a:latin typeface="Times New Roman" pitchFamily="18" charset="0"/>
              <a:cs typeface="Times New Roman" pitchFamily="18" charset="0"/>
            </a:endParaRPr>
          </a:p>
          <a:p>
            <a:pPr algn="ctr"/>
            <a:r>
              <a:rPr lang="en-US" dirty="0">
                <a:solidFill>
                  <a:schemeClr val="bg1"/>
                </a:solidFill>
                <a:latin typeface="Times New Roman" pitchFamily="18" charset="0"/>
                <a:cs typeface="Times New Roman" pitchFamily="18" charset="0"/>
              </a:rPr>
              <a:t> </a:t>
            </a:r>
            <a:r>
              <a:rPr lang="en-US" sz="2400" b="1" dirty="0">
                <a:solidFill>
                  <a:schemeClr val="bg1"/>
                </a:solidFill>
                <a:latin typeface="Times New Roman" pitchFamily="18" charset="0"/>
                <a:cs typeface="Times New Roman" pitchFamily="18" charset="0"/>
              </a:rPr>
              <a:t>Velalar College of Engineering and Technology</a:t>
            </a:r>
            <a:endParaRPr lang="en-US" b="1" dirty="0">
              <a:solidFill>
                <a:schemeClr val="bg1"/>
              </a:solidFill>
              <a:latin typeface="Times New Roman" pitchFamily="18" charset="0"/>
              <a:cs typeface="Times New Roman" pitchFamily="18" charset="0"/>
            </a:endParaRPr>
          </a:p>
        </p:txBody>
      </p:sp>
      <p:sp>
        <p:nvSpPr>
          <p:cNvPr id="10" name="Rectangle 9">
            <a:extLst>
              <a:ext uri="{FF2B5EF4-FFF2-40B4-BE49-F238E27FC236}">
                <a16:creationId xmlns:a16="http://schemas.microsoft.com/office/drawing/2014/main" id="{74852E19-A14A-5437-D16F-3EAB10534FA4}"/>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1" name="Footer Placeholder 4">
            <a:extLst>
              <a:ext uri="{FF2B5EF4-FFF2-40B4-BE49-F238E27FC236}">
                <a16:creationId xmlns:a16="http://schemas.microsoft.com/office/drawing/2014/main" id="{CF1A8E49-F324-4442-7007-F8C1B711CA87}"/>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2" name="TextBox 11">
            <a:extLst>
              <a:ext uri="{FF2B5EF4-FFF2-40B4-BE49-F238E27FC236}">
                <a16:creationId xmlns:a16="http://schemas.microsoft.com/office/drawing/2014/main" id="{EA26112A-B1BD-EA58-3696-DE8AB91A0D72}"/>
              </a:ext>
            </a:extLst>
          </p:cNvPr>
          <p:cNvSpPr txBox="1"/>
          <p:nvPr/>
        </p:nvSpPr>
        <p:spPr>
          <a:xfrm>
            <a:off x="1524000" y="1447800"/>
            <a:ext cx="7239000" cy="4093428"/>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India is home to </a:t>
            </a:r>
            <a:r>
              <a:rPr lang="en-US" sz="2000" b="1" dirty="0">
                <a:latin typeface="Times New Roman" panose="02020603050405020304" pitchFamily="18" charset="0"/>
                <a:cs typeface="Times New Roman" panose="02020603050405020304" pitchFamily="18" charset="0"/>
              </a:rPr>
              <a:t>50+ recognized cattle and buffalo breeds</a:t>
            </a:r>
            <a:r>
              <a:rPr lang="en-US" sz="2000" dirty="0">
                <a:latin typeface="Times New Roman" panose="02020603050405020304" pitchFamily="18" charset="0"/>
                <a:cs typeface="Times New Roman" panose="02020603050405020304" pitchFamily="18" charset="0"/>
              </a:rPr>
              <a:t>, each with unique genetic, productivity, and disease-resistance traits. Accurate breed identification is vital for </a:t>
            </a:r>
            <a:r>
              <a:rPr lang="en-US" sz="2000" b="1" dirty="0">
                <a:latin typeface="Times New Roman" panose="02020603050405020304" pitchFamily="18" charset="0"/>
                <a:cs typeface="Times New Roman" panose="02020603050405020304" pitchFamily="18" charset="0"/>
              </a:rPr>
              <a:t>breeding, nutrition planning, and disease control</a:t>
            </a:r>
            <a:r>
              <a:rPr lang="en-US" sz="2000" dirty="0">
                <a:latin typeface="Times New Roman" panose="02020603050405020304" pitchFamily="18" charset="0"/>
                <a:cs typeface="Times New Roman" panose="02020603050405020304" pitchFamily="18" charset="0"/>
              </a:rPr>
              <a:t>. Currently, </a:t>
            </a:r>
            <a:r>
              <a:rPr lang="en-US" sz="2000" b="1" dirty="0">
                <a:latin typeface="Times New Roman" panose="02020603050405020304" pitchFamily="18" charset="0"/>
                <a:cs typeface="Times New Roman" panose="02020603050405020304" pitchFamily="18" charset="0"/>
              </a:rPr>
              <a:t>manual identification by FLWs</a:t>
            </a:r>
            <a:r>
              <a:rPr lang="en-US" sz="2000" dirty="0">
                <a:latin typeface="Times New Roman" panose="02020603050405020304" pitchFamily="18" charset="0"/>
                <a:cs typeface="Times New Roman" panose="02020603050405020304" pitchFamily="18" charset="0"/>
              </a:rPr>
              <a:t> leads to frequent misclassification, resulting in poor-quality data in national livestock databases.</a:t>
            </a:r>
          </a:p>
          <a:p>
            <a:pPr algn="just"/>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project proposes a deep learning–based breed identification system using image-based analysis, which will detect and classify breeds from captured images.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Suggest accurate breed names in real time.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Enhance reliability of government records and assist in effective policy-making</a:t>
            </a:r>
          </a:p>
        </p:txBody>
      </p:sp>
    </p:spTree>
    <p:extLst>
      <p:ext uri="{BB962C8B-B14F-4D97-AF65-F5344CB8AC3E}">
        <p14:creationId xmlns:p14="http://schemas.microsoft.com/office/powerpoint/2010/main" val="2793327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472C55-85D3-A634-8328-A6BCBCC8F626}"/>
              </a:ext>
            </a:extLst>
          </p:cNvPr>
          <p:cNvSpPr>
            <a:spLocks noGrp="1"/>
          </p:cNvSpPr>
          <p:nvPr>
            <p:ph type="dt" sz="half" idx="10"/>
          </p:nvPr>
        </p:nvSpPr>
        <p:spPr/>
        <p:txBody>
          <a:bodyPr/>
          <a:lstStyle/>
          <a:p>
            <a:fld id="{0BB3B52F-2362-48C5-A10E-D31030FED84D}" type="datetime5">
              <a:rPr lang="en-US" smtClean="0"/>
              <a:t>11-Feb-26</a:t>
            </a:fld>
            <a:endParaRPr lang="en-US"/>
          </a:p>
        </p:txBody>
      </p:sp>
      <p:sp>
        <p:nvSpPr>
          <p:cNvPr id="4" name="Footer Placeholder 3">
            <a:extLst>
              <a:ext uri="{FF2B5EF4-FFF2-40B4-BE49-F238E27FC236}">
                <a16:creationId xmlns:a16="http://schemas.microsoft.com/office/drawing/2014/main" id="{FB79C5B5-E2A5-5071-10AD-5C054DD2DECE}"/>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69FA6722-0470-662A-DA24-1C0A8D0931CC}"/>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6" name="Title 1">
            <a:extLst>
              <a:ext uri="{FF2B5EF4-FFF2-40B4-BE49-F238E27FC236}">
                <a16:creationId xmlns:a16="http://schemas.microsoft.com/office/drawing/2014/main" id="{27E857D5-51BC-65A3-53F3-C45EA880FB35}"/>
              </a:ext>
            </a:extLst>
          </p:cNvPr>
          <p:cNvSpPr txBox="1">
            <a:spLocks/>
          </p:cNvSpPr>
          <p:nvPr/>
        </p:nvSpPr>
        <p:spPr>
          <a:xfrm>
            <a:off x="685800" y="32067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600" dirty="0">
                <a:latin typeface="Times New Roman" panose="02020603050405020304" pitchFamily="18" charset="0"/>
                <a:cs typeface="Times New Roman" panose="02020603050405020304" pitchFamily="18" charset="0"/>
              </a:rPr>
              <a:t>Problem Statement</a:t>
            </a:r>
          </a:p>
        </p:txBody>
      </p:sp>
      <p:sp>
        <p:nvSpPr>
          <p:cNvPr id="7" name="Date Placeholder 2">
            <a:extLst>
              <a:ext uri="{FF2B5EF4-FFF2-40B4-BE49-F238E27FC236}">
                <a16:creationId xmlns:a16="http://schemas.microsoft.com/office/drawing/2014/main" id="{CAA34B32-1A65-2C4B-9C32-D9CC239691F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11-Feb-26</a:t>
            </a:fld>
            <a:endParaRPr lang="en-US"/>
          </a:p>
        </p:txBody>
      </p:sp>
      <p:sp>
        <p:nvSpPr>
          <p:cNvPr id="8" name="Footer Placeholder 3">
            <a:extLst>
              <a:ext uri="{FF2B5EF4-FFF2-40B4-BE49-F238E27FC236}">
                <a16:creationId xmlns:a16="http://schemas.microsoft.com/office/drawing/2014/main" id="{827B436C-9374-F8A2-F6C2-F6A036979DE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9" name="Slide Number Placeholder 4">
            <a:extLst>
              <a:ext uri="{FF2B5EF4-FFF2-40B4-BE49-F238E27FC236}">
                <a16:creationId xmlns:a16="http://schemas.microsoft.com/office/drawing/2014/main" id="{B912CA71-028C-195B-5EA3-8A4899394AB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4</a:t>
            </a:fld>
            <a:endParaRPr lang="en-US"/>
          </a:p>
        </p:txBody>
      </p:sp>
      <p:sp>
        <p:nvSpPr>
          <p:cNvPr id="10" name="Date Placeholder 3">
            <a:extLst>
              <a:ext uri="{FF2B5EF4-FFF2-40B4-BE49-F238E27FC236}">
                <a16:creationId xmlns:a16="http://schemas.microsoft.com/office/drawing/2014/main" id="{4C462149-A923-6D31-AD70-975602145110}"/>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430951A-62F7-42F0-9D39-0DCD21F5717B}" type="datetime5">
              <a:rPr lang="en-US" smtClean="0"/>
              <a:pPr/>
              <a:t>11-Feb-26</a:t>
            </a:fld>
            <a:endParaRPr lang="en-US"/>
          </a:p>
        </p:txBody>
      </p:sp>
      <p:sp>
        <p:nvSpPr>
          <p:cNvPr id="11" name="Slide Number Placeholder 5">
            <a:extLst>
              <a:ext uri="{FF2B5EF4-FFF2-40B4-BE49-F238E27FC236}">
                <a16:creationId xmlns:a16="http://schemas.microsoft.com/office/drawing/2014/main" id="{45AB5346-C5A5-402C-E652-FB24F5BDC0E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4</a:t>
            </a:fld>
            <a:endParaRPr lang="en-US"/>
          </a:p>
        </p:txBody>
      </p:sp>
      <p:sp>
        <p:nvSpPr>
          <p:cNvPr id="12" name="Rectangle 11">
            <a:extLst>
              <a:ext uri="{FF2B5EF4-FFF2-40B4-BE49-F238E27FC236}">
                <a16:creationId xmlns:a16="http://schemas.microsoft.com/office/drawing/2014/main" id="{102D2EF6-3183-C7B1-BAB5-551587A146D3}"/>
              </a:ext>
            </a:extLst>
          </p:cNvPr>
          <p:cNvSpPr/>
          <p:nvPr/>
        </p:nvSpPr>
        <p:spPr>
          <a:xfrm>
            <a:off x="0" y="0"/>
            <a:ext cx="1143000" cy="6858000"/>
          </a:xfrm>
          <a:prstGeom prst="rect">
            <a:avLst/>
          </a:prstGeom>
          <a:solidFill>
            <a:srgbClr val="00602B"/>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endParaRPr lang="en-US" dirty="0">
              <a:solidFill>
                <a:schemeClr val="bg1"/>
              </a:solidFill>
              <a:latin typeface="Times New Roman" pitchFamily="18" charset="0"/>
              <a:cs typeface="Times New Roman" pitchFamily="18" charset="0"/>
            </a:endParaRPr>
          </a:p>
          <a:p>
            <a:pPr algn="ctr"/>
            <a:r>
              <a:rPr lang="en-US" dirty="0">
                <a:solidFill>
                  <a:schemeClr val="bg1"/>
                </a:solidFill>
                <a:latin typeface="Times New Roman" pitchFamily="18" charset="0"/>
                <a:cs typeface="Times New Roman" pitchFamily="18" charset="0"/>
              </a:rPr>
              <a:t> </a:t>
            </a:r>
            <a:r>
              <a:rPr lang="en-US" sz="2400" b="1" dirty="0">
                <a:solidFill>
                  <a:schemeClr val="bg1"/>
                </a:solidFill>
                <a:latin typeface="Times New Roman" pitchFamily="18" charset="0"/>
                <a:cs typeface="Times New Roman" pitchFamily="18" charset="0"/>
              </a:rPr>
              <a:t>Velalar College of Engineering and Technology</a:t>
            </a:r>
            <a:endParaRPr lang="en-US" b="1" dirty="0">
              <a:solidFill>
                <a:schemeClr val="bg1"/>
              </a:solidFill>
              <a:latin typeface="Times New Roman" pitchFamily="18" charset="0"/>
              <a:cs typeface="Times New Roman" pitchFamily="18" charset="0"/>
            </a:endParaRPr>
          </a:p>
        </p:txBody>
      </p:sp>
      <p:sp>
        <p:nvSpPr>
          <p:cNvPr id="13" name="Rectangle 12">
            <a:extLst>
              <a:ext uri="{FF2B5EF4-FFF2-40B4-BE49-F238E27FC236}">
                <a16:creationId xmlns:a16="http://schemas.microsoft.com/office/drawing/2014/main" id="{F6A5D205-7050-EBF9-4B81-516641B52854}"/>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4" name="Footer Placeholder 4">
            <a:extLst>
              <a:ext uri="{FF2B5EF4-FFF2-40B4-BE49-F238E27FC236}">
                <a16:creationId xmlns:a16="http://schemas.microsoft.com/office/drawing/2014/main" id="{6AC5C963-321C-E77D-5379-182CB27B7DF9}"/>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9" name="Rectangle 4">
            <a:extLst>
              <a:ext uri="{FF2B5EF4-FFF2-40B4-BE49-F238E27FC236}">
                <a16:creationId xmlns:a16="http://schemas.microsoft.com/office/drawing/2014/main" id="{F1EB7F98-84B2-25EE-2E54-60670FB59357}"/>
              </a:ext>
            </a:extLst>
          </p:cNvPr>
          <p:cNvSpPr>
            <a:spLocks noChangeArrowheads="1"/>
          </p:cNvSpPr>
          <p:nvPr/>
        </p:nvSpPr>
        <p:spPr bwMode="auto">
          <a:xfrm>
            <a:off x="1573161" y="1784350"/>
            <a:ext cx="688503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Manual livestock breed identification: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Depends heavily on human expertise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Leads to </a:t>
            </a:r>
            <a:r>
              <a:rPr lang="en-US" sz="2000" b="1" dirty="0">
                <a:latin typeface="Times New Roman" panose="02020603050405020304" pitchFamily="18" charset="0"/>
                <a:cs typeface="Times New Roman" panose="02020603050405020304" pitchFamily="18" charset="0"/>
              </a:rPr>
              <a:t>misclassification</a:t>
            </a: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Causes </a:t>
            </a:r>
            <a:r>
              <a:rPr lang="en-US" sz="2000" b="1" dirty="0">
                <a:latin typeface="Times New Roman" panose="02020603050405020304" pitchFamily="18" charset="0"/>
                <a:cs typeface="Times New Roman" panose="02020603050405020304" pitchFamily="18" charset="0"/>
              </a:rPr>
              <a:t>incorrect livestock database entries</a:t>
            </a: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Affects government schemes, insurance, and breeding strategies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There is </a:t>
            </a:r>
            <a:r>
              <a:rPr lang="en-US" sz="2000" b="1" dirty="0">
                <a:latin typeface="Times New Roman" panose="02020603050405020304" pitchFamily="18" charset="0"/>
                <a:cs typeface="Times New Roman" panose="02020603050405020304" pitchFamily="18" charset="0"/>
              </a:rPr>
              <a:t>no scalable, automated, and accurate system</a:t>
            </a:r>
            <a:r>
              <a:rPr lang="en-US" sz="2000" dirty="0">
                <a:latin typeface="Times New Roman" panose="02020603050405020304" pitchFamily="18" charset="0"/>
                <a:cs typeface="Times New Roman" panose="02020603050405020304" pitchFamily="18" charset="0"/>
              </a:rPr>
              <a:t> available for breed identification in real-time field conditions.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893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D5EABC-85BB-F0B4-1A49-C82786EA5685}"/>
              </a:ext>
            </a:extLst>
          </p:cNvPr>
          <p:cNvSpPr>
            <a:spLocks noGrp="1"/>
          </p:cNvSpPr>
          <p:nvPr>
            <p:ph type="dt" sz="half" idx="10"/>
          </p:nvPr>
        </p:nvSpPr>
        <p:spPr/>
        <p:txBody>
          <a:bodyPr/>
          <a:lstStyle/>
          <a:p>
            <a:fld id="{0BB3B52F-2362-48C5-A10E-D31030FED84D}" type="datetime5">
              <a:rPr lang="en-US" smtClean="0"/>
              <a:t>11-Feb-26</a:t>
            </a:fld>
            <a:endParaRPr lang="en-US"/>
          </a:p>
        </p:txBody>
      </p:sp>
      <p:sp>
        <p:nvSpPr>
          <p:cNvPr id="4" name="Footer Placeholder 3">
            <a:extLst>
              <a:ext uri="{FF2B5EF4-FFF2-40B4-BE49-F238E27FC236}">
                <a16:creationId xmlns:a16="http://schemas.microsoft.com/office/drawing/2014/main" id="{F3C10BE2-A62E-BE54-EFD5-68A4A61A9B29}"/>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EAA77FDC-FA17-9DCB-E571-7A3F4E9A58F7}"/>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6" name="Title 1">
            <a:extLst>
              <a:ext uri="{FF2B5EF4-FFF2-40B4-BE49-F238E27FC236}">
                <a16:creationId xmlns:a16="http://schemas.microsoft.com/office/drawing/2014/main" id="{C9847A62-6FAF-5BC8-7BDA-8B2347930651}"/>
              </a:ext>
            </a:extLst>
          </p:cNvPr>
          <p:cNvSpPr txBox="1">
            <a:spLocks/>
          </p:cNvSpPr>
          <p:nvPr/>
        </p:nvSpPr>
        <p:spPr>
          <a:xfrm>
            <a:off x="457200" y="20076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panose="02020603050405020304" pitchFamily="18" charset="0"/>
                <a:cs typeface="Times New Roman" panose="02020603050405020304" pitchFamily="18" charset="0"/>
              </a:rPr>
              <a:t>LITERATURE SURVEY 1</a:t>
            </a:r>
            <a:endParaRPr lang="en-IN" sz="2800"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FCC8E6A2-5F2C-DFA0-0E9F-991249982EE6}"/>
              </a:ext>
            </a:extLst>
          </p:cNvPr>
          <p:cNvSpPr txBox="1">
            <a:spLocks/>
          </p:cNvSpPr>
          <p:nvPr/>
        </p:nvSpPr>
        <p:spPr>
          <a:xfrm>
            <a:off x="1447800" y="1544536"/>
            <a:ext cx="7162800" cy="43735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b="1" dirty="0">
                <a:latin typeface="Times New Roman" panose="02020603050405020304" pitchFamily="18" charset="0"/>
                <a:cs typeface="Times New Roman" panose="02020603050405020304" pitchFamily="18" charset="0"/>
              </a:rPr>
              <a:t>Image-Based Breed Recognition of Indian Cattle and Buffaloes Using YOLOv12 and </a:t>
            </a:r>
            <a:r>
              <a:rPr lang="en-US" sz="2000" b="1" dirty="0" err="1">
                <a:latin typeface="Times New Roman" panose="02020603050405020304" pitchFamily="18" charset="0"/>
                <a:cs typeface="Times New Roman" panose="02020603050405020304" pitchFamily="18" charset="0"/>
              </a:rPr>
              <a:t>Roboflow</a:t>
            </a:r>
            <a:r>
              <a:rPr lang="en-US" sz="2000" b="1" dirty="0">
                <a:latin typeface="Times New Roman" panose="02020603050405020304" pitchFamily="18" charset="0"/>
                <a:cs typeface="Times New Roman" panose="02020603050405020304" pitchFamily="18" charset="0"/>
              </a:rPr>
              <a:t> Cloud Platform (Year: 2025)</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Aashish Chauhan, Ajit Kumar Gupta, Garvit Paliwal, Gautam Singh, Harshit Singh, Dr. Umesh Dwivedi</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This study presents </a:t>
            </a:r>
            <a:r>
              <a:rPr lang="en-US" sz="2000" b="1" dirty="0" err="1">
                <a:latin typeface="Times New Roman" panose="02020603050405020304" pitchFamily="18" charset="0"/>
                <a:cs typeface="Times New Roman" panose="02020603050405020304" pitchFamily="18" charset="0"/>
              </a:rPr>
              <a:t>BreedVision</a:t>
            </a:r>
            <a:r>
              <a:rPr lang="en-US" sz="2000" dirty="0">
                <a:latin typeface="Times New Roman" panose="02020603050405020304" pitchFamily="18" charset="0"/>
                <a:cs typeface="Times New Roman" panose="02020603050405020304" pitchFamily="18" charset="0"/>
              </a:rPr>
              <a:t>, an AI-powered web system for automated cattle and buffalo breed recognition. The approach uses </a:t>
            </a:r>
            <a:r>
              <a:rPr lang="en-US" sz="2000" b="1" dirty="0">
                <a:latin typeface="Times New Roman" panose="02020603050405020304" pitchFamily="18" charset="0"/>
                <a:cs typeface="Times New Roman" panose="02020603050405020304" pitchFamily="18" charset="0"/>
              </a:rPr>
              <a:t>YOLOv12 object detection</a:t>
            </a:r>
            <a:r>
              <a:rPr lang="en-US" sz="2000" dirty="0">
                <a:latin typeface="Times New Roman" panose="02020603050405020304" pitchFamily="18" charset="0"/>
                <a:cs typeface="Times New Roman" panose="02020603050405020304" pitchFamily="18" charset="0"/>
              </a:rPr>
              <a:t> trained on </a:t>
            </a:r>
            <a:r>
              <a:rPr lang="en-US" sz="2000" b="1" dirty="0">
                <a:latin typeface="Times New Roman" panose="02020603050405020304" pitchFamily="18" charset="0"/>
                <a:cs typeface="Times New Roman" panose="02020603050405020304" pitchFamily="18" charset="0"/>
              </a:rPr>
              <a:t>3,683 annotated images</a:t>
            </a:r>
            <a:r>
              <a:rPr lang="en-US" sz="2000" dirty="0">
                <a:latin typeface="Times New Roman" panose="02020603050405020304" pitchFamily="18" charset="0"/>
                <a:cs typeface="Times New Roman" panose="02020603050405020304" pitchFamily="18" charset="0"/>
              </a:rPr>
              <a:t> covering 15 major Indian breeds. </a:t>
            </a:r>
          </a:p>
          <a:p>
            <a:pPr algn="just"/>
            <a:r>
              <a:rPr lang="en-US" sz="2000" dirty="0">
                <a:latin typeface="Times New Roman" panose="02020603050405020304" pitchFamily="18" charset="0"/>
                <a:cs typeface="Times New Roman" panose="02020603050405020304" pitchFamily="18" charset="0"/>
              </a:rPr>
              <a:t>Real-time classification is achieved by integrating ReactJS frontend with a Python Flask backend and a </a:t>
            </a:r>
            <a:r>
              <a:rPr lang="en-US" sz="2000" dirty="0" err="1">
                <a:latin typeface="Times New Roman" panose="02020603050405020304" pitchFamily="18" charset="0"/>
                <a:cs typeface="Times New Roman" panose="02020603050405020304" pitchFamily="18" charset="0"/>
              </a:rPr>
              <a:t>Roboflow</a:t>
            </a:r>
            <a:r>
              <a:rPr lang="en-US" sz="2000" dirty="0">
                <a:latin typeface="Times New Roman" panose="02020603050405020304" pitchFamily="18" charset="0"/>
                <a:cs typeface="Times New Roman" panose="02020603050405020304" pitchFamily="18" charset="0"/>
              </a:rPr>
              <a:t> cloud inference engine</a:t>
            </a:r>
            <a:endParaRPr lang="en-IN" sz="2000" dirty="0">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F9C6725E-6E84-ED67-886B-B92AE3232D8A}"/>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11-Feb-26</a:t>
            </a:fld>
            <a:endParaRPr lang="en-US"/>
          </a:p>
        </p:txBody>
      </p:sp>
      <p:sp>
        <p:nvSpPr>
          <p:cNvPr id="10" name="Slide Number Placeholder 5">
            <a:extLst>
              <a:ext uri="{FF2B5EF4-FFF2-40B4-BE49-F238E27FC236}">
                <a16:creationId xmlns:a16="http://schemas.microsoft.com/office/drawing/2014/main" id="{C593C9B7-B00F-149A-903C-691ABF64594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5</a:t>
            </a:fld>
            <a:endParaRPr lang="en-US"/>
          </a:p>
        </p:txBody>
      </p:sp>
      <p:sp>
        <p:nvSpPr>
          <p:cNvPr id="11" name="Rectangle 10">
            <a:extLst>
              <a:ext uri="{FF2B5EF4-FFF2-40B4-BE49-F238E27FC236}">
                <a16:creationId xmlns:a16="http://schemas.microsoft.com/office/drawing/2014/main" id="{7C883BE2-0BE1-8D70-F142-2B9A9C4451F9}"/>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437611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6617812-0D37-AC8D-606E-6F719EA79A60}"/>
              </a:ext>
            </a:extLst>
          </p:cNvPr>
          <p:cNvSpPr>
            <a:spLocks noGrp="1"/>
          </p:cNvSpPr>
          <p:nvPr>
            <p:ph type="dt" sz="half" idx="10"/>
          </p:nvPr>
        </p:nvSpPr>
        <p:spPr/>
        <p:txBody>
          <a:bodyPr/>
          <a:lstStyle/>
          <a:p>
            <a:fld id="{0BB3B52F-2362-48C5-A10E-D31030FED84D}" type="datetime5">
              <a:rPr lang="en-US" smtClean="0"/>
              <a:t>11-Feb-26</a:t>
            </a:fld>
            <a:endParaRPr lang="en-US"/>
          </a:p>
        </p:txBody>
      </p:sp>
      <p:sp>
        <p:nvSpPr>
          <p:cNvPr id="4" name="Footer Placeholder 3">
            <a:extLst>
              <a:ext uri="{FF2B5EF4-FFF2-40B4-BE49-F238E27FC236}">
                <a16:creationId xmlns:a16="http://schemas.microsoft.com/office/drawing/2014/main" id="{8FE0B690-47F1-E33B-4831-7BAA968B40E3}"/>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5D796D99-C2E7-A5A9-DF7F-62E3F489AF86}"/>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6" name="Title 1">
            <a:extLst>
              <a:ext uri="{FF2B5EF4-FFF2-40B4-BE49-F238E27FC236}">
                <a16:creationId xmlns:a16="http://schemas.microsoft.com/office/drawing/2014/main" id="{A2B70E9F-9D34-6F06-A7C5-0B89058345BF}"/>
              </a:ext>
            </a:extLst>
          </p:cNvPr>
          <p:cNvSpPr txBox="1">
            <a:spLocks/>
          </p:cNvSpPr>
          <p:nvPr/>
        </p:nvSpPr>
        <p:spPr>
          <a:xfrm>
            <a:off x="457200" y="190142"/>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panose="02020603050405020304" pitchFamily="18" charset="0"/>
                <a:cs typeface="Times New Roman" panose="02020603050405020304" pitchFamily="18" charset="0"/>
              </a:rPr>
              <a:t>LITERATURE SURVEY 2</a:t>
            </a:r>
            <a:endParaRPr lang="en-IN" sz="2800" b="1" dirty="0"/>
          </a:p>
        </p:txBody>
      </p:sp>
      <p:sp>
        <p:nvSpPr>
          <p:cNvPr id="7" name="Date Placeholder 3">
            <a:extLst>
              <a:ext uri="{FF2B5EF4-FFF2-40B4-BE49-F238E27FC236}">
                <a16:creationId xmlns:a16="http://schemas.microsoft.com/office/drawing/2014/main" id="{DBA23CCA-7BA8-988A-CA3F-AE43219540BB}"/>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11-Feb-26</a:t>
            </a:fld>
            <a:endParaRPr lang="en-US"/>
          </a:p>
        </p:txBody>
      </p:sp>
      <p:sp>
        <p:nvSpPr>
          <p:cNvPr id="8" name="Footer Placeholder 4">
            <a:extLst>
              <a:ext uri="{FF2B5EF4-FFF2-40B4-BE49-F238E27FC236}">
                <a16:creationId xmlns:a16="http://schemas.microsoft.com/office/drawing/2014/main" id="{5570F33C-F32E-CADE-AE7D-DA662BA9050E}"/>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9" name="Slide Number Placeholder 5">
            <a:extLst>
              <a:ext uri="{FF2B5EF4-FFF2-40B4-BE49-F238E27FC236}">
                <a16:creationId xmlns:a16="http://schemas.microsoft.com/office/drawing/2014/main" id="{264D867C-C311-5CCC-3062-A340F22EFB8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6</a:t>
            </a:fld>
            <a:endParaRPr lang="en-US"/>
          </a:p>
        </p:txBody>
      </p:sp>
      <p:sp>
        <p:nvSpPr>
          <p:cNvPr id="10" name="Rectangle 9">
            <a:extLst>
              <a:ext uri="{FF2B5EF4-FFF2-40B4-BE49-F238E27FC236}">
                <a16:creationId xmlns:a16="http://schemas.microsoft.com/office/drawing/2014/main" id="{F0D7B9A7-B17A-500B-0AEB-99C8D6A2A31D}"/>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1" name="Content Placeholder 8">
            <a:extLst>
              <a:ext uri="{FF2B5EF4-FFF2-40B4-BE49-F238E27FC236}">
                <a16:creationId xmlns:a16="http://schemas.microsoft.com/office/drawing/2014/main" id="{D320C28F-B24A-F6AD-CE59-C30D1855077E}"/>
              </a:ext>
            </a:extLst>
          </p:cNvPr>
          <p:cNvSpPr txBox="1">
            <a:spLocks/>
          </p:cNvSpPr>
          <p:nvPr/>
        </p:nvSpPr>
        <p:spPr>
          <a:xfrm>
            <a:off x="1219200" y="1333142"/>
            <a:ext cx="7467600" cy="4793021"/>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dirty="0">
                <a:latin typeface="Times New Roman" panose="02020603050405020304" pitchFamily="18" charset="0"/>
                <a:cs typeface="Times New Roman" panose="02020603050405020304" pitchFamily="18" charset="0"/>
              </a:rPr>
              <a:t>Development of a Lightweight Deep Learning Model for the Identification and Classification of Indigenous Cattle Breeds (Year: 2025)</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Shruti Arya, Indu Devi, Divyanshu Singh Tomar, Man Singh, Radhika </a:t>
            </a:r>
            <a:r>
              <a:rPr lang="en-US" sz="2000" dirty="0" err="1">
                <a:latin typeface="Times New Roman" panose="02020603050405020304" pitchFamily="18" charset="0"/>
                <a:cs typeface="Times New Roman" panose="02020603050405020304" pitchFamily="18" charset="0"/>
              </a:rPr>
              <a:t>Warhade</a:t>
            </a:r>
            <a:r>
              <a:rPr lang="en-US" sz="2000" dirty="0">
                <a:latin typeface="Times New Roman" panose="02020603050405020304" pitchFamily="18" charset="0"/>
                <a:cs typeface="Times New Roman" panose="02020603050405020304" pitchFamily="18" charset="0"/>
              </a:rPr>
              <a:t>, Anshul Gautam, T. K. Mohanty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research focuses on </a:t>
            </a:r>
            <a:r>
              <a:rPr lang="en-US" sz="2000" b="1" dirty="0">
                <a:latin typeface="Times New Roman" panose="02020603050405020304" pitchFamily="18" charset="0"/>
                <a:cs typeface="Times New Roman" panose="02020603050405020304" pitchFamily="18" charset="0"/>
              </a:rPr>
              <a:t>differentiating phenotypically similar indigenous cattle breeds</a:t>
            </a:r>
            <a:r>
              <a:rPr lang="en-US" sz="2000" dirty="0">
                <a:latin typeface="Times New Roman" panose="02020603050405020304" pitchFamily="18" charset="0"/>
                <a:cs typeface="Times New Roman" panose="02020603050405020304" pitchFamily="18" charset="0"/>
              </a:rPr>
              <a:t> (e.g., </a:t>
            </a:r>
            <a:r>
              <a:rPr lang="en-US" sz="2000" dirty="0" err="1">
                <a:latin typeface="Times New Roman" panose="02020603050405020304" pitchFamily="18" charset="0"/>
                <a:cs typeface="Times New Roman" panose="02020603050405020304" pitchFamily="18" charset="0"/>
              </a:rPr>
              <a:t>Tharparkar</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Hariana</a:t>
            </a:r>
            <a:r>
              <a:rPr lang="en-US" sz="2000" dirty="0">
                <a:latin typeface="Times New Roman" panose="02020603050405020304" pitchFamily="18" charset="0"/>
                <a:cs typeface="Times New Roman" panose="02020603050405020304" pitchFamily="18" charset="0"/>
              </a:rPr>
              <a:t>) using a deep learning-based segmentation and classification pipeline. This work highlights the challenge of similar visual appearance and the need for segmentation before classification in breed recognition.</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0568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B8DB71-60B4-89D5-A260-6C44195677A6}"/>
              </a:ext>
            </a:extLst>
          </p:cNvPr>
          <p:cNvSpPr>
            <a:spLocks noGrp="1"/>
          </p:cNvSpPr>
          <p:nvPr>
            <p:ph type="dt" sz="half" idx="10"/>
          </p:nvPr>
        </p:nvSpPr>
        <p:spPr/>
        <p:txBody>
          <a:bodyPr/>
          <a:lstStyle/>
          <a:p>
            <a:fld id="{0BB3B52F-2362-48C5-A10E-D31030FED84D}" type="datetime5">
              <a:rPr lang="en-US" smtClean="0"/>
              <a:t>11-Feb-26</a:t>
            </a:fld>
            <a:endParaRPr lang="en-US"/>
          </a:p>
        </p:txBody>
      </p:sp>
      <p:sp>
        <p:nvSpPr>
          <p:cNvPr id="4" name="Footer Placeholder 3">
            <a:extLst>
              <a:ext uri="{FF2B5EF4-FFF2-40B4-BE49-F238E27FC236}">
                <a16:creationId xmlns:a16="http://schemas.microsoft.com/office/drawing/2014/main" id="{EB7B8C89-B9E9-2DB8-ED08-267A2D4FD5A6}"/>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D73361C2-B517-393C-F114-3D3C9457CFFC}"/>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6" name="Title 1">
            <a:extLst>
              <a:ext uri="{FF2B5EF4-FFF2-40B4-BE49-F238E27FC236}">
                <a16:creationId xmlns:a16="http://schemas.microsoft.com/office/drawing/2014/main" id="{AC28DDCB-3D45-EA4F-9C07-3C1F248DCFF7}"/>
              </a:ext>
            </a:extLst>
          </p:cNvPr>
          <p:cNvSpPr txBox="1">
            <a:spLocks/>
          </p:cNvSpPr>
          <p:nvPr/>
        </p:nvSpPr>
        <p:spPr>
          <a:xfrm>
            <a:off x="457200" y="160337"/>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panose="02020603050405020304" pitchFamily="18" charset="0"/>
                <a:cs typeface="Times New Roman" panose="02020603050405020304" pitchFamily="18" charset="0"/>
              </a:rPr>
              <a:t>LITERATURE SURVEY 3</a:t>
            </a:r>
            <a:endParaRPr lang="en-IN" sz="2800" b="1" dirty="0"/>
          </a:p>
        </p:txBody>
      </p:sp>
      <p:sp>
        <p:nvSpPr>
          <p:cNvPr id="7" name="Content Placeholder 2">
            <a:extLst>
              <a:ext uri="{FF2B5EF4-FFF2-40B4-BE49-F238E27FC236}">
                <a16:creationId xmlns:a16="http://schemas.microsoft.com/office/drawing/2014/main" id="{89C859B4-7810-7B11-8EAE-418795E45140}"/>
              </a:ext>
            </a:extLst>
          </p:cNvPr>
          <p:cNvSpPr txBox="1">
            <a:spLocks/>
          </p:cNvSpPr>
          <p:nvPr/>
        </p:nvSpPr>
        <p:spPr>
          <a:xfrm>
            <a:off x="1219200" y="1303337"/>
            <a:ext cx="7467600" cy="4424055"/>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2000" b="1" dirty="0">
                <a:latin typeface="Times New Roman" panose="02020603050405020304" pitchFamily="18" charset="0"/>
                <a:cs typeface="Times New Roman" panose="02020603050405020304" pitchFamily="18" charset="0"/>
              </a:rPr>
              <a:t>Buffalo Identification in Mixed-Species Environments: A Comparative Deep Learning Approach Using ResNet50 and EfficientNetB3 (Year: 2025)</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Authors:</a:t>
            </a:r>
            <a:r>
              <a:rPr lang="en-IN" sz="2000" dirty="0">
                <a:latin typeface="Times New Roman" panose="02020603050405020304" pitchFamily="18" charset="0"/>
                <a:cs typeface="Times New Roman" panose="02020603050405020304" pitchFamily="18" charset="0"/>
              </a:rPr>
              <a:t> Nagaraj Naik (Manipal Institute of Technology), Ramu S. (</a:t>
            </a:r>
            <a:r>
              <a:rPr lang="en-IN" sz="2000" dirty="0" err="1">
                <a:latin typeface="Times New Roman" panose="02020603050405020304" pitchFamily="18" charset="0"/>
                <a:cs typeface="Times New Roman" panose="02020603050405020304" pitchFamily="18" charset="0"/>
              </a:rPr>
              <a:t>Siddaganga</a:t>
            </a:r>
            <a:r>
              <a:rPr lang="en-IN" sz="2000" dirty="0">
                <a:latin typeface="Times New Roman" panose="02020603050405020304" pitchFamily="18" charset="0"/>
                <a:cs typeface="Times New Roman" panose="02020603050405020304" pitchFamily="18" charset="0"/>
              </a:rPr>
              <a:t> Institute of Technology)</a:t>
            </a:r>
          </a:p>
          <a:p>
            <a:pPr marL="0" indent="0">
              <a:buFont typeface="Arial" pitchFamily="34" charset="0"/>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This study compares the performance of </a:t>
            </a:r>
            <a:r>
              <a:rPr lang="en-IN" sz="2000" b="1" dirty="0">
                <a:latin typeface="Times New Roman" panose="02020603050405020304" pitchFamily="18" charset="0"/>
                <a:cs typeface="Times New Roman" panose="02020603050405020304" pitchFamily="18" charset="0"/>
              </a:rPr>
              <a:t>ResNet50 and EfficientNetB3</a:t>
            </a:r>
            <a:r>
              <a:rPr lang="en-IN" sz="2000" dirty="0">
                <a:latin typeface="Times New Roman" panose="02020603050405020304" pitchFamily="18" charset="0"/>
                <a:cs typeface="Times New Roman" panose="02020603050405020304" pitchFamily="18" charset="0"/>
              </a:rPr>
              <a:t> for visual buffalo identification in mixed species scenarios. By curating a balanced dataset with multiple classes (buffalo, elephant, rhino, zebra), the research evaluates how CNN architectures distinguish buffaloes from other large mammals, demonstrating the effectiveness of deeper networks in complex visual classification challenges</a:t>
            </a:r>
          </a:p>
          <a:p>
            <a:endParaRPr lang="en-IN" sz="2000" dirty="0">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DF64957F-224B-7CEF-491E-981ED1146249}"/>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11-Feb-26</a:t>
            </a:fld>
            <a:endParaRPr lang="en-US"/>
          </a:p>
        </p:txBody>
      </p:sp>
      <p:sp>
        <p:nvSpPr>
          <p:cNvPr id="9" name="Footer Placeholder 4">
            <a:extLst>
              <a:ext uri="{FF2B5EF4-FFF2-40B4-BE49-F238E27FC236}">
                <a16:creationId xmlns:a16="http://schemas.microsoft.com/office/drawing/2014/main" id="{9EC409DF-59DE-70F5-1E31-74EA287D5CB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0" name="Slide Number Placeholder 5">
            <a:extLst>
              <a:ext uri="{FF2B5EF4-FFF2-40B4-BE49-F238E27FC236}">
                <a16:creationId xmlns:a16="http://schemas.microsoft.com/office/drawing/2014/main" id="{F876D60E-F281-2E41-F9B9-4DF4828DECE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7</a:t>
            </a:fld>
            <a:endParaRPr lang="en-US"/>
          </a:p>
        </p:txBody>
      </p:sp>
      <p:sp>
        <p:nvSpPr>
          <p:cNvPr id="11" name="Rectangle 10">
            <a:extLst>
              <a:ext uri="{FF2B5EF4-FFF2-40B4-BE49-F238E27FC236}">
                <a16:creationId xmlns:a16="http://schemas.microsoft.com/office/drawing/2014/main" id="{22DD39DE-4A9F-FA5C-278B-1EC42FC3169B}"/>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94299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1D912-6D7C-0392-E2CF-9AFB17D04BC3}"/>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0CAE12A-99A9-F908-D9BB-165EB4336FC2}"/>
              </a:ext>
            </a:extLst>
          </p:cNvPr>
          <p:cNvSpPr>
            <a:spLocks noGrp="1"/>
          </p:cNvSpPr>
          <p:nvPr>
            <p:ph type="dt" sz="half" idx="10"/>
          </p:nvPr>
        </p:nvSpPr>
        <p:spPr/>
        <p:txBody>
          <a:bodyPr/>
          <a:lstStyle/>
          <a:p>
            <a:fld id="{0BB3B52F-2362-48C5-A10E-D31030FED84D}" type="datetime5">
              <a:rPr lang="en-US" smtClean="0"/>
              <a:t>11-Feb-26</a:t>
            </a:fld>
            <a:endParaRPr lang="en-US"/>
          </a:p>
        </p:txBody>
      </p:sp>
      <p:sp>
        <p:nvSpPr>
          <p:cNvPr id="4" name="Footer Placeholder 3">
            <a:extLst>
              <a:ext uri="{FF2B5EF4-FFF2-40B4-BE49-F238E27FC236}">
                <a16:creationId xmlns:a16="http://schemas.microsoft.com/office/drawing/2014/main" id="{AC06CA20-4039-50F2-4157-A8957C771CA2}"/>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A4C8786D-B866-D9E1-4952-55422CAED4C1}"/>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6" name="Title 1">
            <a:extLst>
              <a:ext uri="{FF2B5EF4-FFF2-40B4-BE49-F238E27FC236}">
                <a16:creationId xmlns:a16="http://schemas.microsoft.com/office/drawing/2014/main" id="{898E4341-3A8B-54C7-F23E-11F23BB4E094}"/>
              </a:ext>
            </a:extLst>
          </p:cNvPr>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a:latin typeface="Times New Roman" panose="02020603050405020304" pitchFamily="18" charset="0"/>
                <a:cs typeface="Times New Roman" panose="02020603050405020304" pitchFamily="18" charset="0"/>
              </a:rPr>
              <a:t>LITERATURE SURVEY 4</a:t>
            </a:r>
            <a:endParaRPr lang="en-IN" sz="2800" b="1" dirty="0"/>
          </a:p>
        </p:txBody>
      </p:sp>
      <p:sp>
        <p:nvSpPr>
          <p:cNvPr id="7" name="Content Placeholder 2">
            <a:extLst>
              <a:ext uri="{FF2B5EF4-FFF2-40B4-BE49-F238E27FC236}">
                <a16:creationId xmlns:a16="http://schemas.microsoft.com/office/drawing/2014/main" id="{07DC7F69-08C5-DCD3-E229-C5BF63FDDC4F}"/>
              </a:ext>
            </a:extLst>
          </p:cNvPr>
          <p:cNvSpPr txBox="1">
            <a:spLocks/>
          </p:cNvSpPr>
          <p:nvPr/>
        </p:nvSpPr>
        <p:spPr>
          <a:xfrm>
            <a:off x="1351935" y="1422554"/>
            <a:ext cx="7315200" cy="4424055"/>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2000" b="1" dirty="0">
                <a:latin typeface="Times New Roman" panose="02020603050405020304" pitchFamily="18" charset="0"/>
                <a:cs typeface="Times New Roman" panose="02020603050405020304" pitchFamily="18" charset="0"/>
              </a:rPr>
              <a:t>Ensemble Learning Algorithm for Cattle Breed Identification Using Computer Vision Techniques (Year: 2024)</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Authors:</a:t>
            </a:r>
            <a:r>
              <a:rPr lang="en-IN" sz="2000" dirty="0">
                <a:latin typeface="Times New Roman" panose="02020603050405020304" pitchFamily="18" charset="0"/>
                <a:cs typeface="Times New Roman" panose="02020603050405020304" pitchFamily="18" charset="0"/>
              </a:rPr>
              <a:t> Vijayalakshmi A, P. Shanmugavadivu, S. Vijayalakshmi, Shreyansh </a:t>
            </a:r>
            <a:r>
              <a:rPr lang="en-IN" sz="2000" dirty="0" err="1">
                <a:latin typeface="Times New Roman" panose="02020603050405020304" pitchFamily="18" charset="0"/>
                <a:cs typeface="Times New Roman" panose="02020603050405020304" pitchFamily="18" charset="0"/>
              </a:rPr>
              <a:t>Padarha</a:t>
            </a:r>
            <a:r>
              <a:rPr lang="en-IN" sz="2000" dirty="0">
                <a:latin typeface="Times New Roman" panose="02020603050405020304" pitchFamily="18" charset="0"/>
                <a:cs typeface="Times New Roman" panose="02020603050405020304" pitchFamily="18" charset="0"/>
              </a:rPr>
              <a:t>, Sivaranjani R</a:t>
            </a:r>
          </a:p>
          <a:p>
            <a:pPr marL="0" indent="0">
              <a:buFont typeface="Arial" pitchFamily="34" charset="0"/>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This research proposes an </a:t>
            </a:r>
            <a:r>
              <a:rPr lang="en-IN" sz="2000" b="1" dirty="0">
                <a:latin typeface="Times New Roman" panose="02020603050405020304" pitchFamily="18" charset="0"/>
                <a:cs typeface="Times New Roman" panose="02020603050405020304" pitchFamily="18" charset="0"/>
              </a:rPr>
              <a:t>ensemble learning approach</a:t>
            </a:r>
            <a:r>
              <a:rPr lang="en-IN" sz="2000" dirty="0">
                <a:latin typeface="Times New Roman" panose="02020603050405020304" pitchFamily="18" charset="0"/>
                <a:cs typeface="Times New Roman" panose="02020603050405020304" pitchFamily="18" charset="0"/>
              </a:rPr>
              <a:t> for cattle breed identification by combining multiple computer vision techniques including CNN, YOLO object detection, Canny edge detection, k-means segmentation, and grayscale imaging. The ensemble classifier uses a voting mechanism to improve robustness against obscured features and environmental noise, suggesting that hybrid methods can address limitations of individual models. </a:t>
            </a:r>
          </a:p>
          <a:p>
            <a:pPr algn="just"/>
            <a:endParaRPr lang="en-IN" sz="2000" dirty="0">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FFD73184-456F-D11E-A6DA-2A661C89AB0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11-Feb-26</a:t>
            </a:fld>
            <a:endParaRPr lang="en-US"/>
          </a:p>
        </p:txBody>
      </p:sp>
      <p:sp>
        <p:nvSpPr>
          <p:cNvPr id="10" name="Slide Number Placeholder 5">
            <a:extLst>
              <a:ext uri="{FF2B5EF4-FFF2-40B4-BE49-F238E27FC236}">
                <a16:creationId xmlns:a16="http://schemas.microsoft.com/office/drawing/2014/main" id="{1D0A1A30-33B3-9339-D845-4753625440E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8</a:t>
            </a:fld>
            <a:endParaRPr lang="en-US"/>
          </a:p>
        </p:txBody>
      </p:sp>
      <p:sp>
        <p:nvSpPr>
          <p:cNvPr id="11" name="Rectangle 10">
            <a:extLst>
              <a:ext uri="{FF2B5EF4-FFF2-40B4-BE49-F238E27FC236}">
                <a16:creationId xmlns:a16="http://schemas.microsoft.com/office/drawing/2014/main" id="{09137973-4CF7-43EE-624B-C4AB8D45452F}"/>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752629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4D229F-F547-BB13-668E-8E2F4DF3082F}"/>
              </a:ext>
            </a:extLst>
          </p:cNvPr>
          <p:cNvSpPr>
            <a:spLocks noGrp="1"/>
          </p:cNvSpPr>
          <p:nvPr>
            <p:ph type="dt" sz="half" idx="10"/>
          </p:nvPr>
        </p:nvSpPr>
        <p:spPr/>
        <p:txBody>
          <a:bodyPr/>
          <a:lstStyle/>
          <a:p>
            <a:fld id="{0BB3B52F-2362-48C5-A10E-D31030FED84D}" type="datetime5">
              <a:rPr lang="en-US" smtClean="0"/>
              <a:t>11-Feb-26</a:t>
            </a:fld>
            <a:endParaRPr lang="en-US"/>
          </a:p>
        </p:txBody>
      </p:sp>
      <p:sp>
        <p:nvSpPr>
          <p:cNvPr id="4" name="Footer Placeholder 3">
            <a:extLst>
              <a:ext uri="{FF2B5EF4-FFF2-40B4-BE49-F238E27FC236}">
                <a16:creationId xmlns:a16="http://schemas.microsoft.com/office/drawing/2014/main" id="{1F912597-2116-EAFE-42BE-5C256AC3168E}"/>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D8EB2944-5D36-DC8B-AD81-3A11B77EC1A5}"/>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6" name="Date Placeholder 2">
            <a:extLst>
              <a:ext uri="{FF2B5EF4-FFF2-40B4-BE49-F238E27FC236}">
                <a16:creationId xmlns:a16="http://schemas.microsoft.com/office/drawing/2014/main" id="{C4EEDC47-D2A1-1A1B-BCE8-B943272D72F9}"/>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11-Feb-26</a:t>
            </a:fld>
            <a:endParaRPr lang="en-US"/>
          </a:p>
        </p:txBody>
      </p:sp>
      <p:sp>
        <p:nvSpPr>
          <p:cNvPr id="7" name="Footer Placeholder 3">
            <a:extLst>
              <a:ext uri="{FF2B5EF4-FFF2-40B4-BE49-F238E27FC236}">
                <a16:creationId xmlns:a16="http://schemas.microsoft.com/office/drawing/2014/main" id="{6A596175-EF69-A12F-4B57-DFC2157CF6AA}"/>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8" name="Slide Number Placeholder 4">
            <a:extLst>
              <a:ext uri="{FF2B5EF4-FFF2-40B4-BE49-F238E27FC236}">
                <a16:creationId xmlns:a16="http://schemas.microsoft.com/office/drawing/2014/main" id="{02E438BD-EF3B-D55C-3293-8357622D174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9</a:t>
            </a:fld>
            <a:endParaRPr lang="en-US"/>
          </a:p>
        </p:txBody>
      </p:sp>
      <p:sp>
        <p:nvSpPr>
          <p:cNvPr id="9" name="Title 1">
            <a:extLst>
              <a:ext uri="{FF2B5EF4-FFF2-40B4-BE49-F238E27FC236}">
                <a16:creationId xmlns:a16="http://schemas.microsoft.com/office/drawing/2014/main" id="{DEC243F9-7847-613F-CAF2-A6D0B303FBCB}"/>
              </a:ext>
            </a:extLst>
          </p:cNvPr>
          <p:cNvSpPr txBox="1">
            <a:spLocks/>
          </p:cNvSpPr>
          <p:nvPr/>
        </p:nvSpPr>
        <p:spPr>
          <a:xfrm>
            <a:off x="685800" y="13652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Existing System</a:t>
            </a:r>
            <a:endParaRPr lang="en-IN" sz="2800" b="1" dirty="0">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8B37FEAD-90AA-5E92-553B-7D9CD7F00F57}"/>
              </a:ext>
            </a:extLst>
          </p:cNvPr>
          <p:cNvSpPr txBox="1">
            <a:spLocks/>
          </p:cNvSpPr>
          <p:nvPr/>
        </p:nvSpPr>
        <p:spPr>
          <a:xfrm>
            <a:off x="1408471" y="1207140"/>
            <a:ext cx="7315200" cy="44240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11" name="Date Placeholder 3">
            <a:extLst>
              <a:ext uri="{FF2B5EF4-FFF2-40B4-BE49-F238E27FC236}">
                <a16:creationId xmlns:a16="http://schemas.microsoft.com/office/drawing/2014/main" id="{33040A5E-E057-4612-2BE4-0CB7BD57ABC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11-Feb-26</a:t>
            </a:fld>
            <a:endParaRPr lang="en-US"/>
          </a:p>
        </p:txBody>
      </p:sp>
      <p:sp>
        <p:nvSpPr>
          <p:cNvPr id="12" name="Slide Number Placeholder 5">
            <a:extLst>
              <a:ext uri="{FF2B5EF4-FFF2-40B4-BE49-F238E27FC236}">
                <a16:creationId xmlns:a16="http://schemas.microsoft.com/office/drawing/2014/main" id="{C4E95F40-6452-3BF1-D384-09126483F8F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9</a:t>
            </a:fld>
            <a:endParaRPr lang="en-US"/>
          </a:p>
        </p:txBody>
      </p:sp>
      <p:sp>
        <p:nvSpPr>
          <p:cNvPr id="13" name="Rectangle 12">
            <a:extLst>
              <a:ext uri="{FF2B5EF4-FFF2-40B4-BE49-F238E27FC236}">
                <a16:creationId xmlns:a16="http://schemas.microsoft.com/office/drawing/2014/main" id="{033E568C-8C6B-1853-662D-81DFFEC54046}"/>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4" name="Rectangle 2">
            <a:extLst>
              <a:ext uri="{FF2B5EF4-FFF2-40B4-BE49-F238E27FC236}">
                <a16:creationId xmlns:a16="http://schemas.microsoft.com/office/drawing/2014/main" id="{3935E8E6-46DB-9274-E564-A018B61FD00B}"/>
              </a:ext>
            </a:extLst>
          </p:cNvPr>
          <p:cNvSpPr>
            <a:spLocks noChangeArrowheads="1"/>
          </p:cNvSpPr>
          <p:nvPr/>
        </p:nvSpPr>
        <p:spPr bwMode="auto">
          <a:xfrm>
            <a:off x="1732936" y="1725446"/>
            <a:ext cx="6877664"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India, cattle and buffalo breed identification is mostly carried out through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visual inspection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Field Level Workers (FLWs).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Breed identification is based on physical characteristics such as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coat color, body structure, horn shape, and size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process depends heavily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 expertise and experience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it inconsistent across regions.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research systems and online breed classifier applications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have been developed, but they are mostly limited to experimental or small-scale usage.</a:t>
            </a:r>
          </a:p>
        </p:txBody>
      </p:sp>
    </p:spTree>
    <p:extLst>
      <p:ext uri="{BB962C8B-B14F-4D97-AF65-F5344CB8AC3E}">
        <p14:creationId xmlns:p14="http://schemas.microsoft.com/office/powerpoint/2010/main" val="3936369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32B1C5A-5F2B-D30D-169C-7A01A2B532F8}"/>
              </a:ext>
            </a:extLst>
          </p:cNvPr>
          <p:cNvSpPr>
            <a:spLocks noGrp="1"/>
          </p:cNvSpPr>
          <p:nvPr>
            <p:ph type="dt" sz="half" idx="10"/>
          </p:nvPr>
        </p:nvSpPr>
        <p:spPr/>
        <p:txBody>
          <a:bodyPr/>
          <a:lstStyle/>
          <a:p>
            <a:fld id="{0BB3B52F-2362-48C5-A10E-D31030FED84D}" type="datetime5">
              <a:rPr lang="en-US" smtClean="0"/>
              <a:t>11-Feb-26</a:t>
            </a:fld>
            <a:endParaRPr lang="en-US"/>
          </a:p>
        </p:txBody>
      </p:sp>
      <p:sp>
        <p:nvSpPr>
          <p:cNvPr id="4" name="Footer Placeholder 3">
            <a:extLst>
              <a:ext uri="{FF2B5EF4-FFF2-40B4-BE49-F238E27FC236}">
                <a16:creationId xmlns:a16="http://schemas.microsoft.com/office/drawing/2014/main" id="{ECA3F7AC-70CB-4721-8BB8-6A2D303F222E}"/>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8F01869A-5F78-A497-AE53-B5661BAFF1E6}"/>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6" name="Date Placeholder 2">
            <a:extLst>
              <a:ext uri="{FF2B5EF4-FFF2-40B4-BE49-F238E27FC236}">
                <a16:creationId xmlns:a16="http://schemas.microsoft.com/office/drawing/2014/main" id="{37ED2BBA-1F35-031F-E47F-EEDD850EB7B8}"/>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11-Feb-26</a:t>
            </a:fld>
            <a:endParaRPr lang="en-US"/>
          </a:p>
        </p:txBody>
      </p:sp>
      <p:sp>
        <p:nvSpPr>
          <p:cNvPr id="7" name="Footer Placeholder 3">
            <a:extLst>
              <a:ext uri="{FF2B5EF4-FFF2-40B4-BE49-F238E27FC236}">
                <a16:creationId xmlns:a16="http://schemas.microsoft.com/office/drawing/2014/main" id="{18E7A5A2-4847-42D9-475E-E03B6A4D010A}"/>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8" name="Slide Number Placeholder 4">
            <a:extLst>
              <a:ext uri="{FF2B5EF4-FFF2-40B4-BE49-F238E27FC236}">
                <a16:creationId xmlns:a16="http://schemas.microsoft.com/office/drawing/2014/main" id="{2875F2D3-7666-08C6-95BE-5FD83770950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10</a:t>
            </a:fld>
            <a:endParaRPr lang="en-US"/>
          </a:p>
        </p:txBody>
      </p:sp>
      <p:sp>
        <p:nvSpPr>
          <p:cNvPr id="9" name="Date Placeholder 2">
            <a:extLst>
              <a:ext uri="{FF2B5EF4-FFF2-40B4-BE49-F238E27FC236}">
                <a16:creationId xmlns:a16="http://schemas.microsoft.com/office/drawing/2014/main" id="{42650B93-20FB-D010-2167-790478281F5E}"/>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BB3B52F-2362-48C5-A10E-D31030FED84D}" type="datetime5">
              <a:rPr lang="en-US" smtClean="0"/>
              <a:pPr/>
              <a:t>11-Feb-26</a:t>
            </a:fld>
            <a:endParaRPr lang="en-US"/>
          </a:p>
        </p:txBody>
      </p:sp>
      <p:sp>
        <p:nvSpPr>
          <p:cNvPr id="10" name="Footer Placeholder 3">
            <a:extLst>
              <a:ext uri="{FF2B5EF4-FFF2-40B4-BE49-F238E27FC236}">
                <a16:creationId xmlns:a16="http://schemas.microsoft.com/office/drawing/2014/main" id="{0E805A27-1BFA-C873-CB03-86EED17C96C0}"/>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1" name="Slide Number Placeholder 4">
            <a:extLst>
              <a:ext uri="{FF2B5EF4-FFF2-40B4-BE49-F238E27FC236}">
                <a16:creationId xmlns:a16="http://schemas.microsoft.com/office/drawing/2014/main" id="{CD8B4F50-70D6-8759-DBBA-37BE14586BE5}"/>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10</a:t>
            </a:fld>
            <a:endParaRPr lang="en-US"/>
          </a:p>
        </p:txBody>
      </p:sp>
      <p:sp>
        <p:nvSpPr>
          <p:cNvPr id="12" name="Title 1">
            <a:extLst>
              <a:ext uri="{FF2B5EF4-FFF2-40B4-BE49-F238E27FC236}">
                <a16:creationId xmlns:a16="http://schemas.microsoft.com/office/drawing/2014/main" id="{13468FF6-9751-A876-A2B1-F675820B9E52}"/>
              </a:ext>
            </a:extLst>
          </p:cNvPr>
          <p:cNvSpPr txBox="1">
            <a:spLocks/>
          </p:cNvSpPr>
          <p:nvPr/>
        </p:nvSpPr>
        <p:spPr>
          <a:xfrm>
            <a:off x="685800" y="13652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Proposed System</a:t>
            </a:r>
            <a:endParaRPr lang="en-IN" sz="2800" b="1" dirty="0">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F0035C4E-B1BB-B808-9EE3-517F18895591}"/>
              </a:ext>
            </a:extLst>
          </p:cNvPr>
          <p:cNvSpPr txBox="1">
            <a:spLocks/>
          </p:cNvSpPr>
          <p:nvPr/>
        </p:nvSpPr>
        <p:spPr>
          <a:xfrm>
            <a:off x="1408471" y="1207140"/>
            <a:ext cx="7315200" cy="44240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dirty="0">
                <a:latin typeface="Times New Roman" panose="02020603050405020304" pitchFamily="18" charset="0"/>
                <a:cs typeface="Times New Roman" panose="02020603050405020304" pitchFamily="18" charset="0"/>
              </a:rPr>
              <a:t>The proposed system is an </a:t>
            </a:r>
            <a:r>
              <a:rPr lang="en-US" sz="2000" b="1" dirty="0">
                <a:latin typeface="Times New Roman" panose="02020603050405020304" pitchFamily="18" charset="0"/>
                <a:cs typeface="Times New Roman" panose="02020603050405020304" pitchFamily="18" charset="0"/>
              </a:rPr>
              <a:t>AI-powered breed identification system for dairy cattle and buffaloes</a:t>
            </a:r>
            <a:r>
              <a:rPr lang="en-US" sz="2000" dirty="0">
                <a:latin typeface="Times New Roman" panose="02020603050405020304" pitchFamily="18" charset="0"/>
                <a:cs typeface="Times New Roman" panose="02020603050405020304" pitchFamily="18" charset="0"/>
              </a:rPr>
              <a:t> that uses a deep learning–based image classification model for breed identification</a:t>
            </a:r>
          </a:p>
          <a:p>
            <a:pPr algn="just"/>
            <a:r>
              <a:rPr lang="en-US" sz="2000" b="1" dirty="0">
                <a:latin typeface="Times New Roman" panose="02020603050405020304" pitchFamily="18" charset="0"/>
                <a:cs typeface="Times New Roman" panose="02020603050405020304" pitchFamily="18" charset="0"/>
              </a:rPr>
              <a:t>Key Features / Improvements: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Utilizes deep learning techniques for automatic feature extraction and breed classification for deep feature learning and better discrimination between visually similar breeds.</a:t>
            </a:r>
          </a:p>
          <a:p>
            <a:pPr algn="just"/>
            <a:r>
              <a:rPr lang="en-US" sz="2000" dirty="0">
                <a:latin typeface="Times New Roman" panose="02020603050405020304" pitchFamily="18" charset="0"/>
                <a:cs typeface="Times New Roman" panose="02020603050405020304" pitchFamily="18" charset="0"/>
              </a:rPr>
              <a:t>Focuses on </a:t>
            </a:r>
            <a:r>
              <a:rPr lang="en-US" sz="2000" b="1" dirty="0">
                <a:latin typeface="Times New Roman" panose="02020603050405020304" pitchFamily="18" charset="0"/>
                <a:cs typeface="Times New Roman" panose="02020603050405020304" pitchFamily="18" charset="0"/>
              </a:rPr>
              <a:t>classification-oriented modeling</a:t>
            </a:r>
            <a:r>
              <a:rPr lang="en-US" sz="2000" dirty="0">
                <a:latin typeface="Times New Roman" panose="02020603050405020304" pitchFamily="18" charset="0"/>
                <a:cs typeface="Times New Roman" panose="02020603050405020304" pitchFamily="18" charset="0"/>
              </a:rPr>
              <a:t> rather than detection-first approaches.</a:t>
            </a:r>
          </a:p>
          <a:p>
            <a:pPr algn="just"/>
            <a:r>
              <a:rPr lang="en-US" sz="2000" dirty="0">
                <a:latin typeface="Times New Roman" panose="02020603050405020304" pitchFamily="18" charset="0"/>
                <a:cs typeface="Times New Roman" panose="02020603050405020304" pitchFamily="18" charset="0"/>
              </a:rPr>
              <a:t>Robust performance under </a:t>
            </a:r>
            <a:r>
              <a:rPr lang="en-US" sz="2000" b="1" dirty="0">
                <a:latin typeface="Times New Roman" panose="02020603050405020304" pitchFamily="18" charset="0"/>
                <a:cs typeface="Times New Roman" panose="02020603050405020304" pitchFamily="18" charset="0"/>
              </a:rPr>
              <a:t>real-world farm conditions</a:t>
            </a:r>
            <a:r>
              <a:rPr lang="en-US" sz="2000" dirty="0">
                <a:latin typeface="Times New Roman" panose="02020603050405020304" pitchFamily="18" charset="0"/>
                <a:cs typeface="Times New Roman" panose="02020603050405020304" pitchFamily="18" charset="0"/>
              </a:rPr>
              <a:t>, including variations in lighting and background.</a:t>
            </a:r>
          </a:p>
          <a:p>
            <a:pPr algn="just"/>
            <a:r>
              <a:rPr lang="en-US" sz="2000" dirty="0">
                <a:latin typeface="Times New Roman" panose="02020603050405020304" pitchFamily="18" charset="0"/>
                <a:cs typeface="Times New Roman" panose="02020603050405020304" pitchFamily="18" charset="0"/>
              </a:rPr>
              <a:t>Designed for </a:t>
            </a:r>
            <a:r>
              <a:rPr lang="en-US" sz="2000" b="1" dirty="0">
                <a:latin typeface="Times New Roman" panose="02020603050405020304" pitchFamily="18" charset="0"/>
                <a:cs typeface="Times New Roman" panose="02020603050405020304" pitchFamily="18" charset="0"/>
              </a:rPr>
              <a:t>scalable deployment</a:t>
            </a:r>
            <a:r>
              <a:rPr lang="en-US" sz="2000" dirty="0">
                <a:latin typeface="Times New Roman" panose="02020603050405020304" pitchFamily="18" charset="0"/>
                <a:cs typeface="Times New Roman" panose="02020603050405020304" pitchFamily="18" charset="0"/>
              </a:rPr>
              <a:t>, with future support for offline and edge inference.</a:t>
            </a:r>
          </a:p>
          <a:p>
            <a:pPr algn="just"/>
            <a:r>
              <a:rPr lang="en-US" sz="2000" dirty="0">
                <a:latin typeface="Times New Roman" panose="02020603050405020304" pitchFamily="18" charset="0"/>
                <a:cs typeface="Times New Roman" panose="02020603050405020304" pitchFamily="18" charset="0"/>
              </a:rPr>
              <a:t>Can be integrated with </a:t>
            </a:r>
            <a:r>
              <a:rPr lang="en-US" sz="2000" b="1" dirty="0">
                <a:latin typeface="Times New Roman" panose="02020603050405020304" pitchFamily="18" charset="0"/>
                <a:cs typeface="Times New Roman" panose="02020603050405020304" pitchFamily="18" charset="0"/>
              </a:rPr>
              <a:t>livestock management and government breed databases</a:t>
            </a:r>
            <a:r>
              <a:rPr lang="en-US" sz="2000" dirty="0">
                <a:latin typeface="Times New Roman" panose="02020603050405020304" pitchFamily="18" charset="0"/>
                <a:cs typeface="Times New Roman" panose="02020603050405020304" pitchFamily="18" charset="0"/>
              </a:rPr>
              <a:t> for practical use.</a:t>
            </a:r>
          </a:p>
          <a:p>
            <a:pPr algn="just"/>
            <a:endParaRPr lang="en-IN" sz="2000" dirty="0">
              <a:latin typeface="Times New Roman" panose="02020603050405020304" pitchFamily="18" charset="0"/>
              <a:cs typeface="Times New Roman" panose="02020603050405020304" pitchFamily="18" charset="0"/>
            </a:endParaRPr>
          </a:p>
        </p:txBody>
      </p:sp>
      <p:sp>
        <p:nvSpPr>
          <p:cNvPr id="14" name="Date Placeholder 3">
            <a:extLst>
              <a:ext uri="{FF2B5EF4-FFF2-40B4-BE49-F238E27FC236}">
                <a16:creationId xmlns:a16="http://schemas.microsoft.com/office/drawing/2014/main" id="{439DCF5C-F3F1-7033-BAB5-D1089EE5338B}"/>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928D83-20C0-4FC1-86AC-12B02D18D7FA}" type="datetime5">
              <a:rPr lang="en-US" smtClean="0"/>
              <a:pPr/>
              <a:t>11-Feb-26</a:t>
            </a:fld>
            <a:endParaRPr lang="en-US"/>
          </a:p>
        </p:txBody>
      </p:sp>
      <p:sp>
        <p:nvSpPr>
          <p:cNvPr id="15" name="Slide Number Placeholder 5">
            <a:extLst>
              <a:ext uri="{FF2B5EF4-FFF2-40B4-BE49-F238E27FC236}">
                <a16:creationId xmlns:a16="http://schemas.microsoft.com/office/drawing/2014/main" id="{731129A4-2564-658F-C5E7-AC0C0BAFC7A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10</a:t>
            </a:fld>
            <a:endParaRPr lang="en-US"/>
          </a:p>
        </p:txBody>
      </p:sp>
      <p:sp>
        <p:nvSpPr>
          <p:cNvPr id="16" name="Rectangle 15">
            <a:extLst>
              <a:ext uri="{FF2B5EF4-FFF2-40B4-BE49-F238E27FC236}">
                <a16:creationId xmlns:a16="http://schemas.microsoft.com/office/drawing/2014/main" id="{7EDC1669-BF0F-122F-8B0E-4A6996D61450}"/>
              </a:ext>
            </a:extLst>
          </p:cNvPr>
          <p:cNvSpPr/>
          <p:nvPr/>
        </p:nvSpPr>
        <p:spPr>
          <a:xfrm>
            <a:off x="-20515" y="-9832"/>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4288851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1B68A2B-31FE-1415-6263-5875105331EF}"/>
              </a:ext>
            </a:extLst>
          </p:cNvPr>
          <p:cNvSpPr>
            <a:spLocks noGrp="1"/>
          </p:cNvSpPr>
          <p:nvPr>
            <p:ph type="dt" sz="half" idx="10"/>
          </p:nvPr>
        </p:nvSpPr>
        <p:spPr/>
        <p:txBody>
          <a:bodyPr/>
          <a:lstStyle/>
          <a:p>
            <a:fld id="{0BB3B52F-2362-48C5-A10E-D31030FED84D}" type="datetime5">
              <a:rPr lang="en-US" smtClean="0"/>
              <a:t>11-Feb-26</a:t>
            </a:fld>
            <a:endParaRPr lang="en-US"/>
          </a:p>
        </p:txBody>
      </p:sp>
      <p:sp>
        <p:nvSpPr>
          <p:cNvPr id="4" name="Footer Placeholder 3">
            <a:extLst>
              <a:ext uri="{FF2B5EF4-FFF2-40B4-BE49-F238E27FC236}">
                <a16:creationId xmlns:a16="http://schemas.microsoft.com/office/drawing/2014/main" id="{C8C74D94-EF52-B56C-EC12-E68657295147}"/>
              </a:ext>
            </a:extLst>
          </p:cNvPr>
          <p:cNvSpPr>
            <a:spLocks noGrp="1"/>
          </p:cNvSpPr>
          <p:nvPr>
            <p:ph type="ftr" sz="quarter" idx="11"/>
          </p:nvPr>
        </p:nvSpPr>
        <p:spPr/>
        <p:txBody>
          <a:bodyPr/>
          <a:lstStyle/>
          <a:p>
            <a:r>
              <a:rPr lang="en-US"/>
              <a:t>Department of AI&amp;DS</a:t>
            </a:r>
          </a:p>
        </p:txBody>
      </p:sp>
      <p:sp>
        <p:nvSpPr>
          <p:cNvPr id="5" name="Slide Number Placeholder 4">
            <a:extLst>
              <a:ext uri="{FF2B5EF4-FFF2-40B4-BE49-F238E27FC236}">
                <a16:creationId xmlns:a16="http://schemas.microsoft.com/office/drawing/2014/main" id="{27BDFD78-5E0A-7D8E-EBF2-3D5E3D4730B8}"/>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6" name="Date Placeholder 3">
            <a:extLst>
              <a:ext uri="{FF2B5EF4-FFF2-40B4-BE49-F238E27FC236}">
                <a16:creationId xmlns:a16="http://schemas.microsoft.com/office/drawing/2014/main" id="{DA327CA4-1898-5FA2-A864-0C688EC20F88}"/>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E138B8-740D-4C3D-A99B-11C6F9206D6A}" type="datetime5">
              <a:rPr lang="en-US" smtClean="0"/>
              <a:pPr/>
              <a:t>11-Feb-26</a:t>
            </a:fld>
            <a:endParaRPr lang="en-US"/>
          </a:p>
        </p:txBody>
      </p:sp>
      <p:sp>
        <p:nvSpPr>
          <p:cNvPr id="7" name="Footer Placeholder 4">
            <a:extLst>
              <a:ext uri="{FF2B5EF4-FFF2-40B4-BE49-F238E27FC236}">
                <a16:creationId xmlns:a16="http://schemas.microsoft.com/office/drawing/2014/main" id="{D8159039-05C4-8392-17D7-2E789CB45A97}"/>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Department of AI&amp;DS</a:t>
            </a:r>
          </a:p>
        </p:txBody>
      </p:sp>
      <p:sp>
        <p:nvSpPr>
          <p:cNvPr id="8" name="Slide Number Placeholder 5">
            <a:extLst>
              <a:ext uri="{FF2B5EF4-FFF2-40B4-BE49-F238E27FC236}">
                <a16:creationId xmlns:a16="http://schemas.microsoft.com/office/drawing/2014/main" id="{3319A897-C119-8A31-D65D-C7D019172A2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11</a:t>
            </a:fld>
            <a:endParaRPr lang="en-US"/>
          </a:p>
        </p:txBody>
      </p:sp>
      <p:sp>
        <p:nvSpPr>
          <p:cNvPr id="9" name="Title 8">
            <a:extLst>
              <a:ext uri="{FF2B5EF4-FFF2-40B4-BE49-F238E27FC236}">
                <a16:creationId xmlns:a16="http://schemas.microsoft.com/office/drawing/2014/main" id="{5F4EB17A-ACB1-80BB-C813-3E360B2692EE}"/>
              </a:ext>
            </a:extLst>
          </p:cNvPr>
          <p:cNvSpPr txBox="1">
            <a:spLocks/>
          </p:cNvSpPr>
          <p:nvPr/>
        </p:nvSpPr>
        <p:spPr>
          <a:xfrm>
            <a:off x="1376317" y="506259"/>
            <a:ext cx="7543800" cy="9906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Proposed Architecture Block diagram </a:t>
            </a:r>
            <a:b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endPar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Rectangle 9">
            <a:extLst>
              <a:ext uri="{FF2B5EF4-FFF2-40B4-BE49-F238E27FC236}">
                <a16:creationId xmlns:a16="http://schemas.microsoft.com/office/drawing/2014/main" id="{2ED337C2-914E-BB24-3466-5D9B50F4E7E3}"/>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pic>
        <p:nvPicPr>
          <p:cNvPr id="19" name="Picture 18">
            <a:extLst>
              <a:ext uri="{FF2B5EF4-FFF2-40B4-BE49-F238E27FC236}">
                <a16:creationId xmlns:a16="http://schemas.microsoft.com/office/drawing/2014/main" id="{6E9CB048-797E-E42E-6709-9608547E2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187451"/>
            <a:ext cx="7239000" cy="2714625"/>
          </a:xfrm>
          <a:prstGeom prst="rect">
            <a:avLst/>
          </a:prstGeom>
        </p:spPr>
      </p:pic>
      <p:pic>
        <p:nvPicPr>
          <p:cNvPr id="12" name="Picture 11">
            <a:extLst>
              <a:ext uri="{FF2B5EF4-FFF2-40B4-BE49-F238E27FC236}">
                <a16:creationId xmlns:a16="http://schemas.microsoft.com/office/drawing/2014/main" id="{FC058606-F8ED-C11E-DB57-F0A0D9FCA0E9}"/>
              </a:ext>
            </a:extLst>
          </p:cNvPr>
          <p:cNvPicPr>
            <a:picLocks noChangeAspect="1"/>
          </p:cNvPicPr>
          <p:nvPr/>
        </p:nvPicPr>
        <p:blipFill>
          <a:blip r:embed="rId3"/>
          <a:stretch>
            <a:fillRect/>
          </a:stretch>
        </p:blipFill>
        <p:spPr>
          <a:xfrm>
            <a:off x="5029200" y="3886200"/>
            <a:ext cx="3310653" cy="2183710"/>
          </a:xfrm>
          <a:prstGeom prst="rect">
            <a:avLst/>
          </a:prstGeom>
        </p:spPr>
      </p:pic>
    </p:spTree>
    <p:extLst>
      <p:ext uri="{BB962C8B-B14F-4D97-AF65-F5344CB8AC3E}">
        <p14:creationId xmlns:p14="http://schemas.microsoft.com/office/powerpoint/2010/main" val="44160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0E138B8-740D-4C3D-A99B-11C6F9206D6A}" type="datetime5">
              <a:rPr lang="en-US" smtClean="0"/>
              <a:t>11-Feb-26</a:t>
            </a:fld>
            <a:endParaRPr lang="en-US"/>
          </a:p>
        </p:txBody>
      </p:sp>
      <p:sp>
        <p:nvSpPr>
          <p:cNvPr id="3" name="Footer Placeholder 4">
            <a:extLst>
              <a:ext uri="{FF2B5EF4-FFF2-40B4-BE49-F238E27FC236}">
                <a16:creationId xmlns:a16="http://schemas.microsoft.com/office/drawing/2014/main" id="{F7C1D5A8-0C25-C5A9-CF29-3900F40CB5AE}"/>
              </a:ext>
            </a:extLst>
          </p:cNvPr>
          <p:cNvSpPr>
            <a:spLocks noGrp="1"/>
          </p:cNvSpPr>
          <p:nvPr>
            <p:ph type="ftr" sz="quarter" idx="11"/>
          </p:nvPr>
        </p:nvSpPr>
        <p:spPr/>
        <p:txBody>
          <a:bodyPr/>
          <a:lstStyle/>
          <a:p>
            <a:r>
              <a:rPr lang="en-US"/>
              <a:t>Department of AI&amp;DS</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8" name="Title 8"/>
          <p:cNvSpPr txBox="1">
            <a:spLocks/>
          </p:cNvSpPr>
          <p:nvPr/>
        </p:nvSpPr>
        <p:spPr>
          <a:xfrm>
            <a:off x="1219200" y="533400"/>
            <a:ext cx="7543800" cy="9906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a:t>
            </a:r>
            <a:r>
              <a:rPr lang="en-IN" sz="3600" dirty="0">
                <a:latin typeface="Times New Roman" pitchFamily="18" charset="0"/>
                <a:ea typeface="+mj-ea"/>
                <a:cs typeface="Times New Roman" pitchFamily="18" charset="0"/>
              </a:rPr>
              <a:t>s</a:t>
            </a:r>
            <a:b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endPar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 name="Rectangle 1">
            <a:extLst>
              <a:ext uri="{FF2B5EF4-FFF2-40B4-BE49-F238E27FC236}">
                <a16:creationId xmlns:a16="http://schemas.microsoft.com/office/drawing/2014/main" id="{E57FFE89-C4BB-9488-F8B0-AC72FC9977BA}"/>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3" name="Rectangle 3">
            <a:extLst>
              <a:ext uri="{FF2B5EF4-FFF2-40B4-BE49-F238E27FC236}">
                <a16:creationId xmlns:a16="http://schemas.microsoft.com/office/drawing/2014/main" id="{48D685E2-E2B9-5714-2C6B-3BCD026148D4}"/>
              </a:ext>
            </a:extLst>
          </p:cNvPr>
          <p:cNvSpPr>
            <a:spLocks noGrp="1" noChangeArrowheads="1"/>
          </p:cNvSpPr>
          <p:nvPr>
            <p:ph idx="1"/>
          </p:nvPr>
        </p:nvSpPr>
        <p:spPr bwMode="auto">
          <a:xfrm>
            <a:off x="1981200" y="1908850"/>
            <a:ext cx="67056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Acquisition Module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Preprocessing Module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 Module (</a:t>
            </a:r>
            <a:r>
              <a:rPr lang="en-US" altLang="en-US" sz="2200" dirty="0">
                <a:latin typeface="Times New Roman" panose="02020603050405020304" pitchFamily="18" charset="0"/>
                <a:cs typeface="Times New Roman" panose="02020603050405020304" pitchFamily="18" charset="0"/>
              </a:rPr>
              <a:t>Deep Learning Model</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Breed Classification Module (Image-based Classifier)</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Prediction &amp; Result Analysis Module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Interface &amp; Deployment Module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CC7BF40-18D7-404C-B634-F7BE7FC13666}" type="datetime5">
              <a:rPr lang="en-US" smtClean="0"/>
              <a:t>11-Feb-26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8" name="Title 8"/>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352028E-CFAF-7EF0-38EB-6B776329B600}"/>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32BAC3F6-8AE8-E6E2-ADB9-16DD3121365D}"/>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12" name="Rectangle 3">
            <a:extLst>
              <a:ext uri="{FF2B5EF4-FFF2-40B4-BE49-F238E27FC236}">
                <a16:creationId xmlns:a16="http://schemas.microsoft.com/office/drawing/2014/main" id="{698CA588-2D7D-1D86-7380-5DE8B3DE0EF6}"/>
              </a:ext>
            </a:extLst>
          </p:cNvPr>
          <p:cNvSpPr>
            <a:spLocks noChangeArrowheads="1"/>
          </p:cNvSpPr>
          <p:nvPr/>
        </p:nvSpPr>
        <p:spPr bwMode="auto">
          <a:xfrm>
            <a:off x="1496367" y="1488747"/>
            <a:ext cx="696183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1) Image Acquisition Module</a:t>
            </a:r>
          </a:p>
          <a:p>
            <a:r>
              <a:rPr lang="en-US" sz="2000" dirty="0">
                <a:latin typeface="Times New Roman" panose="02020603050405020304" pitchFamily="18" charset="0"/>
                <a:cs typeface="Times New Roman" panose="02020603050405020304" pitchFamily="18" charset="0"/>
              </a:rPr>
              <a:t>Manages the capture or upload of cattle and buffalo images from mobile devices or cameras under real-time farm conditions.</a:t>
            </a:r>
          </a:p>
          <a:p>
            <a:r>
              <a:rPr lang="en-US" sz="2000" b="1" dirty="0">
                <a:latin typeface="Times New Roman" panose="02020603050405020304" pitchFamily="18" charset="0"/>
                <a:cs typeface="Times New Roman" panose="02020603050405020304" pitchFamily="18" charset="0"/>
              </a:rPr>
              <a:t>Key Features: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Real-time image capture, support for multiple image formats, adaptability to varying lighting and angles.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 Image Preprocessing Module</a:t>
            </a:r>
          </a:p>
          <a:p>
            <a:r>
              <a:rPr lang="en-US" sz="2000" dirty="0">
                <a:latin typeface="Times New Roman" panose="02020603050405020304" pitchFamily="18" charset="0"/>
                <a:cs typeface="Times New Roman" panose="02020603050405020304" pitchFamily="18" charset="0"/>
              </a:rPr>
              <a:t>Enhances and standardizes the captured images to make them suitable for deep learning model input.</a:t>
            </a:r>
          </a:p>
          <a:p>
            <a:r>
              <a:rPr lang="en-US" sz="2000" b="1" dirty="0">
                <a:latin typeface="Times New Roman" panose="02020603050405020304" pitchFamily="18" charset="0"/>
                <a:cs typeface="Times New Roman" panose="02020603050405020304" pitchFamily="18" charset="0"/>
              </a:rPr>
              <a:t>Key Features: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Image resizing, noise reduction, normalization, improved image quality for better accuracy.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7CC039-AE13-48D8-A53C-A9E85FEB97B9}"/>
              </a:ext>
            </a:extLst>
          </p:cNvPr>
          <p:cNvSpPr>
            <a:spLocks noGrp="1"/>
          </p:cNvSpPr>
          <p:nvPr>
            <p:ph type="dt" sz="half" idx="10"/>
          </p:nvPr>
        </p:nvSpPr>
        <p:spPr/>
        <p:txBody>
          <a:bodyPr/>
          <a:lstStyle/>
          <a:p>
            <a:fld id="{DC5FBA68-9816-4686-9912-D98927DC24D3}" type="datetime5">
              <a:rPr lang="en-US" smtClean="0"/>
              <a:t>11-Feb-26</a:t>
            </a:fld>
            <a:endParaRPr lang="en-US"/>
          </a:p>
        </p:txBody>
      </p:sp>
      <p:sp>
        <p:nvSpPr>
          <p:cNvPr id="3" name="Footer Placeholder 2">
            <a:extLst>
              <a:ext uri="{FF2B5EF4-FFF2-40B4-BE49-F238E27FC236}">
                <a16:creationId xmlns:a16="http://schemas.microsoft.com/office/drawing/2014/main" id="{C59AE56A-2A8A-F03C-B82A-88FD7AE2C012}"/>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2F23C594-91DF-909F-2AF4-7F7A298502E2}"/>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5" name="Date Placeholder 3">
            <a:extLst>
              <a:ext uri="{FF2B5EF4-FFF2-40B4-BE49-F238E27FC236}">
                <a16:creationId xmlns:a16="http://schemas.microsoft.com/office/drawing/2014/main" id="{D8E81073-AD1F-770C-FDB5-6863CB2EB81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11-Feb-26</a:t>
            </a:fld>
            <a:endParaRPr lang="en-US"/>
          </a:p>
        </p:txBody>
      </p:sp>
      <p:sp>
        <p:nvSpPr>
          <p:cNvPr id="6" name="Slide Number Placeholder 5">
            <a:extLst>
              <a:ext uri="{FF2B5EF4-FFF2-40B4-BE49-F238E27FC236}">
                <a16:creationId xmlns:a16="http://schemas.microsoft.com/office/drawing/2014/main" id="{E751D531-F715-E34C-462A-7D51127EA9E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a:t>
            </a:fld>
            <a:endParaRPr lang="en-US"/>
          </a:p>
        </p:txBody>
      </p:sp>
      <p:sp>
        <p:nvSpPr>
          <p:cNvPr id="7" name="Title 8">
            <a:extLst>
              <a:ext uri="{FF2B5EF4-FFF2-40B4-BE49-F238E27FC236}">
                <a16:creationId xmlns:a16="http://schemas.microsoft.com/office/drawing/2014/main" id="{1B76B0F7-FB69-38D2-261E-ABF893C0FC2B}"/>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8" name="Title 8">
            <a:extLst>
              <a:ext uri="{FF2B5EF4-FFF2-40B4-BE49-F238E27FC236}">
                <a16:creationId xmlns:a16="http://schemas.microsoft.com/office/drawing/2014/main" id="{DB859C68-FF1C-BFC3-A061-7CB18A6F6994}"/>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AA356D7E-E697-A906-B0D2-24F02AF36ED5}"/>
              </a:ext>
            </a:extLst>
          </p:cNvPr>
          <p:cNvSpPr txBox="1">
            <a:spLocks/>
          </p:cNvSpPr>
          <p:nvPr/>
        </p:nvSpPr>
        <p:spPr>
          <a:xfrm>
            <a:off x="1295400" y="12573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86E079DD-6F32-C5BB-4EF1-0C609A2E1A48}"/>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1" name="Footer Placeholder 4">
            <a:extLst>
              <a:ext uri="{FF2B5EF4-FFF2-40B4-BE49-F238E27FC236}">
                <a16:creationId xmlns:a16="http://schemas.microsoft.com/office/drawing/2014/main" id="{025EB3A7-4CB2-C0EC-D083-0AE7D34A08AA}"/>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2" name="Rectangle 3">
            <a:extLst>
              <a:ext uri="{FF2B5EF4-FFF2-40B4-BE49-F238E27FC236}">
                <a16:creationId xmlns:a16="http://schemas.microsoft.com/office/drawing/2014/main" id="{83F01E1B-A48D-97B7-AEFE-F606985B1B8A}"/>
              </a:ext>
            </a:extLst>
          </p:cNvPr>
          <p:cNvSpPr>
            <a:spLocks noChangeArrowheads="1"/>
          </p:cNvSpPr>
          <p:nvPr/>
        </p:nvSpPr>
        <p:spPr bwMode="auto">
          <a:xfrm>
            <a:off x="1572567" y="1525488"/>
            <a:ext cx="696183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3) Feature Extraction Module (CNN)</a:t>
            </a:r>
          </a:p>
          <a:p>
            <a:r>
              <a:rPr lang="en-US" sz="2000" dirty="0">
                <a:latin typeface="Times New Roman" panose="02020603050405020304" pitchFamily="18" charset="0"/>
                <a:cs typeface="Times New Roman" panose="02020603050405020304" pitchFamily="18" charset="0"/>
              </a:rPr>
              <a:t>Automatically extracts meaningful visual features from images using convolutional neural networks.</a:t>
            </a:r>
          </a:p>
          <a:p>
            <a:r>
              <a:rPr lang="en-US" sz="2000" b="1" dirty="0">
                <a:latin typeface="Times New Roman" panose="02020603050405020304" pitchFamily="18" charset="0"/>
                <a:cs typeface="Times New Roman" panose="02020603050405020304" pitchFamily="18" charset="0"/>
              </a:rPr>
              <a:t>Key Features: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Automatic feature learning, extraction of texture and shape patterns, elimination of manual feature engineering.</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4) Breed Classification Module</a:t>
            </a:r>
          </a:p>
          <a:p>
            <a:r>
              <a:rPr lang="en-US" sz="2000" dirty="0">
                <a:latin typeface="Times New Roman" panose="02020603050405020304" pitchFamily="18" charset="0"/>
                <a:cs typeface="Times New Roman" panose="02020603050405020304" pitchFamily="18" charset="0"/>
              </a:rPr>
              <a:t>Classifies cattle and buffalo breeds using a deep Residual Neural Network architecture.</a:t>
            </a:r>
          </a:p>
          <a:p>
            <a:r>
              <a:rPr lang="en-US" sz="2000" b="1" dirty="0">
                <a:latin typeface="Times New Roman" panose="02020603050405020304" pitchFamily="18" charset="0"/>
                <a:cs typeface="Times New Roman" panose="02020603050405020304" pitchFamily="18" charset="0"/>
              </a:rPr>
              <a:t>Key Features: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Residual learning, deep feature refinement, high accuracy for visually similar breeds.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669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3E8469-5E22-B391-575E-E55B31D01CA1}"/>
              </a:ext>
            </a:extLst>
          </p:cNvPr>
          <p:cNvSpPr>
            <a:spLocks noGrp="1"/>
          </p:cNvSpPr>
          <p:nvPr>
            <p:ph type="dt" sz="half" idx="10"/>
          </p:nvPr>
        </p:nvSpPr>
        <p:spPr/>
        <p:txBody>
          <a:bodyPr/>
          <a:lstStyle/>
          <a:p>
            <a:fld id="{DC5FBA68-9816-4686-9912-D98927DC24D3}" type="datetime5">
              <a:rPr lang="en-US" smtClean="0"/>
              <a:t>11-Feb-26</a:t>
            </a:fld>
            <a:endParaRPr lang="en-US"/>
          </a:p>
        </p:txBody>
      </p:sp>
      <p:sp>
        <p:nvSpPr>
          <p:cNvPr id="3" name="Footer Placeholder 2">
            <a:extLst>
              <a:ext uri="{FF2B5EF4-FFF2-40B4-BE49-F238E27FC236}">
                <a16:creationId xmlns:a16="http://schemas.microsoft.com/office/drawing/2014/main" id="{CDAA696F-7C6B-05A9-529F-EB27C8BCEDE7}"/>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A00835EC-26F1-E8A2-0231-8B6871D39DF4}"/>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5" name="Date Placeholder 1">
            <a:extLst>
              <a:ext uri="{FF2B5EF4-FFF2-40B4-BE49-F238E27FC236}">
                <a16:creationId xmlns:a16="http://schemas.microsoft.com/office/drawing/2014/main" id="{667CBEB8-E33B-89A2-E241-13494E79DA71}"/>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11-Feb-26</a:t>
            </a:fld>
            <a:endParaRPr lang="en-US"/>
          </a:p>
        </p:txBody>
      </p:sp>
      <p:sp>
        <p:nvSpPr>
          <p:cNvPr id="6" name="Footer Placeholder 2">
            <a:extLst>
              <a:ext uri="{FF2B5EF4-FFF2-40B4-BE49-F238E27FC236}">
                <a16:creationId xmlns:a16="http://schemas.microsoft.com/office/drawing/2014/main" id="{E8542274-D187-A3BE-174C-D0A7C4ADC2FA}"/>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C2225B75-FA43-716B-BB25-FC86CA35264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a:t>
            </a:fld>
            <a:endParaRPr lang="en-US"/>
          </a:p>
        </p:txBody>
      </p:sp>
      <p:sp>
        <p:nvSpPr>
          <p:cNvPr id="8" name="Date Placeholder 3">
            <a:extLst>
              <a:ext uri="{FF2B5EF4-FFF2-40B4-BE49-F238E27FC236}">
                <a16:creationId xmlns:a16="http://schemas.microsoft.com/office/drawing/2014/main" id="{22BB4834-328E-77FE-AC55-C40C7B1B61FF}"/>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11-Feb-26</a:t>
            </a:fld>
            <a:endParaRPr lang="en-US"/>
          </a:p>
        </p:txBody>
      </p:sp>
      <p:sp>
        <p:nvSpPr>
          <p:cNvPr id="9" name="Slide Number Placeholder 5">
            <a:extLst>
              <a:ext uri="{FF2B5EF4-FFF2-40B4-BE49-F238E27FC236}">
                <a16:creationId xmlns:a16="http://schemas.microsoft.com/office/drawing/2014/main" id="{D159DB5E-D495-B215-4EB8-72DBC36509B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a:t>
            </a:fld>
            <a:endParaRPr lang="en-US"/>
          </a:p>
        </p:txBody>
      </p:sp>
      <p:sp>
        <p:nvSpPr>
          <p:cNvPr id="10" name="Title 8">
            <a:extLst>
              <a:ext uri="{FF2B5EF4-FFF2-40B4-BE49-F238E27FC236}">
                <a16:creationId xmlns:a16="http://schemas.microsoft.com/office/drawing/2014/main" id="{B599322F-CF62-FFD4-7C18-465F19FA368F}"/>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 Description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1" name="Title 8">
            <a:extLst>
              <a:ext uri="{FF2B5EF4-FFF2-40B4-BE49-F238E27FC236}">
                <a16:creationId xmlns:a16="http://schemas.microsoft.com/office/drawing/2014/main" id="{7CB99E87-6F55-6389-9EE1-9147F70DD2D7}"/>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2" name="Title 8">
            <a:extLst>
              <a:ext uri="{FF2B5EF4-FFF2-40B4-BE49-F238E27FC236}">
                <a16:creationId xmlns:a16="http://schemas.microsoft.com/office/drawing/2014/main" id="{F8E086B0-C12E-B8B2-27A7-75BD377DB7FF}"/>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F4E6B9F4-82EB-6D31-7C21-0D87F1BDF0ED}"/>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4" name="Footer Placeholder 4">
            <a:extLst>
              <a:ext uri="{FF2B5EF4-FFF2-40B4-BE49-F238E27FC236}">
                <a16:creationId xmlns:a16="http://schemas.microsoft.com/office/drawing/2014/main" id="{B0814D4C-71D8-3796-FBE1-716D790FD7C9}"/>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5" name="Rectangle 3">
            <a:extLst>
              <a:ext uri="{FF2B5EF4-FFF2-40B4-BE49-F238E27FC236}">
                <a16:creationId xmlns:a16="http://schemas.microsoft.com/office/drawing/2014/main" id="{1BDAC842-CF4E-CF7C-46E8-C10FA60A6DC2}"/>
              </a:ext>
            </a:extLst>
          </p:cNvPr>
          <p:cNvSpPr>
            <a:spLocks noChangeArrowheads="1"/>
          </p:cNvSpPr>
          <p:nvPr/>
        </p:nvSpPr>
        <p:spPr bwMode="auto">
          <a:xfrm>
            <a:off x="1572567" y="1553975"/>
            <a:ext cx="6961833"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5) Prediction &amp; Result Analysis Module</a:t>
            </a:r>
          </a:p>
          <a:p>
            <a:r>
              <a:rPr lang="en-US" sz="2000" dirty="0">
                <a:latin typeface="Times New Roman" panose="02020603050405020304" pitchFamily="18" charset="0"/>
                <a:cs typeface="Times New Roman" panose="02020603050405020304" pitchFamily="18" charset="0"/>
              </a:rPr>
              <a:t>Generates the final breed prediction along with confidence scores.</a:t>
            </a:r>
          </a:p>
          <a:p>
            <a:r>
              <a:rPr lang="en-US" sz="2000" b="1" dirty="0">
                <a:latin typeface="Times New Roman" panose="02020603050405020304" pitchFamily="18" charset="0"/>
                <a:cs typeface="Times New Roman" panose="02020603050405020304" pitchFamily="18" charset="0"/>
              </a:rPr>
              <a:t>Key Features: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Breed name prediction, probability score output, handling of uncertain predictions.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6) User Interface &amp; Deployment Module</a:t>
            </a:r>
          </a:p>
          <a:p>
            <a:r>
              <a:rPr lang="en-US" sz="2000" dirty="0">
                <a:latin typeface="Times New Roman" panose="02020603050405020304" pitchFamily="18" charset="0"/>
                <a:cs typeface="Times New Roman" panose="02020603050405020304" pitchFamily="18" charset="0"/>
              </a:rPr>
              <a:t>Provides an interactive interface for users to upload images and view results, and supports system deployment.</a:t>
            </a:r>
          </a:p>
          <a:p>
            <a:r>
              <a:rPr lang="en-US" sz="2000" b="1" dirty="0">
                <a:latin typeface="Times New Roman" panose="02020603050405020304" pitchFamily="18" charset="0"/>
                <a:cs typeface="Times New Roman" panose="02020603050405020304" pitchFamily="18" charset="0"/>
              </a:rPr>
              <a:t>Key Features: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User-friendly interface, real-time results display, scalable web/mobile deployment support.</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4347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03AAD-02C9-3942-B810-400D8AE659E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6D45B6F-0006-BF89-639D-CD3423A7D06C}"/>
              </a:ext>
            </a:extLst>
          </p:cNvPr>
          <p:cNvSpPr>
            <a:spLocks noGrp="1"/>
          </p:cNvSpPr>
          <p:nvPr>
            <p:ph type="dt" sz="half" idx="10"/>
          </p:nvPr>
        </p:nvSpPr>
        <p:spPr/>
        <p:txBody>
          <a:bodyPr/>
          <a:lstStyle/>
          <a:p>
            <a:fld id="{DC5FBA68-9816-4686-9912-D98927DC24D3}" type="datetime5">
              <a:rPr lang="en-US" smtClean="0"/>
              <a:t>11-Feb-26</a:t>
            </a:fld>
            <a:endParaRPr lang="en-US"/>
          </a:p>
        </p:txBody>
      </p:sp>
      <p:sp>
        <p:nvSpPr>
          <p:cNvPr id="3" name="Footer Placeholder 2">
            <a:extLst>
              <a:ext uri="{FF2B5EF4-FFF2-40B4-BE49-F238E27FC236}">
                <a16:creationId xmlns:a16="http://schemas.microsoft.com/office/drawing/2014/main" id="{7CE3DA5E-D860-77BB-088A-A804B61F16F6}"/>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9A402A6F-65D1-AD45-CE2A-5288C8A2744C}"/>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5" name="Date Placeholder 1">
            <a:extLst>
              <a:ext uri="{FF2B5EF4-FFF2-40B4-BE49-F238E27FC236}">
                <a16:creationId xmlns:a16="http://schemas.microsoft.com/office/drawing/2014/main" id="{DA246184-3A28-EE1A-823E-0807B0C7C11C}"/>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11-Feb-26</a:t>
            </a:fld>
            <a:endParaRPr lang="en-US"/>
          </a:p>
        </p:txBody>
      </p:sp>
      <p:sp>
        <p:nvSpPr>
          <p:cNvPr id="6" name="Footer Placeholder 2">
            <a:extLst>
              <a:ext uri="{FF2B5EF4-FFF2-40B4-BE49-F238E27FC236}">
                <a16:creationId xmlns:a16="http://schemas.microsoft.com/office/drawing/2014/main" id="{2D0D3CD8-92A1-AB9F-5536-DE6AC995A092}"/>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2AC8C3D8-2384-454B-DFF5-873F140510FF}"/>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16</a:t>
            </a:fld>
            <a:endParaRPr lang="en-US"/>
          </a:p>
        </p:txBody>
      </p:sp>
      <p:sp>
        <p:nvSpPr>
          <p:cNvPr id="8" name="Date Placeholder 1">
            <a:extLst>
              <a:ext uri="{FF2B5EF4-FFF2-40B4-BE49-F238E27FC236}">
                <a16:creationId xmlns:a16="http://schemas.microsoft.com/office/drawing/2014/main" id="{09A3689A-AA80-6FAB-432D-2E99B56BE4A5}"/>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11-Feb-26</a:t>
            </a:fld>
            <a:endParaRPr lang="en-US"/>
          </a:p>
        </p:txBody>
      </p:sp>
      <p:sp>
        <p:nvSpPr>
          <p:cNvPr id="9" name="Footer Placeholder 2">
            <a:extLst>
              <a:ext uri="{FF2B5EF4-FFF2-40B4-BE49-F238E27FC236}">
                <a16:creationId xmlns:a16="http://schemas.microsoft.com/office/drawing/2014/main" id="{EBA01795-699C-0671-7300-B75F025903D5}"/>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4B172838-A0E1-60E5-762A-9F0BBD77874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16</a:t>
            </a:fld>
            <a:endParaRPr lang="en-US"/>
          </a:p>
        </p:txBody>
      </p:sp>
      <p:sp>
        <p:nvSpPr>
          <p:cNvPr id="11" name="Date Placeholder 3">
            <a:extLst>
              <a:ext uri="{FF2B5EF4-FFF2-40B4-BE49-F238E27FC236}">
                <a16:creationId xmlns:a16="http://schemas.microsoft.com/office/drawing/2014/main" id="{867F3A10-A8BE-1383-73B7-6815EEFE06C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11-Feb-26</a:t>
            </a:fld>
            <a:endParaRPr lang="en-US"/>
          </a:p>
        </p:txBody>
      </p:sp>
      <p:sp>
        <p:nvSpPr>
          <p:cNvPr id="12" name="Slide Number Placeholder 5">
            <a:extLst>
              <a:ext uri="{FF2B5EF4-FFF2-40B4-BE49-F238E27FC236}">
                <a16:creationId xmlns:a16="http://schemas.microsoft.com/office/drawing/2014/main" id="{A3AC5406-769F-94AF-F5A4-0844ACECA00A}"/>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16</a:t>
            </a:fld>
            <a:endParaRPr lang="en-US"/>
          </a:p>
        </p:txBody>
      </p:sp>
      <p:sp>
        <p:nvSpPr>
          <p:cNvPr id="13" name="Title 8">
            <a:extLst>
              <a:ext uri="{FF2B5EF4-FFF2-40B4-BE49-F238E27FC236}">
                <a16:creationId xmlns:a16="http://schemas.microsoft.com/office/drawing/2014/main" id="{3F94261C-907A-4E90-D1DB-730556DC6906}"/>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ALGORITHMS USED</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454D690C-CDD2-6AD3-F06A-B5D0EF623115}"/>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38C2F47B-FCFD-E503-F5E4-5887E6EEB94C}"/>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0342D0C1-71CA-6305-064F-6CD874F7411E}"/>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74FDC1F7-4390-0C72-0FE9-AF22BB5213B7}"/>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21" name="TextBox 20">
            <a:extLst>
              <a:ext uri="{FF2B5EF4-FFF2-40B4-BE49-F238E27FC236}">
                <a16:creationId xmlns:a16="http://schemas.microsoft.com/office/drawing/2014/main" id="{D2AA9BA3-9996-2C7E-62D1-DCF596084D93}"/>
              </a:ext>
            </a:extLst>
          </p:cNvPr>
          <p:cNvSpPr txBox="1"/>
          <p:nvPr/>
        </p:nvSpPr>
        <p:spPr>
          <a:xfrm>
            <a:off x="1295400" y="1647369"/>
            <a:ext cx="7467600" cy="4708981"/>
          </a:xfrm>
          <a:prstGeom prst="rect">
            <a:avLst/>
          </a:prstGeom>
          <a:noFill/>
        </p:spPr>
        <p:txBody>
          <a:bodyPr wrap="square" rtlCol="0">
            <a:spAutoFit/>
          </a:bodyPr>
          <a:lstStyle/>
          <a:p>
            <a:pPr marL="457200" lvl="0" indent="-457200" eaLnBrk="0" fontAlgn="base" hangingPunct="0">
              <a:spcBef>
                <a:spcPct val="0"/>
              </a:spcBef>
              <a:spcAft>
                <a:spcPct val="0"/>
              </a:spcAft>
              <a:buFont typeface="+mj-lt"/>
              <a:buAutoNum type="arabicPeriod"/>
            </a:pPr>
            <a:r>
              <a:rPr lang="en-US" altLang="en-US" sz="2000" b="1" dirty="0">
                <a:latin typeface="Times New Roman" panose="02020603050405020304" pitchFamily="18" charset="0"/>
                <a:cs typeface="Times New Roman" panose="02020603050405020304" pitchFamily="18" charset="0"/>
              </a:rPr>
              <a:t>YOLO-Based Deep Learning Model (CNN Architecture)</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Performs real-time image detection and multiclass classification of Indian bovine breeds. Extracts spatial features using convolutional layers and predicts breed labels with confidence scores in a single forward pass.</a:t>
            </a:r>
          </a:p>
          <a:p>
            <a:pPr marL="457200" lvl="0" indent="-457200" eaLnBrk="0" fontAlgn="base" hangingPunct="0">
              <a:spcBef>
                <a:spcPct val="0"/>
              </a:spcBef>
              <a:spcAft>
                <a:spcPct val="0"/>
              </a:spcAft>
              <a:buFont typeface="+mj-lt"/>
              <a:buAutoNum type="arabicPeriod"/>
            </a:pPr>
            <a:r>
              <a:rPr lang="en-US" altLang="en-US" sz="2000" b="1" dirty="0">
                <a:latin typeface="Times New Roman" panose="02020603050405020304" pitchFamily="18" charset="0"/>
                <a:cs typeface="Times New Roman" panose="02020603050405020304" pitchFamily="18" charset="0"/>
              </a:rPr>
              <a:t>Multiclass Image Classification Algorithm</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Learns discriminative visual features from labeled bovine datasets to classify multiple Indian cattle breeds. Handles variations in orientation, illumination, and background for reliable prediction.</a:t>
            </a:r>
          </a:p>
          <a:p>
            <a:pPr marL="457200" lvl="0" indent="-457200" eaLnBrk="0" fontAlgn="base" hangingPunct="0">
              <a:spcBef>
                <a:spcPct val="0"/>
              </a:spcBef>
              <a:spcAft>
                <a:spcPct val="0"/>
              </a:spcAft>
              <a:buFont typeface="+mj-lt"/>
              <a:buAutoNum type="arabicPeriod"/>
            </a:pPr>
            <a:r>
              <a:rPr lang="en-US" altLang="en-US" sz="2000" b="1" dirty="0">
                <a:latin typeface="Times New Roman" panose="02020603050405020304" pitchFamily="18" charset="0"/>
                <a:cs typeface="Times New Roman" panose="02020603050405020304" pitchFamily="18" charset="0"/>
              </a:rPr>
              <a:t>Retrieval-Augmented Generation (RAG)</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Combines document retrieval with language generation to support an intelligent chatbot. Relevant breed-related information is retrieved from a knowledge base and used to generate accurate, context-aware responses.</a:t>
            </a:r>
          </a:p>
          <a:p>
            <a:pPr marL="457200" indent="-457200">
              <a:buFont typeface="+mj-lt"/>
              <a:buAutoNum type="arabicPeriod"/>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7534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4E15F-4073-BA1B-71E2-D34C74E2A91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110F9BA-3A21-41BE-DE2D-67B6F37E2F19}"/>
              </a:ext>
            </a:extLst>
          </p:cNvPr>
          <p:cNvSpPr>
            <a:spLocks noGrp="1"/>
          </p:cNvSpPr>
          <p:nvPr>
            <p:ph type="dt" sz="half" idx="10"/>
          </p:nvPr>
        </p:nvSpPr>
        <p:spPr/>
        <p:txBody>
          <a:bodyPr/>
          <a:lstStyle/>
          <a:p>
            <a:fld id="{DC5FBA68-9816-4686-9912-D98927DC24D3}" type="datetime5">
              <a:rPr lang="en-US" smtClean="0"/>
              <a:t>11-Feb-26</a:t>
            </a:fld>
            <a:endParaRPr lang="en-US"/>
          </a:p>
        </p:txBody>
      </p:sp>
      <p:sp>
        <p:nvSpPr>
          <p:cNvPr id="3" name="Footer Placeholder 2">
            <a:extLst>
              <a:ext uri="{FF2B5EF4-FFF2-40B4-BE49-F238E27FC236}">
                <a16:creationId xmlns:a16="http://schemas.microsoft.com/office/drawing/2014/main" id="{B6DB633C-2B5D-A917-91DA-D72011D52186}"/>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1925EF0F-E705-397A-8AE7-CBEA51CFA896}"/>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5" name="Date Placeholder 1">
            <a:extLst>
              <a:ext uri="{FF2B5EF4-FFF2-40B4-BE49-F238E27FC236}">
                <a16:creationId xmlns:a16="http://schemas.microsoft.com/office/drawing/2014/main" id="{6A826914-2A66-73F7-A343-3DA9953AA86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11-Feb-26</a:t>
            </a:fld>
            <a:endParaRPr lang="en-US"/>
          </a:p>
        </p:txBody>
      </p:sp>
      <p:sp>
        <p:nvSpPr>
          <p:cNvPr id="6" name="Footer Placeholder 2">
            <a:extLst>
              <a:ext uri="{FF2B5EF4-FFF2-40B4-BE49-F238E27FC236}">
                <a16:creationId xmlns:a16="http://schemas.microsoft.com/office/drawing/2014/main" id="{A3392868-875E-E75F-4511-E6EE771F0CAB}"/>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9AEB0862-F5A7-14CC-CD99-24F84ED06505}"/>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17</a:t>
            </a:fld>
            <a:endParaRPr lang="en-US"/>
          </a:p>
        </p:txBody>
      </p:sp>
      <p:sp>
        <p:nvSpPr>
          <p:cNvPr id="8" name="Date Placeholder 1">
            <a:extLst>
              <a:ext uri="{FF2B5EF4-FFF2-40B4-BE49-F238E27FC236}">
                <a16:creationId xmlns:a16="http://schemas.microsoft.com/office/drawing/2014/main" id="{9BDAE623-9C10-AF4A-599A-667343468D66}"/>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11-Feb-26</a:t>
            </a:fld>
            <a:endParaRPr lang="en-US"/>
          </a:p>
        </p:txBody>
      </p:sp>
      <p:sp>
        <p:nvSpPr>
          <p:cNvPr id="9" name="Footer Placeholder 2">
            <a:extLst>
              <a:ext uri="{FF2B5EF4-FFF2-40B4-BE49-F238E27FC236}">
                <a16:creationId xmlns:a16="http://schemas.microsoft.com/office/drawing/2014/main" id="{123C388F-4647-6B9B-2895-A24CBCCA5E48}"/>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857D4F78-5105-D1E9-CC4B-74C1FE37417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17</a:t>
            </a:fld>
            <a:endParaRPr lang="en-US"/>
          </a:p>
        </p:txBody>
      </p:sp>
      <p:sp>
        <p:nvSpPr>
          <p:cNvPr id="11" name="Date Placeholder 3">
            <a:extLst>
              <a:ext uri="{FF2B5EF4-FFF2-40B4-BE49-F238E27FC236}">
                <a16:creationId xmlns:a16="http://schemas.microsoft.com/office/drawing/2014/main" id="{894DDF28-FE26-4DEB-8A9F-D83C015C483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11-Feb-26</a:t>
            </a:fld>
            <a:endParaRPr lang="en-US"/>
          </a:p>
        </p:txBody>
      </p:sp>
      <p:sp>
        <p:nvSpPr>
          <p:cNvPr id="12" name="Slide Number Placeholder 5">
            <a:extLst>
              <a:ext uri="{FF2B5EF4-FFF2-40B4-BE49-F238E27FC236}">
                <a16:creationId xmlns:a16="http://schemas.microsoft.com/office/drawing/2014/main" id="{5D07F8CA-D35F-BE73-8757-300A88E2786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17</a:t>
            </a:fld>
            <a:endParaRPr lang="en-US"/>
          </a:p>
        </p:txBody>
      </p:sp>
      <p:sp>
        <p:nvSpPr>
          <p:cNvPr id="13" name="Title 8">
            <a:extLst>
              <a:ext uri="{FF2B5EF4-FFF2-40B4-BE49-F238E27FC236}">
                <a16:creationId xmlns:a16="http://schemas.microsoft.com/office/drawing/2014/main" id="{8C724C04-05AC-65A9-08E0-95539F6BE27C}"/>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ALGORITHMS USED</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246A4F9F-697D-C773-051D-7F07D6AB654D}"/>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685AF9FB-300F-4FA2-1EDB-20091A1916BA}"/>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605D7085-3745-CA67-FF91-45927C1A11DD}"/>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0615D05B-B088-F708-2231-C385B6E2C7F0}"/>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21" name="TextBox 20">
            <a:extLst>
              <a:ext uri="{FF2B5EF4-FFF2-40B4-BE49-F238E27FC236}">
                <a16:creationId xmlns:a16="http://schemas.microsoft.com/office/drawing/2014/main" id="{219BCD40-07FB-58CD-CDF2-86161870EE54}"/>
              </a:ext>
            </a:extLst>
          </p:cNvPr>
          <p:cNvSpPr txBox="1"/>
          <p:nvPr/>
        </p:nvSpPr>
        <p:spPr>
          <a:xfrm>
            <a:off x="1524000" y="2107380"/>
            <a:ext cx="7467600" cy="2554545"/>
          </a:xfrm>
          <a:prstGeom prst="rect">
            <a:avLst/>
          </a:prstGeom>
          <a:noFill/>
        </p:spPr>
        <p:txBody>
          <a:bodyPr wrap="square" rtlCol="0">
            <a:spAutoFit/>
          </a:bodyPr>
          <a:lstStyle/>
          <a:p>
            <a:pPr lvl="0"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4.     FAISS-Based Vector Similarity Search</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Enables efficient indexing and retrieval of high-dimensional embeddings. Supports fast and consistent retrieval of relevant documents for chatbot query resolution.</a:t>
            </a:r>
          </a:p>
          <a:p>
            <a:pPr lvl="0"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5.     Large Language Model (LLM) with NLP Techniques</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Processes natural language queries and generates human-readable explanations about Indian bovine breeds, improving user interaction, interpretability, and learning experience.</a:t>
            </a:r>
          </a:p>
        </p:txBody>
      </p:sp>
    </p:spTree>
    <p:extLst>
      <p:ext uri="{BB962C8B-B14F-4D97-AF65-F5344CB8AC3E}">
        <p14:creationId xmlns:p14="http://schemas.microsoft.com/office/powerpoint/2010/main" val="422859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91FC3DAF-C0C4-48AF-3D99-6D3789216AB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System Requirements</a:t>
            </a:r>
            <a:endParaRPr lang="en-IN" dirty="0">
              <a:latin typeface="Times New Roman" panose="02020603050405020304" pitchFamily="18" charset="0"/>
              <a:cs typeface="Times New Roman" panose="02020603050405020304" pitchFamily="18" charset="0"/>
            </a:endParaRPr>
          </a:p>
        </p:txBody>
      </p:sp>
      <p:sp>
        <p:nvSpPr>
          <p:cNvPr id="15" name="Text Placeholder 14">
            <a:extLst>
              <a:ext uri="{FF2B5EF4-FFF2-40B4-BE49-F238E27FC236}">
                <a16:creationId xmlns:a16="http://schemas.microsoft.com/office/drawing/2014/main" id="{8F148AAF-C8C6-9D64-DCB8-8D8107F58D90}"/>
              </a:ext>
            </a:extLst>
          </p:cNvPr>
          <p:cNvSpPr>
            <a:spLocks noGrp="1"/>
          </p:cNvSpPr>
          <p:nvPr>
            <p:ph type="body" idx="1"/>
          </p:nvPr>
        </p:nvSpPr>
        <p:spPr/>
        <p:txBody>
          <a:bodyPr/>
          <a:lstStyle/>
          <a:p>
            <a:pPr algn="ctr"/>
            <a:r>
              <a:rPr lang="en-US" dirty="0">
                <a:latin typeface="Times New Roman" panose="02020603050405020304" pitchFamily="18" charset="0"/>
                <a:cs typeface="Times New Roman" panose="02020603050405020304" pitchFamily="18" charset="0"/>
              </a:rPr>
              <a:t>Hardware</a:t>
            </a:r>
            <a:endParaRPr lang="en-IN" dirty="0">
              <a:latin typeface="Times New Roman" panose="02020603050405020304" pitchFamily="18" charset="0"/>
              <a:cs typeface="Times New Roman" panose="02020603050405020304" pitchFamily="18" charset="0"/>
            </a:endParaRPr>
          </a:p>
        </p:txBody>
      </p:sp>
      <p:sp>
        <p:nvSpPr>
          <p:cNvPr id="16" name="Content Placeholder 15">
            <a:extLst>
              <a:ext uri="{FF2B5EF4-FFF2-40B4-BE49-F238E27FC236}">
                <a16:creationId xmlns:a16="http://schemas.microsoft.com/office/drawing/2014/main" id="{7D4DF8DD-44C1-E73E-D5B0-05ADE345F63E}"/>
              </a:ext>
            </a:extLst>
          </p:cNvPr>
          <p:cNvSpPr>
            <a:spLocks noGrp="1"/>
          </p:cNvSpPr>
          <p:nvPr>
            <p:ph sz="half" idx="2"/>
          </p:nvPr>
        </p:nvSpPr>
        <p:spPr>
          <a:xfrm>
            <a:off x="1143000" y="2174875"/>
            <a:ext cx="3581400" cy="3844925"/>
          </a:xfrm>
        </p:spPr>
        <p:txBody>
          <a:bodyPr>
            <a:normAutofit lnSpcReduction="10000"/>
          </a:bodyPr>
          <a:lstStyle/>
          <a:p>
            <a:r>
              <a:rPr lang="en-US" dirty="0">
                <a:latin typeface="Times New Roman" panose="02020603050405020304" pitchFamily="18" charset="0"/>
                <a:cs typeface="Times New Roman" panose="02020603050405020304" pitchFamily="18" charset="0"/>
              </a:rPr>
              <a:t>Processor (CPU) capable of running deep learning inference</a:t>
            </a:r>
          </a:p>
          <a:p>
            <a:r>
              <a:rPr lang="en-US" dirty="0">
                <a:latin typeface="Times New Roman" panose="02020603050405020304" pitchFamily="18" charset="0"/>
                <a:cs typeface="Times New Roman" panose="02020603050405020304" pitchFamily="18" charset="0"/>
              </a:rPr>
              <a:t>Minimum 8 GB RAM to load model and process image data</a:t>
            </a:r>
          </a:p>
          <a:p>
            <a:r>
              <a:rPr lang="en-US" dirty="0">
                <a:latin typeface="Times New Roman" panose="02020603050405020304" pitchFamily="18" charset="0"/>
                <a:cs typeface="Times New Roman" panose="02020603050405020304" pitchFamily="18" charset="0"/>
              </a:rPr>
              <a:t>Storage to maintain dataset and trained model files</a:t>
            </a:r>
            <a:endParaRPr lang="en-IN" dirty="0">
              <a:latin typeface="Times New Roman" panose="02020603050405020304" pitchFamily="18" charset="0"/>
              <a:cs typeface="Times New Roman" panose="02020603050405020304" pitchFamily="18" charset="0"/>
            </a:endParaRPr>
          </a:p>
        </p:txBody>
      </p:sp>
      <p:sp>
        <p:nvSpPr>
          <p:cNvPr id="17" name="Text Placeholder 16">
            <a:extLst>
              <a:ext uri="{FF2B5EF4-FFF2-40B4-BE49-F238E27FC236}">
                <a16:creationId xmlns:a16="http://schemas.microsoft.com/office/drawing/2014/main" id="{D68E8996-907F-D075-92B5-EA70E6F489DE}"/>
              </a:ext>
            </a:extLst>
          </p:cNvPr>
          <p:cNvSpPr>
            <a:spLocks noGrp="1"/>
          </p:cNvSpPr>
          <p:nvPr>
            <p:ph type="body" sz="quarter" idx="3"/>
          </p:nvPr>
        </p:nvSpPr>
        <p:spPr/>
        <p:txBody>
          <a:bodyPr/>
          <a:lstStyle/>
          <a:p>
            <a:pPr algn="ctr"/>
            <a:r>
              <a:rPr lang="en-US" dirty="0">
                <a:latin typeface="Times New Roman" panose="02020603050405020304" pitchFamily="18" charset="0"/>
                <a:cs typeface="Times New Roman" panose="02020603050405020304" pitchFamily="18" charset="0"/>
              </a:rPr>
              <a:t>Software</a:t>
            </a:r>
            <a:endParaRPr lang="en-IN" dirty="0">
              <a:latin typeface="Times New Roman" panose="02020603050405020304" pitchFamily="18" charset="0"/>
              <a:cs typeface="Times New Roman" panose="02020603050405020304" pitchFamily="18" charset="0"/>
            </a:endParaRPr>
          </a:p>
        </p:txBody>
      </p:sp>
      <p:sp>
        <p:nvSpPr>
          <p:cNvPr id="18" name="Content Placeholder 17">
            <a:extLst>
              <a:ext uri="{FF2B5EF4-FFF2-40B4-BE49-F238E27FC236}">
                <a16:creationId xmlns:a16="http://schemas.microsoft.com/office/drawing/2014/main" id="{FBB8250C-E87A-925A-7167-71A736B4B720}"/>
              </a:ext>
            </a:extLst>
          </p:cNvPr>
          <p:cNvSpPr>
            <a:spLocks noGrp="1"/>
          </p:cNvSpPr>
          <p:nvPr>
            <p:ph sz="quarter" idx="4"/>
          </p:nvPr>
        </p:nvSpPr>
        <p:spPr>
          <a:xfrm>
            <a:off x="4954588" y="2174875"/>
            <a:ext cx="3732212" cy="3844925"/>
          </a:xfrm>
        </p:spPr>
        <p:txBody>
          <a:bodyPr>
            <a:normAutofit lnSpcReduction="10000"/>
          </a:bodyPr>
          <a:lstStyle/>
          <a:p>
            <a:r>
              <a:rPr lang="en-IN" dirty="0">
                <a:latin typeface="Times New Roman" panose="02020603050405020304" pitchFamily="18" charset="0"/>
                <a:cs typeface="Times New Roman" panose="02020603050405020304" pitchFamily="18" charset="0"/>
              </a:rPr>
              <a:t>Python programming language </a:t>
            </a:r>
          </a:p>
          <a:p>
            <a:r>
              <a:rPr lang="en-IN" dirty="0">
                <a:latin typeface="Times New Roman" panose="02020603050405020304" pitchFamily="18" charset="0"/>
                <a:cs typeface="Times New Roman" panose="02020603050405020304" pitchFamily="18" charset="0"/>
              </a:rPr>
              <a:t>Deep learning framework</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PyTorch</a:t>
            </a:r>
            <a:r>
              <a:rPr lang="en-IN" dirty="0">
                <a:latin typeface="Times New Roman" panose="02020603050405020304" pitchFamily="18" charset="0"/>
                <a:cs typeface="Times New Roman" panose="02020603050405020304" pitchFamily="18" charset="0"/>
              </a:rPr>
              <a:t>)</a:t>
            </a:r>
          </a:p>
          <a:p>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for backend processing</a:t>
            </a:r>
          </a:p>
          <a:p>
            <a:r>
              <a:rPr lang="en-IN" dirty="0">
                <a:latin typeface="Times New Roman" panose="02020603050405020304" pitchFamily="18" charset="0"/>
                <a:cs typeface="Times New Roman" panose="02020603050405020304" pitchFamily="18" charset="0"/>
              </a:rPr>
              <a:t>OpenCV / PIL for image preprocessing</a:t>
            </a:r>
          </a:p>
          <a:p>
            <a:r>
              <a:rPr lang="en-IN" dirty="0">
                <a:latin typeface="Times New Roman" panose="02020603050405020304" pitchFamily="18" charset="0"/>
                <a:cs typeface="Times New Roman" panose="02020603050405020304" pitchFamily="18" charset="0"/>
              </a:rPr>
              <a:t>HTML, CSS, JavaScript for user interface</a:t>
            </a:r>
          </a:p>
        </p:txBody>
      </p:sp>
      <p:sp>
        <p:nvSpPr>
          <p:cNvPr id="3" name="Date Placeholder 2">
            <a:extLst>
              <a:ext uri="{FF2B5EF4-FFF2-40B4-BE49-F238E27FC236}">
                <a16:creationId xmlns:a16="http://schemas.microsoft.com/office/drawing/2014/main" id="{46545B28-EAAE-7986-67B8-AB7DEFA97FA1}"/>
              </a:ext>
            </a:extLst>
          </p:cNvPr>
          <p:cNvSpPr>
            <a:spLocks noGrp="1"/>
          </p:cNvSpPr>
          <p:nvPr>
            <p:ph type="dt" sz="half" idx="10"/>
          </p:nvPr>
        </p:nvSpPr>
        <p:spPr/>
        <p:txBody>
          <a:bodyPr/>
          <a:lstStyle/>
          <a:p>
            <a:fld id="{0BB3B52F-2362-48C5-A10E-D31030FED84D}" type="datetime5">
              <a:rPr lang="en-US" smtClean="0">
                <a:latin typeface="Times New Roman" panose="02020603050405020304" pitchFamily="18" charset="0"/>
                <a:cs typeface="Times New Roman" panose="02020603050405020304" pitchFamily="18" charset="0"/>
              </a:rPr>
              <a:t>11-Feb-26</a:t>
            </a:fld>
            <a:endParaRPr lang="en-US">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6D7254E-BC51-3B53-36EE-5D952E59F30D}"/>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Department of AI&amp;DS</a:t>
            </a:r>
          </a:p>
        </p:txBody>
      </p:sp>
      <p:sp>
        <p:nvSpPr>
          <p:cNvPr id="5" name="Slide Number Placeholder 4">
            <a:extLst>
              <a:ext uri="{FF2B5EF4-FFF2-40B4-BE49-F238E27FC236}">
                <a16:creationId xmlns:a16="http://schemas.microsoft.com/office/drawing/2014/main" id="{6CA5ADD1-41BD-3C91-DB9F-25FD6EF72C16}"/>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18</a:t>
            </a:fld>
            <a:endParaRPr lang="en-US">
              <a:latin typeface="Times New Roman" panose="02020603050405020304" pitchFamily="18" charset="0"/>
              <a:cs typeface="Times New Roman" panose="02020603050405020304" pitchFamily="18" charset="0"/>
            </a:endParaRPr>
          </a:p>
        </p:txBody>
      </p:sp>
      <p:sp>
        <p:nvSpPr>
          <p:cNvPr id="6" name="Date Placeholder 3">
            <a:extLst>
              <a:ext uri="{FF2B5EF4-FFF2-40B4-BE49-F238E27FC236}">
                <a16:creationId xmlns:a16="http://schemas.microsoft.com/office/drawing/2014/main" id="{A655EB72-C14F-F067-7129-3472C78412F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E138B8-740D-4C3D-A99B-11C6F9206D6A}" type="datetime5">
              <a:rPr lang="en-US" smtClean="0">
                <a:latin typeface="Times New Roman" panose="02020603050405020304" pitchFamily="18" charset="0"/>
                <a:cs typeface="Times New Roman" panose="02020603050405020304" pitchFamily="18" charset="0"/>
              </a:rPr>
              <a:pPr/>
              <a:t>11-Feb-26</a:t>
            </a:fld>
            <a:endParaRPr lang="en-US">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0AB0BD49-4F13-633D-E79A-9F709D9315DE}"/>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Times New Roman" panose="02020603050405020304" pitchFamily="18" charset="0"/>
                <a:cs typeface="Times New Roman" panose="02020603050405020304" pitchFamily="18" charset="0"/>
              </a:rPr>
              <a:t>Department of AI&amp;DS</a:t>
            </a:r>
            <a:endParaRPr lang="en-US" dirty="0">
              <a:latin typeface="Times New Roman" panose="02020603050405020304" pitchFamily="18" charset="0"/>
              <a:cs typeface="Times New Roman" panose="02020603050405020304" pitchFamily="18" charset="0"/>
            </a:endParaRPr>
          </a:p>
        </p:txBody>
      </p:sp>
      <p:sp>
        <p:nvSpPr>
          <p:cNvPr id="8" name="Slide Number Placeholder 5">
            <a:extLst>
              <a:ext uri="{FF2B5EF4-FFF2-40B4-BE49-F238E27FC236}">
                <a16:creationId xmlns:a16="http://schemas.microsoft.com/office/drawing/2014/main" id="{98E8B3BB-2D4D-0351-453E-EC21C8C8C2E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latin typeface="Times New Roman" panose="02020603050405020304" pitchFamily="18" charset="0"/>
                <a:cs typeface="Times New Roman" panose="02020603050405020304" pitchFamily="18" charset="0"/>
              </a:rPr>
              <a:pPr/>
              <a:t>18</a:t>
            </a:fld>
            <a:endParaRPr lang="en-US">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D8D36ED7-551F-8110-3EE5-58BCA612587D}"/>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anose="02020603050405020304" pitchFamily="18" charset="0"/>
                <a:cs typeface="Times New Roman" pitchFamily="18" charset="0"/>
              </a:rPr>
              <a:t> </a:t>
            </a:r>
            <a:r>
              <a:rPr lang="en-US" sz="2800" dirty="0">
                <a:solidFill>
                  <a:schemeClr val="bg1"/>
                </a:solidFill>
                <a:latin typeface="Times New Roman" panose="02020603050405020304" pitchFamily="18" charset="0"/>
                <a:cs typeface="Times New Roman" pitchFamily="18" charset="0"/>
              </a:rPr>
              <a:t>Dr. NGP INSTITUTE OF TECHNOLOGY</a:t>
            </a:r>
            <a:endParaRPr lang="en-US" b="1" dirty="0">
              <a:solidFill>
                <a:schemeClr val="bg1"/>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645759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23ABDA-591B-071E-790A-501583AEFDAA}"/>
              </a:ext>
            </a:extLst>
          </p:cNvPr>
          <p:cNvSpPr>
            <a:spLocks noGrp="1"/>
          </p:cNvSpPr>
          <p:nvPr>
            <p:ph type="dt" sz="half" idx="10"/>
          </p:nvPr>
        </p:nvSpPr>
        <p:spPr/>
        <p:txBody>
          <a:bodyPr/>
          <a:lstStyle/>
          <a:p>
            <a:fld id="{DC5FBA68-9816-4686-9912-D98927DC24D3}" type="datetime5">
              <a:rPr lang="en-US" smtClean="0"/>
              <a:t>11-Feb-26</a:t>
            </a:fld>
            <a:endParaRPr lang="en-US"/>
          </a:p>
        </p:txBody>
      </p:sp>
      <p:sp>
        <p:nvSpPr>
          <p:cNvPr id="3" name="Footer Placeholder 2">
            <a:extLst>
              <a:ext uri="{FF2B5EF4-FFF2-40B4-BE49-F238E27FC236}">
                <a16:creationId xmlns:a16="http://schemas.microsoft.com/office/drawing/2014/main" id="{A4A856B3-482D-E97A-74D4-7D4437CEA1C3}"/>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0C1CC7BA-A316-26C2-CB82-27CD7D568C1C}"/>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5" name="Date Placeholder 1">
            <a:extLst>
              <a:ext uri="{FF2B5EF4-FFF2-40B4-BE49-F238E27FC236}">
                <a16:creationId xmlns:a16="http://schemas.microsoft.com/office/drawing/2014/main" id="{956B530D-2E7F-8A98-F82A-3D8A5BCE6F82}"/>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11-Feb-26</a:t>
            </a:fld>
            <a:endParaRPr lang="en-US"/>
          </a:p>
        </p:txBody>
      </p:sp>
      <p:sp>
        <p:nvSpPr>
          <p:cNvPr id="6" name="Footer Placeholder 2">
            <a:extLst>
              <a:ext uri="{FF2B5EF4-FFF2-40B4-BE49-F238E27FC236}">
                <a16:creationId xmlns:a16="http://schemas.microsoft.com/office/drawing/2014/main" id="{A7D90896-5BF1-A106-D529-A4547528AA8C}"/>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7" name="Slide Number Placeholder 3">
            <a:extLst>
              <a:ext uri="{FF2B5EF4-FFF2-40B4-BE49-F238E27FC236}">
                <a16:creationId xmlns:a16="http://schemas.microsoft.com/office/drawing/2014/main" id="{0D311F45-A5A7-B060-8BE2-E758B5CFD6B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19</a:t>
            </a:fld>
            <a:endParaRPr lang="en-US"/>
          </a:p>
        </p:txBody>
      </p:sp>
      <p:sp>
        <p:nvSpPr>
          <p:cNvPr id="8" name="Date Placeholder 1">
            <a:extLst>
              <a:ext uri="{FF2B5EF4-FFF2-40B4-BE49-F238E27FC236}">
                <a16:creationId xmlns:a16="http://schemas.microsoft.com/office/drawing/2014/main" id="{F0F5AE2D-805C-531B-D5A2-2AFE3A7B080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11-Feb-26</a:t>
            </a:fld>
            <a:endParaRPr lang="en-US"/>
          </a:p>
        </p:txBody>
      </p:sp>
      <p:sp>
        <p:nvSpPr>
          <p:cNvPr id="9" name="Footer Placeholder 2">
            <a:extLst>
              <a:ext uri="{FF2B5EF4-FFF2-40B4-BE49-F238E27FC236}">
                <a16:creationId xmlns:a16="http://schemas.microsoft.com/office/drawing/2014/main" id="{2EB0CD73-B58A-78D0-3DE5-EA501F09488D}"/>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10" name="Slide Number Placeholder 3">
            <a:extLst>
              <a:ext uri="{FF2B5EF4-FFF2-40B4-BE49-F238E27FC236}">
                <a16:creationId xmlns:a16="http://schemas.microsoft.com/office/drawing/2014/main" id="{8396AA1F-239D-ECD5-5FB4-DD8D0238C8D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19</a:t>
            </a:fld>
            <a:endParaRPr lang="en-US"/>
          </a:p>
        </p:txBody>
      </p:sp>
      <p:sp>
        <p:nvSpPr>
          <p:cNvPr id="11" name="Date Placeholder 3">
            <a:extLst>
              <a:ext uri="{FF2B5EF4-FFF2-40B4-BE49-F238E27FC236}">
                <a16:creationId xmlns:a16="http://schemas.microsoft.com/office/drawing/2014/main" id="{54A02353-A66B-C6BA-8108-214D23DFE5BE}"/>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11-Feb-26</a:t>
            </a:fld>
            <a:endParaRPr lang="en-US"/>
          </a:p>
        </p:txBody>
      </p:sp>
      <p:sp>
        <p:nvSpPr>
          <p:cNvPr id="12" name="Slide Number Placeholder 5">
            <a:extLst>
              <a:ext uri="{FF2B5EF4-FFF2-40B4-BE49-F238E27FC236}">
                <a16:creationId xmlns:a16="http://schemas.microsoft.com/office/drawing/2014/main" id="{3D35CB7C-535B-C314-27C2-EBB8E74F806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19</a:t>
            </a:fld>
            <a:endParaRPr lang="en-US"/>
          </a:p>
        </p:txBody>
      </p:sp>
      <p:sp>
        <p:nvSpPr>
          <p:cNvPr id="13" name="Title 8">
            <a:extLst>
              <a:ext uri="{FF2B5EF4-FFF2-40B4-BE49-F238E27FC236}">
                <a16:creationId xmlns:a16="http://schemas.microsoft.com/office/drawing/2014/main" id="{90FB5D30-1C11-BF66-8311-5CFBC52B3D12}"/>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lang="en-IN" sz="2800" dirty="0">
                <a:latin typeface="Times New Roman" pitchFamily="18" charset="0"/>
                <a:ea typeface="+mj-ea"/>
                <a:cs typeface="Times New Roman" pitchFamily="18" charset="0"/>
              </a:rPr>
              <a:t>Output Screenshot</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C5FE36F1-1909-405F-2FCE-70004B7AC3C5}"/>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5" name="Title 8">
            <a:extLst>
              <a:ext uri="{FF2B5EF4-FFF2-40B4-BE49-F238E27FC236}">
                <a16:creationId xmlns:a16="http://schemas.microsoft.com/office/drawing/2014/main" id="{9BF139A7-DEC9-2118-E317-7739D6A0EF5B}"/>
              </a:ext>
            </a:extLst>
          </p:cNvPr>
          <p:cNvSpPr txBox="1">
            <a:spLocks/>
          </p:cNvSpPr>
          <p:nvPr/>
        </p:nvSpPr>
        <p:spPr>
          <a:xfrm>
            <a:off x="1295400" y="11811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EE290120-AC38-AF3B-8CF9-B84D88D603E1}"/>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7" name="Footer Placeholder 4">
            <a:extLst>
              <a:ext uri="{FF2B5EF4-FFF2-40B4-BE49-F238E27FC236}">
                <a16:creationId xmlns:a16="http://schemas.microsoft.com/office/drawing/2014/main" id="{8E78AA42-3503-5CF4-9ACF-88B7FBBFA1E4}"/>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pic>
        <p:nvPicPr>
          <p:cNvPr id="20" name="Picture 19">
            <a:extLst>
              <a:ext uri="{FF2B5EF4-FFF2-40B4-BE49-F238E27FC236}">
                <a16:creationId xmlns:a16="http://schemas.microsoft.com/office/drawing/2014/main" id="{37B36722-EB50-EB13-143F-428CE8D97332}"/>
              </a:ext>
            </a:extLst>
          </p:cNvPr>
          <p:cNvPicPr>
            <a:picLocks noChangeAspect="1"/>
          </p:cNvPicPr>
          <p:nvPr/>
        </p:nvPicPr>
        <p:blipFill>
          <a:blip r:embed="rId2"/>
          <a:stretch>
            <a:fillRect/>
          </a:stretch>
        </p:blipFill>
        <p:spPr>
          <a:xfrm>
            <a:off x="2743200" y="1391265"/>
            <a:ext cx="4400773" cy="4707197"/>
          </a:xfrm>
          <a:prstGeom prst="rect">
            <a:avLst/>
          </a:prstGeom>
        </p:spPr>
      </p:pic>
    </p:spTree>
    <p:extLst>
      <p:ext uri="{BB962C8B-B14F-4D97-AF65-F5344CB8AC3E}">
        <p14:creationId xmlns:p14="http://schemas.microsoft.com/office/powerpoint/2010/main" val="1539667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6DC1BAF-06D6-4458-A61D-4F967272DA4D}" type="datetime5">
              <a:rPr lang="en-US" smtClean="0"/>
              <a:t>11-Feb-26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2" name="Rectangle 1">
            <a:extLst>
              <a:ext uri="{FF2B5EF4-FFF2-40B4-BE49-F238E27FC236}">
                <a16:creationId xmlns:a16="http://schemas.microsoft.com/office/drawing/2014/main" id="{F0FC77DE-FC44-B2A9-FC38-06A3F94E4C4E}"/>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42131025-94C2-06F7-91D1-E6A596762763}"/>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5" name="Date Placeholder 3">
            <a:extLst>
              <a:ext uri="{FF2B5EF4-FFF2-40B4-BE49-F238E27FC236}">
                <a16:creationId xmlns:a16="http://schemas.microsoft.com/office/drawing/2014/main" id="{8D63FD07-1360-D40A-0882-438F71E95F67}"/>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2E884-1C30-4E0D-A990-0434221FA751}" type="datetime5">
              <a:rPr lang="en-US" smtClean="0"/>
              <a:pPr/>
              <a:t>11-Feb-26</a:t>
            </a:fld>
            <a:endParaRPr lang="en-US"/>
          </a:p>
        </p:txBody>
      </p:sp>
      <p:sp>
        <p:nvSpPr>
          <p:cNvPr id="7" name="Slide Number Placeholder 5">
            <a:extLst>
              <a:ext uri="{FF2B5EF4-FFF2-40B4-BE49-F238E27FC236}">
                <a16:creationId xmlns:a16="http://schemas.microsoft.com/office/drawing/2014/main" id="{BBC662D1-C5FC-D6F6-8AC3-32F7E7EC171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20</a:t>
            </a:fld>
            <a:endParaRPr lang="en-US"/>
          </a:p>
        </p:txBody>
      </p:sp>
      <p:sp>
        <p:nvSpPr>
          <p:cNvPr id="8" name="Title 8">
            <a:extLst>
              <a:ext uri="{FF2B5EF4-FFF2-40B4-BE49-F238E27FC236}">
                <a16:creationId xmlns:a16="http://schemas.microsoft.com/office/drawing/2014/main" id="{4DB4C3C0-6B35-5243-60ED-AC74DA9B9EAB}"/>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Paper Status</a:t>
            </a:r>
            <a:br>
              <a:rPr kumimoji="0" lang="en-IN"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endPar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a:extLst>
              <a:ext uri="{FF2B5EF4-FFF2-40B4-BE49-F238E27FC236}">
                <a16:creationId xmlns:a16="http://schemas.microsoft.com/office/drawing/2014/main" id="{9B05086E-C594-97D9-220F-87079CF13BDA}"/>
              </a:ext>
            </a:extLst>
          </p:cNvPr>
          <p:cNvSpPr txBox="1">
            <a:spLocks/>
          </p:cNvSpPr>
          <p:nvPr/>
        </p:nvSpPr>
        <p:spPr>
          <a:xfrm flipV="1">
            <a:off x="3686604" y="9969161"/>
            <a:ext cx="4390595" cy="45719"/>
          </a:xfrm>
          <a:prstGeom prst="rect">
            <a:avLst/>
          </a:prstGeom>
        </p:spPr>
        <p:txBody>
          <a:bodyPr>
            <a:normAutofit fontScale="25000" lnSpcReduction="20000"/>
          </a:bodyPr>
          <a:lstStyle/>
          <a:p>
            <a:endParaRPr lang="en-IN"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4DCD0C03-5D45-D1A6-5C7C-8969B8ACDF18}"/>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1" name="Footer Placeholder 4">
            <a:extLst>
              <a:ext uri="{FF2B5EF4-FFF2-40B4-BE49-F238E27FC236}">
                <a16:creationId xmlns:a16="http://schemas.microsoft.com/office/drawing/2014/main" id="{CD89762E-A3E6-5676-1EB7-ECEAA48CEFE4}"/>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31" name="TextBox 30">
            <a:extLst>
              <a:ext uri="{FF2B5EF4-FFF2-40B4-BE49-F238E27FC236}">
                <a16:creationId xmlns:a16="http://schemas.microsoft.com/office/drawing/2014/main" id="{D1B90B06-796A-1B23-B707-626FD0BC5A07}"/>
              </a:ext>
            </a:extLst>
          </p:cNvPr>
          <p:cNvSpPr txBox="1"/>
          <p:nvPr/>
        </p:nvSpPr>
        <p:spPr>
          <a:xfrm>
            <a:off x="1752600" y="1792396"/>
            <a:ext cx="6781800" cy="2862322"/>
          </a:xfrm>
          <a:prstGeom prst="rect">
            <a:avLst/>
          </a:prstGeom>
          <a:noFill/>
        </p:spPr>
        <p:txBody>
          <a:bodyPr wrap="square">
            <a:spAutoFit/>
          </a:bodyPr>
          <a:lstStyle/>
          <a:p>
            <a:pPr marL="342900" indent="-342900" eaLnBrk="0" fontAlgn="base" hangingPunct="0">
              <a:spcBef>
                <a:spcPct val="0"/>
              </a:spcBef>
              <a:spcAft>
                <a:spcPct val="0"/>
              </a:spcAft>
              <a:buFont typeface="Arial" panose="020B0604020202020204" pitchFamily="34" charset="0"/>
              <a:buChar char="•"/>
            </a:pPr>
            <a:r>
              <a:rPr lang="en-US" sz="2000" dirty="0">
                <a:latin typeface="Times New Roman" panose="02020603050405020304" pitchFamily="18" charset="0"/>
              </a:rPr>
              <a:t>14th International Conference on Contemporary Engineering and Technology – ICCET 2026</a:t>
            </a:r>
          </a:p>
          <a:p>
            <a:pPr marL="342900" indent="-342900" eaLnBrk="0" fontAlgn="base" hangingPunct="0">
              <a:spcBef>
                <a:spcPct val="0"/>
              </a:spcBef>
              <a:spcAft>
                <a:spcPct val="0"/>
              </a:spcAft>
              <a:buFont typeface="Arial" panose="020B0604020202020204" pitchFamily="34" charset="0"/>
              <a:buChar char="•"/>
            </a:pPr>
            <a:endParaRPr lang="en-US" sz="2000" dirty="0">
              <a:latin typeface="Times New Roman" panose="02020603050405020304" pitchFamily="18" charset="0"/>
            </a:endParaRPr>
          </a:p>
          <a:p>
            <a:pPr eaLnBrk="0" fontAlgn="base" hangingPunct="0">
              <a:spcBef>
                <a:spcPct val="0"/>
              </a:spcBef>
              <a:spcAft>
                <a:spcPct val="0"/>
              </a:spcAft>
            </a:pPr>
            <a:r>
              <a:rPr lang="en-US" sz="2000" b="1" dirty="0">
                <a:latin typeface="Times New Roman" panose="02020603050405020304" pitchFamily="18" charset="0"/>
                <a:cs typeface="Times New Roman" panose="02020603050405020304" pitchFamily="18" charset="0"/>
              </a:rPr>
              <a:t>Paper Status: (ACCEPTED) </a:t>
            </a:r>
          </a:p>
          <a:p>
            <a:pPr eaLnBrk="0" fontAlgn="base" hangingPunct="0">
              <a:spcBef>
                <a:spcPct val="0"/>
              </a:spcBef>
              <a:spcAft>
                <a:spcPct val="0"/>
              </a:spcAft>
            </a:pPr>
            <a:endParaRPr lang="en-US" sz="2000" b="1"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sz="2000" b="1" dirty="0">
                <a:latin typeface="Times New Roman" panose="02020603050405020304" pitchFamily="18" charset="0"/>
                <a:cs typeface="Times New Roman" panose="02020603050405020304" pitchFamily="18" charset="0"/>
              </a:rPr>
              <a:t>Paper ID: ICCET260592</a:t>
            </a:r>
          </a:p>
          <a:p>
            <a:pPr lvl="0" algn="just" eaLnBrk="0" fontAlgn="base" hangingPunct="0">
              <a:spcBef>
                <a:spcPct val="0"/>
              </a:spcBef>
              <a:spcAft>
                <a:spcPct val="0"/>
              </a:spcAft>
            </a:pPr>
            <a:endParaRPr lang="en-US" sz="20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sz="2000" b="1" dirty="0">
                <a:latin typeface="Times New Roman" panose="02020603050405020304" pitchFamily="18" charset="0"/>
                <a:cs typeface="Times New Roman" panose="02020603050405020304" pitchFamily="18" charset="0"/>
              </a:rPr>
              <a:t>Paper Title: </a:t>
            </a:r>
            <a:r>
              <a:rPr lang="en-US" sz="2000" dirty="0">
                <a:latin typeface="Times New Roman" panose="02020603050405020304" pitchFamily="18" charset="0"/>
                <a:cs typeface="Times New Roman" panose="02020603050405020304" pitchFamily="18" charset="0"/>
              </a:rPr>
              <a:t>AI-Driven Cattle Breed Identification and Livestock Monitoring for the Indian Agricultural Ecosystem</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4B6EFB-A23C-73B8-12FF-815E2B611D63}"/>
              </a:ext>
            </a:extLst>
          </p:cNvPr>
          <p:cNvSpPr>
            <a:spLocks noGrp="1"/>
          </p:cNvSpPr>
          <p:nvPr>
            <p:ph type="dt" sz="half" idx="10"/>
          </p:nvPr>
        </p:nvSpPr>
        <p:spPr/>
        <p:txBody>
          <a:bodyPr/>
          <a:lstStyle/>
          <a:p>
            <a:fld id="{DC5FBA68-9816-4686-9912-D98927DC24D3}" type="datetime5">
              <a:rPr lang="en-US" smtClean="0"/>
              <a:t>11-Feb-26</a:t>
            </a:fld>
            <a:endParaRPr lang="en-US"/>
          </a:p>
        </p:txBody>
      </p:sp>
      <p:sp>
        <p:nvSpPr>
          <p:cNvPr id="3" name="Footer Placeholder 2">
            <a:extLst>
              <a:ext uri="{FF2B5EF4-FFF2-40B4-BE49-F238E27FC236}">
                <a16:creationId xmlns:a16="http://schemas.microsoft.com/office/drawing/2014/main" id="{3B03BCDD-0B57-EBB5-EB25-C14310F6FB91}"/>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6EE6FB06-A7BC-DB00-7B3A-EF32F91B85B0}"/>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7" name="Date Placeholder 1">
            <a:extLst>
              <a:ext uri="{FF2B5EF4-FFF2-40B4-BE49-F238E27FC236}">
                <a16:creationId xmlns:a16="http://schemas.microsoft.com/office/drawing/2014/main" id="{A71B0D11-8E0B-461F-3C83-F8CA6E4A449E}"/>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11-Feb-26</a:t>
            </a:fld>
            <a:endParaRPr lang="en-US"/>
          </a:p>
        </p:txBody>
      </p:sp>
      <p:sp>
        <p:nvSpPr>
          <p:cNvPr id="8" name="Footer Placeholder 2">
            <a:extLst>
              <a:ext uri="{FF2B5EF4-FFF2-40B4-BE49-F238E27FC236}">
                <a16:creationId xmlns:a16="http://schemas.microsoft.com/office/drawing/2014/main" id="{A3C95102-47E4-A840-4F12-9605959F599A}"/>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9" name="Slide Number Placeholder 3">
            <a:extLst>
              <a:ext uri="{FF2B5EF4-FFF2-40B4-BE49-F238E27FC236}">
                <a16:creationId xmlns:a16="http://schemas.microsoft.com/office/drawing/2014/main" id="{5EFA1C23-4844-74D5-9FC1-29A5DD088F8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21</a:t>
            </a:fld>
            <a:endParaRPr lang="en-US"/>
          </a:p>
        </p:txBody>
      </p:sp>
      <p:sp>
        <p:nvSpPr>
          <p:cNvPr id="10" name="Date Placeholder 3">
            <a:extLst>
              <a:ext uri="{FF2B5EF4-FFF2-40B4-BE49-F238E27FC236}">
                <a16:creationId xmlns:a16="http://schemas.microsoft.com/office/drawing/2014/main" id="{DEE91DF6-D3FF-B947-0310-9044FDDEF12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11-Feb-26</a:t>
            </a:fld>
            <a:endParaRPr lang="en-US"/>
          </a:p>
        </p:txBody>
      </p:sp>
      <p:sp>
        <p:nvSpPr>
          <p:cNvPr id="11" name="Slide Number Placeholder 5">
            <a:extLst>
              <a:ext uri="{FF2B5EF4-FFF2-40B4-BE49-F238E27FC236}">
                <a16:creationId xmlns:a16="http://schemas.microsoft.com/office/drawing/2014/main" id="{7AB50CBE-5F60-36ED-3E11-188C42A8AB5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21</a:t>
            </a:fld>
            <a:endParaRPr lang="en-US"/>
          </a:p>
        </p:txBody>
      </p:sp>
      <p:sp>
        <p:nvSpPr>
          <p:cNvPr id="12" name="Title 8">
            <a:extLst>
              <a:ext uri="{FF2B5EF4-FFF2-40B4-BE49-F238E27FC236}">
                <a16:creationId xmlns:a16="http://schemas.microsoft.com/office/drawing/2014/main" id="{0DA6F02F-945B-4864-01D6-D6A8D2FE34F6}"/>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Future Enhancement</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3" name="Title 8">
            <a:extLst>
              <a:ext uri="{FF2B5EF4-FFF2-40B4-BE49-F238E27FC236}">
                <a16:creationId xmlns:a16="http://schemas.microsoft.com/office/drawing/2014/main" id="{54190ED9-ADEC-824E-48F7-226739B32FC7}"/>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F7F44121-7A9E-D693-6871-8408E99188EB}"/>
              </a:ext>
            </a:extLst>
          </p:cNvPr>
          <p:cNvSpPr txBox="1">
            <a:spLocks/>
          </p:cNvSpPr>
          <p:nvPr/>
        </p:nvSpPr>
        <p:spPr>
          <a:xfrm>
            <a:off x="1295400" y="12573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3D64C1BD-C168-D698-CD09-C5B88CD4F3AD}"/>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6" name="Footer Placeholder 4">
            <a:extLst>
              <a:ext uri="{FF2B5EF4-FFF2-40B4-BE49-F238E27FC236}">
                <a16:creationId xmlns:a16="http://schemas.microsoft.com/office/drawing/2014/main" id="{F672160E-7FFC-359F-E60B-959F6109771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7" name="Rectangle 3">
            <a:extLst>
              <a:ext uri="{FF2B5EF4-FFF2-40B4-BE49-F238E27FC236}">
                <a16:creationId xmlns:a16="http://schemas.microsoft.com/office/drawing/2014/main" id="{4A9196A1-92ED-B627-7546-48618127ABEA}"/>
              </a:ext>
            </a:extLst>
          </p:cNvPr>
          <p:cNvSpPr>
            <a:spLocks noChangeArrowheads="1"/>
          </p:cNvSpPr>
          <p:nvPr/>
        </p:nvSpPr>
        <p:spPr bwMode="auto">
          <a:xfrm>
            <a:off x="1586383" y="1977300"/>
            <a:ext cx="696183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Integration with Bharat </a:t>
            </a:r>
            <a:r>
              <a:rPr lang="en-US" sz="2000" b="1" dirty="0" err="1">
                <a:latin typeface="Times New Roman" panose="02020603050405020304" pitchFamily="18" charset="0"/>
                <a:cs typeface="Times New Roman" panose="02020603050405020304" pitchFamily="18" charset="0"/>
              </a:rPr>
              <a:t>Pashudhan</a:t>
            </a:r>
            <a:r>
              <a:rPr lang="en-US" sz="2000" b="1" dirty="0">
                <a:latin typeface="Times New Roman" panose="02020603050405020304" pitchFamily="18" charset="0"/>
                <a:cs typeface="Times New Roman" panose="02020603050405020304" pitchFamily="18" charset="0"/>
              </a:rPr>
              <a:t> App</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To support real-time breed validation during livestock registration by Field Level Workers.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Expansion of Breed Dataset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Include more indigenous and crossbred cattle and buffalo breeds to improve system accuracy.</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Mobile Application Development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Enable field-level usage through a mobile app for easy image capture and prediction.</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0177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0CD7F-0345-4467-8215-B3F01AF6CD5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0950045-3758-8B03-5E63-AE9C07C0B87B}"/>
              </a:ext>
            </a:extLst>
          </p:cNvPr>
          <p:cNvSpPr>
            <a:spLocks noGrp="1"/>
          </p:cNvSpPr>
          <p:nvPr>
            <p:ph type="dt" sz="half" idx="10"/>
          </p:nvPr>
        </p:nvSpPr>
        <p:spPr/>
        <p:txBody>
          <a:bodyPr/>
          <a:lstStyle/>
          <a:p>
            <a:fld id="{DC5FBA68-9816-4686-9912-D98927DC24D3}" type="datetime5">
              <a:rPr lang="en-US" smtClean="0"/>
              <a:t>11-Feb-26</a:t>
            </a:fld>
            <a:endParaRPr lang="en-US"/>
          </a:p>
        </p:txBody>
      </p:sp>
      <p:sp>
        <p:nvSpPr>
          <p:cNvPr id="3" name="Footer Placeholder 2">
            <a:extLst>
              <a:ext uri="{FF2B5EF4-FFF2-40B4-BE49-F238E27FC236}">
                <a16:creationId xmlns:a16="http://schemas.microsoft.com/office/drawing/2014/main" id="{59D0A5D9-6A63-EA07-F310-3DB3403DBD9F}"/>
              </a:ext>
            </a:extLst>
          </p:cNvPr>
          <p:cNvSpPr>
            <a:spLocks noGrp="1"/>
          </p:cNvSpPr>
          <p:nvPr>
            <p:ph type="ftr" sz="quarter" idx="11"/>
          </p:nvPr>
        </p:nvSpPr>
        <p:spPr/>
        <p:txBody>
          <a:bodyPr/>
          <a:lstStyle/>
          <a:p>
            <a:r>
              <a:rPr lang="en-US"/>
              <a:t>Department of AI&amp;DS</a:t>
            </a:r>
          </a:p>
        </p:txBody>
      </p:sp>
      <p:sp>
        <p:nvSpPr>
          <p:cNvPr id="4" name="Slide Number Placeholder 3">
            <a:extLst>
              <a:ext uri="{FF2B5EF4-FFF2-40B4-BE49-F238E27FC236}">
                <a16:creationId xmlns:a16="http://schemas.microsoft.com/office/drawing/2014/main" id="{8AA2CBBA-2FAD-F188-6B2E-3D3C329DE736}"/>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7" name="Date Placeholder 1">
            <a:extLst>
              <a:ext uri="{FF2B5EF4-FFF2-40B4-BE49-F238E27FC236}">
                <a16:creationId xmlns:a16="http://schemas.microsoft.com/office/drawing/2014/main" id="{E1BE5191-CA02-F82C-B74A-EA0631A5324C}"/>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FBA68-9816-4686-9912-D98927DC24D3}" type="datetime5">
              <a:rPr lang="en-US" smtClean="0"/>
              <a:pPr/>
              <a:t>11-Feb-26</a:t>
            </a:fld>
            <a:endParaRPr lang="en-US"/>
          </a:p>
        </p:txBody>
      </p:sp>
      <p:sp>
        <p:nvSpPr>
          <p:cNvPr id="8" name="Footer Placeholder 2">
            <a:extLst>
              <a:ext uri="{FF2B5EF4-FFF2-40B4-BE49-F238E27FC236}">
                <a16:creationId xmlns:a16="http://schemas.microsoft.com/office/drawing/2014/main" id="{77327924-E3F7-2058-28AD-A9C88282F4A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p>
        </p:txBody>
      </p:sp>
      <p:sp>
        <p:nvSpPr>
          <p:cNvPr id="9" name="Slide Number Placeholder 3">
            <a:extLst>
              <a:ext uri="{FF2B5EF4-FFF2-40B4-BE49-F238E27FC236}">
                <a16:creationId xmlns:a16="http://schemas.microsoft.com/office/drawing/2014/main" id="{8A138F21-E90A-0965-2439-46BDFC2268C5}"/>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22</a:t>
            </a:fld>
            <a:endParaRPr lang="en-US"/>
          </a:p>
        </p:txBody>
      </p:sp>
      <p:sp>
        <p:nvSpPr>
          <p:cNvPr id="10" name="Date Placeholder 3">
            <a:extLst>
              <a:ext uri="{FF2B5EF4-FFF2-40B4-BE49-F238E27FC236}">
                <a16:creationId xmlns:a16="http://schemas.microsoft.com/office/drawing/2014/main" id="{E6DA8BE7-EE3A-D8B1-ED68-F809DD7FC1F0}"/>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C7BF40-18D7-404C-B634-F7BE7FC13666}" type="datetime5">
              <a:rPr lang="en-US" smtClean="0"/>
              <a:pPr/>
              <a:t>11-Feb-26</a:t>
            </a:fld>
            <a:endParaRPr lang="en-US"/>
          </a:p>
        </p:txBody>
      </p:sp>
      <p:sp>
        <p:nvSpPr>
          <p:cNvPr id="11" name="Slide Number Placeholder 5">
            <a:extLst>
              <a:ext uri="{FF2B5EF4-FFF2-40B4-BE49-F238E27FC236}">
                <a16:creationId xmlns:a16="http://schemas.microsoft.com/office/drawing/2014/main" id="{ABB1EC92-2A4E-EF8C-FAFD-E1417C52AE7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22</a:t>
            </a:fld>
            <a:endParaRPr lang="en-US"/>
          </a:p>
        </p:txBody>
      </p:sp>
      <p:sp>
        <p:nvSpPr>
          <p:cNvPr id="12" name="Title 8">
            <a:extLst>
              <a:ext uri="{FF2B5EF4-FFF2-40B4-BE49-F238E27FC236}">
                <a16:creationId xmlns:a16="http://schemas.microsoft.com/office/drawing/2014/main" id="{6DC03897-E6AF-BEC5-3278-1045535DD520}"/>
              </a:ext>
            </a:extLst>
          </p:cNvPr>
          <p:cNvSpPr txBox="1">
            <a:spLocks/>
          </p:cNvSpPr>
          <p:nvPr/>
        </p:nvSpPr>
        <p:spPr>
          <a:xfrm>
            <a:off x="1295400" y="228600"/>
            <a:ext cx="75438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Conclusion</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3" name="Title 8">
            <a:extLst>
              <a:ext uri="{FF2B5EF4-FFF2-40B4-BE49-F238E27FC236}">
                <a16:creationId xmlns:a16="http://schemas.microsoft.com/office/drawing/2014/main" id="{A3C755CF-E286-8429-AF80-90CF05D2DC45}"/>
              </a:ext>
            </a:extLst>
          </p:cNvPr>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4" name="Title 8">
            <a:extLst>
              <a:ext uri="{FF2B5EF4-FFF2-40B4-BE49-F238E27FC236}">
                <a16:creationId xmlns:a16="http://schemas.microsoft.com/office/drawing/2014/main" id="{B26BA194-CD69-0780-C542-90D058A7C1FC}"/>
              </a:ext>
            </a:extLst>
          </p:cNvPr>
          <p:cNvSpPr txBox="1">
            <a:spLocks/>
          </p:cNvSpPr>
          <p:nvPr/>
        </p:nvSpPr>
        <p:spPr>
          <a:xfrm>
            <a:off x="1295400" y="1257300"/>
            <a:ext cx="7162800" cy="4610100"/>
          </a:xfrm>
          <a:prstGeom prst="rect">
            <a:avLst/>
          </a:prstGeom>
        </p:spPr>
        <p:txBody>
          <a:bodyPr>
            <a:norm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432CB1F-405A-E358-590F-4ADC9B15C826}"/>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6" name="Footer Placeholder 4">
            <a:extLst>
              <a:ext uri="{FF2B5EF4-FFF2-40B4-BE49-F238E27FC236}">
                <a16:creationId xmlns:a16="http://schemas.microsoft.com/office/drawing/2014/main" id="{20A749AF-741A-6F04-C40A-4D02446F5424}"/>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AI&amp;DS</a:t>
            </a:r>
            <a:endParaRPr lang="en-US" dirty="0"/>
          </a:p>
        </p:txBody>
      </p:sp>
      <p:sp>
        <p:nvSpPr>
          <p:cNvPr id="19" name="TextBox 18">
            <a:extLst>
              <a:ext uri="{FF2B5EF4-FFF2-40B4-BE49-F238E27FC236}">
                <a16:creationId xmlns:a16="http://schemas.microsoft.com/office/drawing/2014/main" id="{4E83C445-F491-653D-AF95-1BA0FE29AF36}"/>
              </a:ext>
            </a:extLst>
          </p:cNvPr>
          <p:cNvSpPr txBox="1"/>
          <p:nvPr/>
        </p:nvSpPr>
        <p:spPr>
          <a:xfrm>
            <a:off x="1600200" y="1752600"/>
            <a:ext cx="7010400" cy="440120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demonstrates the effective use of deep learning and computer vision for automated breed identification of dairy cattle and buffaloes.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AI-based system reduces human dependency and improves accuracy by analyzing visual and morphological features.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web-based implementation enables real-time predictions with confidence scores, enhancing usability and decision-making.</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Overall, the system validates the feasibility of AI-assisted livestock management and supports the digital transformation of the agricultural sector.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6952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7C5E74A-848B-46C1-8599-E931603CD6B0}" type="datetime5">
              <a:rPr lang="en-US" smtClean="0"/>
              <a:t>11-Feb-26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8" name="Title 8"/>
          <p:cNvSpPr txBox="1">
            <a:spLocks/>
          </p:cNvSpPr>
          <p:nvPr/>
        </p:nvSpPr>
        <p:spPr>
          <a:xfrm>
            <a:off x="1295400" y="228600"/>
            <a:ext cx="7543800" cy="1143000"/>
          </a:xfrm>
          <a:prstGeom prst="rect">
            <a:avLst/>
          </a:prstGeom>
        </p:spPr>
        <p:txBody>
          <a:bodyPr>
            <a:normAutofit fontScale="85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r>
              <a:rPr kumimoji="0" lang="en-IN" sz="39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References</a:t>
            </a:r>
            <a:br>
              <a:rPr kumimoji="0" lang="en-IN"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8"/>
          <p:cNvSpPr txBox="1">
            <a:spLocks/>
          </p:cNvSpPr>
          <p:nvPr/>
        </p:nvSpPr>
        <p:spPr>
          <a:xfrm>
            <a:off x="1295400" y="1066800"/>
            <a:ext cx="7543800" cy="2057400"/>
          </a:xfrm>
          <a:prstGeom prst="rect">
            <a:avLst/>
          </a:prstGeom>
        </p:spPr>
        <p:txBody>
          <a:bodyPr>
            <a:normAutofit/>
          </a:bodyPr>
          <a:lstStyle/>
          <a:p>
            <a:pPr algn="just">
              <a:spcBef>
                <a:spcPct val="0"/>
              </a:spcBef>
            </a:pPr>
            <a:endParaRPr kumimoji="0" lang="en-US" sz="33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8"/>
          <p:cNvSpPr txBox="1">
            <a:spLocks/>
          </p:cNvSpPr>
          <p:nvPr/>
        </p:nvSpPr>
        <p:spPr>
          <a:xfrm>
            <a:off x="1905000" y="2819401"/>
            <a:ext cx="8289758" cy="5656618"/>
          </a:xfrm>
          <a:prstGeom prst="rect">
            <a:avLst/>
          </a:prstGeom>
        </p:spPr>
        <p:txBody>
          <a:bodyPr>
            <a:norm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528CA35-82E5-25E8-5154-791FD70C9AFF}"/>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3" name="Footer Placeholder 4">
            <a:extLst>
              <a:ext uri="{FF2B5EF4-FFF2-40B4-BE49-F238E27FC236}">
                <a16:creationId xmlns:a16="http://schemas.microsoft.com/office/drawing/2014/main" id="{0FC6B548-9CA2-51CC-A01A-0415C6BAE2C8}"/>
              </a:ext>
            </a:extLst>
          </p:cNvPr>
          <p:cNvSpPr>
            <a:spLocks noGrp="1"/>
          </p:cNvSpPr>
          <p:nvPr>
            <p:ph type="ftr" sz="quarter" idx="11"/>
          </p:nvPr>
        </p:nvSpPr>
        <p:spPr>
          <a:xfrm>
            <a:off x="3124200" y="6356350"/>
            <a:ext cx="2895600" cy="365125"/>
          </a:xfrm>
        </p:spPr>
        <p:txBody>
          <a:bodyPr/>
          <a:lstStyle/>
          <a:p>
            <a:r>
              <a:rPr lang="en-US"/>
              <a:t>Department of AI&amp;DS</a:t>
            </a:r>
            <a:endParaRPr lang="en-US" dirty="0"/>
          </a:p>
        </p:txBody>
      </p:sp>
      <p:sp>
        <p:nvSpPr>
          <p:cNvPr id="7" name="Rectangle 2">
            <a:extLst>
              <a:ext uri="{FF2B5EF4-FFF2-40B4-BE49-F238E27FC236}">
                <a16:creationId xmlns:a16="http://schemas.microsoft.com/office/drawing/2014/main" id="{F8CC5B20-63A3-5E10-9C33-79C5DC21FE19}"/>
              </a:ext>
            </a:extLst>
          </p:cNvPr>
          <p:cNvSpPr>
            <a:spLocks noChangeArrowheads="1"/>
          </p:cNvSpPr>
          <p:nvPr/>
        </p:nvSpPr>
        <p:spPr bwMode="auto">
          <a:xfrm rot="10800000" flipV="1">
            <a:off x="1632802" y="1815332"/>
            <a:ext cx="705399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Sharma et al., “Deep Learning Models for Livestock Breed Identification,”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IEEE Access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11, pp. 12345–12356, 2023.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Ministry of Fisheries, Animal Husbandry &amp; Dairying,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Bharat </a:t>
            </a:r>
            <a:r>
              <a:rPr kumimoji="0" lang="en-US" altLang="en-US" sz="20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Pashudhan</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Govt. of India, 2022.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Singh and K. Mehta, “Applications of Computer Vision in Precision Livestock Farming,”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Computers and Electronics in Agriculture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198, 2022.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404D0F-F50F-6BEF-2D87-75BDBEDA262F}"/>
              </a:ext>
            </a:extLst>
          </p:cNvPr>
          <p:cNvSpPr>
            <a:spLocks noGrp="1"/>
          </p:cNvSpPr>
          <p:nvPr>
            <p:ph type="dt" sz="half" idx="10"/>
          </p:nvPr>
        </p:nvSpPr>
        <p:spPr/>
        <p:txBody>
          <a:bodyPr/>
          <a:lstStyle/>
          <a:p>
            <a:fld id="{D37E42D3-501F-479D-99F6-244FCC059CF6}" type="datetime5">
              <a:rPr lang="en-US" smtClean="0"/>
              <a:t>11-Feb-26</a:t>
            </a:fld>
            <a:endParaRPr lang="en-US"/>
          </a:p>
        </p:txBody>
      </p:sp>
      <p:sp>
        <p:nvSpPr>
          <p:cNvPr id="3" name="Footer Placeholder 2">
            <a:extLst>
              <a:ext uri="{FF2B5EF4-FFF2-40B4-BE49-F238E27FC236}">
                <a16:creationId xmlns:a16="http://schemas.microsoft.com/office/drawing/2014/main" id="{00D9D4B1-77C8-8B17-86FC-4EE64CE1522C}"/>
              </a:ext>
            </a:extLst>
          </p:cNvPr>
          <p:cNvSpPr>
            <a:spLocks noGrp="1"/>
          </p:cNvSpPr>
          <p:nvPr>
            <p:ph type="ftr" sz="quarter" idx="11"/>
          </p:nvPr>
        </p:nvSpPr>
        <p:spPr/>
        <p:txBody>
          <a:bodyPr/>
          <a:lstStyle/>
          <a:p>
            <a:r>
              <a:rPr lang="en-US" dirty="0"/>
              <a:t>Department of AI&amp;DS</a:t>
            </a:r>
          </a:p>
        </p:txBody>
      </p:sp>
      <p:sp>
        <p:nvSpPr>
          <p:cNvPr id="4" name="Slide Number Placeholder 3">
            <a:extLst>
              <a:ext uri="{FF2B5EF4-FFF2-40B4-BE49-F238E27FC236}">
                <a16:creationId xmlns:a16="http://schemas.microsoft.com/office/drawing/2014/main" id="{563B0C75-3240-5A9F-C3BF-3829A22A595E}"/>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5" name="Date Placeholder 1">
            <a:extLst>
              <a:ext uri="{FF2B5EF4-FFF2-40B4-BE49-F238E27FC236}">
                <a16:creationId xmlns:a16="http://schemas.microsoft.com/office/drawing/2014/main" id="{549A616B-43D2-1210-EF0D-D25E7E827057}"/>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387808B-5E86-4FDB-A372-B3022D5E9247}" type="datetime5">
              <a:rPr lang="en-US" smtClean="0"/>
              <a:pPr/>
              <a:t>11-Feb-26</a:t>
            </a:fld>
            <a:endParaRPr lang="en-US"/>
          </a:p>
        </p:txBody>
      </p:sp>
      <p:sp>
        <p:nvSpPr>
          <p:cNvPr id="7" name="Slide Number Placeholder 3">
            <a:extLst>
              <a:ext uri="{FF2B5EF4-FFF2-40B4-BE49-F238E27FC236}">
                <a16:creationId xmlns:a16="http://schemas.microsoft.com/office/drawing/2014/main" id="{585B17F0-A803-9FB9-BA42-F55524F18695}"/>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24</a:t>
            </a:fld>
            <a:endParaRPr lang="en-US"/>
          </a:p>
        </p:txBody>
      </p:sp>
      <p:sp>
        <p:nvSpPr>
          <p:cNvPr id="9" name="Date Placeholder 1">
            <a:extLst>
              <a:ext uri="{FF2B5EF4-FFF2-40B4-BE49-F238E27FC236}">
                <a16:creationId xmlns:a16="http://schemas.microsoft.com/office/drawing/2014/main" id="{D0990AC3-1D40-244A-B2EB-CEF69C06B10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387808B-5E86-4FDB-A372-B3022D5E9247}" type="datetime5">
              <a:rPr lang="en-US" smtClean="0"/>
              <a:pPr/>
              <a:t>11-Feb-26</a:t>
            </a:fld>
            <a:endParaRPr lang="en-US"/>
          </a:p>
        </p:txBody>
      </p:sp>
      <p:sp>
        <p:nvSpPr>
          <p:cNvPr id="11" name="Slide Number Placeholder 3">
            <a:extLst>
              <a:ext uri="{FF2B5EF4-FFF2-40B4-BE49-F238E27FC236}">
                <a16:creationId xmlns:a16="http://schemas.microsoft.com/office/drawing/2014/main" id="{E0BB8D0B-6FD0-BFFB-DAFD-A676A23728AA}"/>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24</a:t>
            </a:fld>
            <a:endParaRPr lang="en-US"/>
          </a:p>
        </p:txBody>
      </p:sp>
      <p:sp>
        <p:nvSpPr>
          <p:cNvPr id="12" name="Rectangle 11">
            <a:extLst>
              <a:ext uri="{FF2B5EF4-FFF2-40B4-BE49-F238E27FC236}">
                <a16:creationId xmlns:a16="http://schemas.microsoft.com/office/drawing/2014/main" id="{79145545-A6EB-F01F-A8DE-C37A7FB2BF5E}"/>
              </a:ext>
            </a:extLst>
          </p:cNvPr>
          <p:cNvSpPr/>
          <p:nvPr/>
        </p:nvSpPr>
        <p:spPr>
          <a:xfrm>
            <a:off x="0" y="-17585"/>
            <a:ext cx="1143000" cy="6858000"/>
          </a:xfrm>
          <a:prstGeom prst="rect">
            <a:avLst/>
          </a:prstGeom>
          <a:solidFill>
            <a:srgbClr val="002060"/>
          </a:solidFill>
        </p:spPr>
        <p:style>
          <a:lnRef idx="0">
            <a:schemeClr val="accent3"/>
          </a:lnRef>
          <a:fillRef idx="3">
            <a:schemeClr val="accent3"/>
          </a:fillRef>
          <a:effectRef idx="3">
            <a:schemeClr val="accent3"/>
          </a:effectRef>
          <a:fontRef idx="minor">
            <a:schemeClr val="lt1"/>
          </a:fontRef>
        </p:style>
        <p:txBody>
          <a:bodyPr vert="vert270" rtlCol="0" anchor="ctr"/>
          <a:lstStyle/>
          <a:p>
            <a:pPr algn="ctr"/>
            <a:r>
              <a:rPr lang="en-US" dirty="0">
                <a:solidFill>
                  <a:schemeClr val="bg1"/>
                </a:solidFill>
                <a:latin typeface="Times New Roman" pitchFamily="18" charset="0"/>
                <a:cs typeface="Times New Roman" pitchFamily="18" charset="0"/>
              </a:rPr>
              <a:t> </a:t>
            </a:r>
            <a:r>
              <a:rPr lang="en-US" sz="2800" dirty="0">
                <a:solidFill>
                  <a:schemeClr val="bg1"/>
                </a:solidFill>
                <a:latin typeface="Times New Roman" pitchFamily="18" charset="0"/>
                <a:cs typeface="Times New Roman" pitchFamily="18" charset="0"/>
              </a:rPr>
              <a:t>Dr. NGP INSTITUTE OF TECHNOLOGY</a:t>
            </a:r>
            <a:endParaRPr lang="en-US" b="1" dirty="0">
              <a:solidFill>
                <a:schemeClr val="bg1"/>
              </a:solidFill>
              <a:latin typeface="Times New Roman" pitchFamily="18" charset="0"/>
              <a:cs typeface="Times New Roman" pitchFamily="18" charset="0"/>
            </a:endParaRPr>
          </a:p>
        </p:txBody>
      </p:sp>
      <p:sp>
        <p:nvSpPr>
          <p:cNvPr id="13" name="Title 8">
            <a:extLst>
              <a:ext uri="{FF2B5EF4-FFF2-40B4-BE49-F238E27FC236}">
                <a16:creationId xmlns:a16="http://schemas.microsoft.com/office/drawing/2014/main" id="{7ED13557-51BE-0B45-799A-EA0A188CB4B1}"/>
              </a:ext>
            </a:extLst>
          </p:cNvPr>
          <p:cNvSpPr txBox="1">
            <a:spLocks/>
          </p:cNvSpPr>
          <p:nvPr/>
        </p:nvSpPr>
        <p:spPr>
          <a:xfrm>
            <a:off x="3134360" y="2839915"/>
            <a:ext cx="4257040" cy="114300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4000" dirty="0">
                <a:latin typeface="Times New Roman" pitchFamily="18" charset="0"/>
                <a:ea typeface="+mj-ea"/>
                <a:cs typeface="Times New Roman" pitchFamily="18" charset="0"/>
              </a:rPr>
              <a:t>THANK YOU</a:t>
            </a:r>
            <a:endParaRPr kumimoji="0" lang="en-US" sz="40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3226663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902</TotalTime>
  <Words>2251</Words>
  <Application>Microsoft Office PowerPoint</Application>
  <PresentationFormat>On-screen Show (4:3)</PresentationFormat>
  <Paragraphs>338</Paragraphs>
  <Slides>24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Times New Roman</vt:lpstr>
      <vt:lpstr>Office Theme</vt:lpstr>
      <vt:lpstr>PowerPoint Presentation</vt:lpstr>
      <vt:lpstr>Objective</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Requirements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DSLAB</dc:creator>
  <cp:lastModifiedBy>nj navya</cp:lastModifiedBy>
  <cp:revision>44</cp:revision>
  <dcterms:created xsi:type="dcterms:W3CDTF">2006-08-16T00:00:00Z</dcterms:created>
  <dcterms:modified xsi:type="dcterms:W3CDTF">2026-02-11T16:04:22Z</dcterms:modified>
</cp:coreProperties>
</file>