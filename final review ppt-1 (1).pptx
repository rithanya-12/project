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98" r:id="rId4"/>
    <p:sldId id="280" r:id="rId5"/>
    <p:sldId id="281" r:id="rId6"/>
    <p:sldId id="282" r:id="rId7"/>
    <p:sldId id="283" r:id="rId8"/>
    <p:sldId id="284" r:id="rId9"/>
    <p:sldId id="286" r:id="rId10"/>
    <p:sldId id="299" r:id="rId11"/>
    <p:sldId id="301" r:id="rId12"/>
    <p:sldId id="300" r:id="rId13"/>
    <p:sldId id="290" r:id="rId14"/>
    <p:sldId id="302" r:id="rId15"/>
    <p:sldId id="291" r:id="rId16"/>
    <p:sldId id="303" r:id="rId17"/>
    <p:sldId id="289" r:id="rId18"/>
    <p:sldId id="262" r:id="rId19"/>
    <p:sldId id="304" r:id="rId20"/>
    <p:sldId id="307" r:id="rId21"/>
    <p:sldId id="306" r:id="rId22"/>
    <p:sldId id="305" r:id="rId23"/>
    <p:sldId id="308" r:id="rId24"/>
    <p:sldId id="309" r:id="rId25"/>
    <p:sldId id="310" r:id="rId26"/>
    <p:sldId id="311" r:id="rId27"/>
    <p:sldId id="312" r:id="rId28"/>
    <p:sldId id="313" r:id="rId29"/>
    <p:sldId id="295" r:id="rId30"/>
    <p:sldId id="314" r:id="rId31"/>
    <p:sldId id="315" r:id="rId32"/>
    <p:sldId id="316" r:id="rId33"/>
    <p:sldId id="317" r:id="rId34"/>
    <p:sldId id="320" r:id="rId35"/>
    <p:sldId id="319" r:id="rId36"/>
    <p:sldId id="318" r:id="rId37"/>
    <p:sldId id="292" r:id="rId38"/>
    <p:sldId id="293" r:id="rId39"/>
    <p:sldId id="297" r:id="rId40"/>
    <p:sldId id="266" r:id="rId41"/>
    <p:sldId id="279" r:id="rId42"/>
    <p:sldId id="26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2B"/>
    <a:srgbClr val="009A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0D78D1-5BE2-50B4-0088-E6B9124E4152}" v="1031" dt="2026-03-08T19:26:29.394"/>
    <p1510:client id="{F037E16C-19D0-0EA4-C4D7-4115CCA0C7C1}" v="741" dt="2026-03-08T20:06:57.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78" d="100"/>
          <a:sy n="78" d="100"/>
        </p:scale>
        <p:origin x="161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BC7C05-E423-4EBD-A9CD-0BD19CD9CF10}" type="datetimeFigureOut">
              <a:rPr lang="en-US" smtClean="0"/>
              <a:pPr/>
              <a:t>3/8/2026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C16892-7E8B-4F87-9102-170D81793AD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F342-A96C-4EF6-F631-AE0BEF8BC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6C144-ABEB-3269-C67D-99D7AC615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C00C1-64AF-9960-7640-032ED471385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BF7FF98-03BF-B143-01F5-5C80EFC95D7D}"/>
              </a:ext>
            </a:extLst>
          </p:cNvPr>
          <p:cNvSpPr>
            <a:spLocks noGrp="1"/>
          </p:cNvSpPr>
          <p:nvPr>
            <p:ph type="sldNum" sz="quarter" idx="10"/>
          </p:nvPr>
        </p:nvSpPr>
        <p:spPr/>
        <p:txBody>
          <a:bodyPr/>
          <a:lstStyle/>
          <a:p>
            <a:fld id="{65C16892-7E8B-4F87-9102-170D81793AD5}" type="slidenum">
              <a:rPr lang="en-US" smtClean="0"/>
              <a:pPr/>
              <a:t>19</a:t>
            </a:fld>
            <a:endParaRPr lang="en-US"/>
          </a:p>
        </p:txBody>
      </p:sp>
    </p:spTree>
    <p:extLst>
      <p:ext uri="{BB962C8B-B14F-4D97-AF65-F5344CB8AC3E}">
        <p14:creationId xmlns:p14="http://schemas.microsoft.com/office/powerpoint/2010/main" val="3682809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8D3FD-BDF1-8F68-6646-4469FA0F9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8B8CB-5A33-7F21-CFF3-36904857A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DDA33-A460-57D1-3432-5B1CC447600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2F99AE7-BB76-90D2-BB73-F4617F53DDDE}"/>
              </a:ext>
            </a:extLst>
          </p:cNvPr>
          <p:cNvSpPr>
            <a:spLocks noGrp="1"/>
          </p:cNvSpPr>
          <p:nvPr>
            <p:ph type="sldNum" sz="quarter" idx="10"/>
          </p:nvPr>
        </p:nvSpPr>
        <p:spPr/>
        <p:txBody>
          <a:bodyPr/>
          <a:lstStyle/>
          <a:p>
            <a:fld id="{65C16892-7E8B-4F87-9102-170D81793AD5}" type="slidenum">
              <a:rPr lang="en-US" smtClean="0"/>
              <a:pPr/>
              <a:t>20</a:t>
            </a:fld>
            <a:endParaRPr lang="en-US"/>
          </a:p>
        </p:txBody>
      </p:sp>
    </p:spTree>
    <p:extLst>
      <p:ext uri="{BB962C8B-B14F-4D97-AF65-F5344CB8AC3E}">
        <p14:creationId xmlns:p14="http://schemas.microsoft.com/office/powerpoint/2010/main" val="3341776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DD215-C29B-BA58-B82C-64FEFA16B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7D6EF-927F-FF80-80FF-2CA28F254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E5A2B-0F01-EDA3-C937-3CD8C83A630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B4D5025-E5BE-FB5A-DEA6-B2B14F57C2FC}"/>
              </a:ext>
            </a:extLst>
          </p:cNvPr>
          <p:cNvSpPr>
            <a:spLocks noGrp="1"/>
          </p:cNvSpPr>
          <p:nvPr>
            <p:ph type="sldNum" sz="quarter" idx="10"/>
          </p:nvPr>
        </p:nvSpPr>
        <p:spPr/>
        <p:txBody>
          <a:bodyPr/>
          <a:lstStyle/>
          <a:p>
            <a:fld id="{65C16892-7E8B-4F87-9102-170D81793AD5}" type="slidenum">
              <a:rPr lang="en-US" smtClean="0"/>
              <a:pPr/>
              <a:t>21</a:t>
            </a:fld>
            <a:endParaRPr lang="en-US"/>
          </a:p>
        </p:txBody>
      </p:sp>
    </p:spTree>
    <p:extLst>
      <p:ext uri="{BB962C8B-B14F-4D97-AF65-F5344CB8AC3E}">
        <p14:creationId xmlns:p14="http://schemas.microsoft.com/office/powerpoint/2010/main" val="654243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227A-B998-EC7C-D864-A536EFFEA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4C353-CDB7-FD05-F7ED-5F9170D34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41955-C813-284F-84F2-7B726837116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63F8668-4811-9DDE-0485-725BD4E732C0}"/>
              </a:ext>
            </a:extLst>
          </p:cNvPr>
          <p:cNvSpPr>
            <a:spLocks noGrp="1"/>
          </p:cNvSpPr>
          <p:nvPr>
            <p:ph type="sldNum" sz="quarter" idx="10"/>
          </p:nvPr>
        </p:nvSpPr>
        <p:spPr/>
        <p:txBody>
          <a:bodyPr/>
          <a:lstStyle/>
          <a:p>
            <a:fld id="{65C16892-7E8B-4F87-9102-170D81793AD5}" type="slidenum">
              <a:rPr lang="en-US" smtClean="0"/>
              <a:pPr/>
              <a:t>22</a:t>
            </a:fld>
            <a:endParaRPr lang="en-US"/>
          </a:p>
        </p:txBody>
      </p:sp>
    </p:spTree>
    <p:extLst>
      <p:ext uri="{BB962C8B-B14F-4D97-AF65-F5344CB8AC3E}">
        <p14:creationId xmlns:p14="http://schemas.microsoft.com/office/powerpoint/2010/main" val="688784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3A5E9-1725-D5C9-A6FA-C2EF3EC68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A8D8D-80F4-2334-009B-8C846A16A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D2A47-D48F-D3C9-18A1-C7744D56F82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2194976-2DDD-B4AC-8C6C-A72AA90E0399}"/>
              </a:ext>
            </a:extLst>
          </p:cNvPr>
          <p:cNvSpPr>
            <a:spLocks noGrp="1"/>
          </p:cNvSpPr>
          <p:nvPr>
            <p:ph type="sldNum" sz="quarter" idx="10"/>
          </p:nvPr>
        </p:nvSpPr>
        <p:spPr/>
        <p:txBody>
          <a:bodyPr/>
          <a:lstStyle/>
          <a:p>
            <a:fld id="{65C16892-7E8B-4F87-9102-170D81793AD5}" type="slidenum">
              <a:rPr lang="en-US" smtClean="0"/>
              <a:pPr/>
              <a:t>23</a:t>
            </a:fld>
            <a:endParaRPr lang="en-US"/>
          </a:p>
        </p:txBody>
      </p:sp>
    </p:spTree>
    <p:extLst>
      <p:ext uri="{BB962C8B-B14F-4D97-AF65-F5344CB8AC3E}">
        <p14:creationId xmlns:p14="http://schemas.microsoft.com/office/powerpoint/2010/main" val="604918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6E5A-040E-1B05-FE36-44F1A1E65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CD644-65C6-9352-E86D-86C2D6CE6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A7BB5-E590-BF23-415F-4231EF2A430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B93013C-B0D4-6E46-1431-E1A26C24E74A}"/>
              </a:ext>
            </a:extLst>
          </p:cNvPr>
          <p:cNvSpPr>
            <a:spLocks noGrp="1"/>
          </p:cNvSpPr>
          <p:nvPr>
            <p:ph type="sldNum" sz="quarter" idx="10"/>
          </p:nvPr>
        </p:nvSpPr>
        <p:spPr/>
        <p:txBody>
          <a:bodyPr/>
          <a:lstStyle/>
          <a:p>
            <a:fld id="{65C16892-7E8B-4F87-9102-170D81793AD5}" type="slidenum">
              <a:rPr lang="en-US" smtClean="0"/>
              <a:pPr/>
              <a:t>24</a:t>
            </a:fld>
            <a:endParaRPr lang="en-US"/>
          </a:p>
        </p:txBody>
      </p:sp>
    </p:spTree>
    <p:extLst>
      <p:ext uri="{BB962C8B-B14F-4D97-AF65-F5344CB8AC3E}">
        <p14:creationId xmlns:p14="http://schemas.microsoft.com/office/powerpoint/2010/main" val="1987092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40C47-BEC8-D454-AF70-45464BF9A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FB3D-FAD7-EB35-C16D-C66365CF3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BFE88-A7AF-183B-C637-D2C66F3A69E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3D94515-7FE6-61BC-BC89-E2176EB4E8E0}"/>
              </a:ext>
            </a:extLst>
          </p:cNvPr>
          <p:cNvSpPr>
            <a:spLocks noGrp="1"/>
          </p:cNvSpPr>
          <p:nvPr>
            <p:ph type="sldNum" sz="quarter" idx="10"/>
          </p:nvPr>
        </p:nvSpPr>
        <p:spPr/>
        <p:txBody>
          <a:bodyPr/>
          <a:lstStyle/>
          <a:p>
            <a:fld id="{65C16892-7E8B-4F87-9102-170D81793AD5}" type="slidenum">
              <a:rPr lang="en-US" smtClean="0"/>
              <a:pPr/>
              <a:t>25</a:t>
            </a:fld>
            <a:endParaRPr lang="en-US"/>
          </a:p>
        </p:txBody>
      </p:sp>
    </p:spTree>
    <p:extLst>
      <p:ext uri="{BB962C8B-B14F-4D97-AF65-F5344CB8AC3E}">
        <p14:creationId xmlns:p14="http://schemas.microsoft.com/office/powerpoint/2010/main" val="4103415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E6C01-A27F-89F4-A7DD-EC9A139F8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AE51E-FC01-2D2F-327A-5904C992F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02BE0-5FC2-3451-2216-A8C17185774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18574EE-E68C-F201-FDCD-CE73564DB3B2}"/>
              </a:ext>
            </a:extLst>
          </p:cNvPr>
          <p:cNvSpPr>
            <a:spLocks noGrp="1"/>
          </p:cNvSpPr>
          <p:nvPr>
            <p:ph type="sldNum" sz="quarter" idx="10"/>
          </p:nvPr>
        </p:nvSpPr>
        <p:spPr/>
        <p:txBody>
          <a:bodyPr/>
          <a:lstStyle/>
          <a:p>
            <a:fld id="{65C16892-7E8B-4F87-9102-170D81793AD5}" type="slidenum">
              <a:rPr lang="en-US" smtClean="0"/>
              <a:pPr/>
              <a:t>26</a:t>
            </a:fld>
            <a:endParaRPr lang="en-US"/>
          </a:p>
        </p:txBody>
      </p:sp>
    </p:spTree>
    <p:extLst>
      <p:ext uri="{BB962C8B-B14F-4D97-AF65-F5344CB8AC3E}">
        <p14:creationId xmlns:p14="http://schemas.microsoft.com/office/powerpoint/2010/main" val="3293231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E9A5B-02C4-C6DA-2937-7D2EC51EA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EE918-5C06-B947-67B2-DF0FF0B7F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B1BF8-F506-82C9-0294-C0881203DDB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95B734A-5FA2-800E-2E6D-9283F8C37F65}"/>
              </a:ext>
            </a:extLst>
          </p:cNvPr>
          <p:cNvSpPr>
            <a:spLocks noGrp="1"/>
          </p:cNvSpPr>
          <p:nvPr>
            <p:ph type="sldNum" sz="quarter" idx="10"/>
          </p:nvPr>
        </p:nvSpPr>
        <p:spPr/>
        <p:txBody>
          <a:bodyPr/>
          <a:lstStyle/>
          <a:p>
            <a:fld id="{65C16892-7E8B-4F87-9102-170D81793AD5}" type="slidenum">
              <a:rPr lang="en-US" smtClean="0"/>
              <a:pPr/>
              <a:t>27</a:t>
            </a:fld>
            <a:endParaRPr lang="en-US"/>
          </a:p>
        </p:txBody>
      </p:sp>
    </p:spTree>
    <p:extLst>
      <p:ext uri="{BB962C8B-B14F-4D97-AF65-F5344CB8AC3E}">
        <p14:creationId xmlns:p14="http://schemas.microsoft.com/office/powerpoint/2010/main" val="985835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1EAB6-6AA3-200B-9D71-A0A360B41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89DD4-5687-BA9A-5F3A-F1ACBC45BF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93060-021B-B31A-B877-E2B71CBEFF1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0B7293F-47E2-0E78-ED87-1D555959C19F}"/>
              </a:ext>
            </a:extLst>
          </p:cNvPr>
          <p:cNvSpPr>
            <a:spLocks noGrp="1"/>
          </p:cNvSpPr>
          <p:nvPr>
            <p:ph type="sldNum" sz="quarter" idx="10"/>
          </p:nvPr>
        </p:nvSpPr>
        <p:spPr/>
        <p:txBody>
          <a:bodyPr/>
          <a:lstStyle/>
          <a:p>
            <a:fld id="{65C16892-7E8B-4F87-9102-170D81793AD5}" type="slidenum">
              <a:rPr lang="en-US" smtClean="0"/>
              <a:pPr/>
              <a:t>28</a:t>
            </a:fld>
            <a:endParaRPr lang="en-US"/>
          </a:p>
        </p:txBody>
      </p:sp>
    </p:spTree>
    <p:extLst>
      <p:ext uri="{BB962C8B-B14F-4D97-AF65-F5344CB8AC3E}">
        <p14:creationId xmlns:p14="http://schemas.microsoft.com/office/powerpoint/2010/main" val="3656185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5C16892-7E8B-4F87-9102-170D81793AD5}" type="slidenum">
              <a:rPr lang="en-US" smtClean="0"/>
              <a:pPr/>
              <a:t>36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5C16892-7E8B-4F87-9102-170D81793AD5}" type="slidenum">
              <a:rPr lang="en-US" smtClean="0"/>
              <a:pPr/>
              <a:t>33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9647F04-DA46-4FC7-B537-CD6BF5AEE891}" type="datetime5">
              <a:rPr lang="en-US" smtClean="0"/>
              <a:t>8-Mar-26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DB1138-FDF1-430B-A8D2-F48B28C81DF6}" type="datetime5">
              <a:rPr lang="en-US" smtClean="0"/>
              <a:t>8-Mar-26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5F41-9E12-4EB4-B181-1BBE827C754D}" type="datetime5">
              <a:rPr lang="en-US" smtClean="0"/>
              <a:t>8-Mar-26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35B7A3D-71BC-4728-96F4-2BB0751E9968}" type="datetime5">
              <a:rPr lang="en-US" smtClean="0"/>
              <a:t>8-Mar-26</a:t>
            </a:fld>
            <a:endParaRPr lang="en-US"/>
          </a:p>
        </p:txBody>
      </p:sp>
      <p:sp>
        <p:nvSpPr>
          <p:cNvPr id="6" name="Footer Placeholder 5"/>
          <p:cNvSpPr>
            <a:spLocks noGrp="1"/>
          </p:cNvSpPr>
          <p:nvPr>
            <p:ph type="ftr" sz="quarter" idx="11"/>
          </p:nvPr>
        </p:nvSpPr>
        <p:spPr/>
        <p:txBody>
          <a:bodyPr/>
          <a:lstStyle/>
          <a:p>
            <a:r>
              <a:rPr lang="en-US"/>
              <a:t>Department of AI&amp;DS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37A496-51F4-4047-9CE1-24AC940E39EC}" type="datetime5">
              <a:rPr lang="en-US" smtClean="0"/>
              <a:t>8-Mar-26</a:t>
            </a:fld>
            <a:endParaRPr lang="en-US"/>
          </a:p>
        </p:txBody>
      </p:sp>
      <p:sp>
        <p:nvSpPr>
          <p:cNvPr id="8" name="Footer Placeholder 7"/>
          <p:cNvSpPr>
            <a:spLocks noGrp="1"/>
          </p:cNvSpPr>
          <p:nvPr>
            <p:ph type="ftr" sz="quarter" idx="11"/>
          </p:nvPr>
        </p:nvSpPr>
        <p:spPr/>
        <p:txBody>
          <a:bodyPr/>
          <a:lstStyle/>
          <a:p>
            <a:r>
              <a:rPr lang="en-US"/>
              <a:t>Department of AI&amp;DS</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p:cNvSpPr>
            <a:spLocks noGrp="1"/>
          </p:cNvSpPr>
          <p:nvPr>
            <p:ph type="ftr" sz="quarter" idx="11"/>
          </p:nvPr>
        </p:nvSpPr>
        <p:spPr/>
        <p:txBody>
          <a:bodyPr/>
          <a:lstStyle/>
          <a:p>
            <a:r>
              <a:rPr lang="en-US"/>
              <a:t>Department of AI&amp;DS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p:cNvSpPr>
            <a:spLocks noGrp="1"/>
          </p:cNvSpPr>
          <p:nvPr>
            <p:ph type="ftr" sz="quarter" idx="11"/>
          </p:nvPr>
        </p:nvSpPr>
        <p:spPr/>
        <p:txBody>
          <a:bodyPr/>
          <a:lstStyle/>
          <a:p>
            <a:r>
              <a:rPr lang="en-US"/>
              <a:t>Department of AI&amp;DS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FFE7BF-3ABA-4675-871E-E55CFA36E3FC}" type="datetime5">
              <a:rPr lang="en-US" smtClean="0"/>
              <a:t>8-Mar-26</a:t>
            </a:fld>
            <a:endParaRPr lang="en-US"/>
          </a:p>
        </p:txBody>
      </p:sp>
      <p:sp>
        <p:nvSpPr>
          <p:cNvPr id="6" name="Footer Placeholder 5"/>
          <p:cNvSpPr>
            <a:spLocks noGrp="1"/>
          </p:cNvSpPr>
          <p:nvPr>
            <p:ph type="ftr" sz="quarter" idx="11"/>
          </p:nvPr>
        </p:nvSpPr>
        <p:spPr/>
        <p:txBody>
          <a:bodyPr/>
          <a:lstStyle/>
          <a:p>
            <a:r>
              <a:rPr lang="en-US"/>
              <a:t>Department of AI&amp;DS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EC13C-A09A-4D27-A079-5F5333693257}" type="datetime5">
              <a:rPr lang="en-US" smtClean="0"/>
              <a:t>8-Mar-26</a:t>
            </a:fld>
            <a:endParaRPr lang="en-US"/>
          </a:p>
        </p:txBody>
      </p:sp>
      <p:sp>
        <p:nvSpPr>
          <p:cNvPr id="6" name="Footer Placeholder 5"/>
          <p:cNvSpPr>
            <a:spLocks noGrp="1"/>
          </p:cNvSpPr>
          <p:nvPr>
            <p:ph type="ftr" sz="quarter" idx="11"/>
          </p:nvPr>
        </p:nvSpPr>
        <p:spPr/>
        <p:txBody>
          <a:bodyPr/>
          <a:lstStyle/>
          <a:p>
            <a:r>
              <a:rPr lang="en-US"/>
              <a:t>Department of AI&amp;DS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8E3340-2D5F-416A-8F1A-B32FD325FC1E}" type="datetime5">
              <a:rPr lang="en-US" smtClean="0"/>
              <a:t>8-Mar-26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DE14DD-37BA-407D-ADDF-C8782BFF62AA}" type="datetime5">
              <a:rPr lang="en-US" smtClean="0"/>
              <a:t>8-Mar-26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1AD0F-458C-4F4C-A2B0-A2E60D5AFC0B}" type="datetime5">
              <a:rPr lang="en-US" smtClean="0"/>
              <a:t>8-Mar-26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AI&amp;DS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5" name="Rectangle 4"/>
          <p:cNvSpPr/>
          <p:nvPr/>
        </p:nvSpPr>
        <p:spPr>
          <a:xfrm>
            <a:off x="2514600" y="304800"/>
            <a:ext cx="5791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latin typeface="Times New Roman" pitchFamily="18" charset="0"/>
                <a:cs typeface="Times New Roman" pitchFamily="18" charset="0"/>
              </a:rPr>
              <a:t>22UAD801- PROJECT WORK</a:t>
            </a:r>
          </a:p>
          <a:p>
            <a:pPr algn="ctr"/>
            <a:r>
              <a:rPr lang="en-IN" sz="2400" b="1" dirty="0">
                <a:solidFill>
                  <a:schemeClr val="tx1"/>
                </a:solidFill>
                <a:latin typeface="Times New Roman" pitchFamily="18" charset="0"/>
                <a:cs typeface="Times New Roman" pitchFamily="18" charset="0"/>
              </a:rPr>
              <a:t>Review 2</a:t>
            </a:r>
            <a:endParaRPr lang="en-US" sz="2400" b="1" dirty="0">
              <a:solidFill>
                <a:schemeClr val="tx1"/>
              </a:solidFill>
              <a:latin typeface="Times New Roman" pitchFamily="18" charset="0"/>
              <a:cs typeface="Times New Roman" pitchFamily="18" charset="0"/>
            </a:endParaRPr>
          </a:p>
        </p:txBody>
      </p:sp>
      <p:sp>
        <p:nvSpPr>
          <p:cNvPr id="7" name="Rectangle 6"/>
          <p:cNvSpPr/>
          <p:nvPr/>
        </p:nvSpPr>
        <p:spPr>
          <a:xfrm>
            <a:off x="2209800" y="1746250"/>
            <a:ext cx="60960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itchFamily="18" charset="0"/>
                <a:cs typeface="Times New Roman" pitchFamily="18" charset="0"/>
              </a:rPr>
              <a:t>AI-POWERED BREED IDENTIFICATION SYSTEM FOR DAIRY CATTLE AND BUFFALOES</a:t>
            </a:r>
          </a:p>
        </p:txBody>
      </p:sp>
      <p:sp>
        <p:nvSpPr>
          <p:cNvPr id="13" name="Rectangle 12"/>
          <p:cNvSpPr/>
          <p:nvPr/>
        </p:nvSpPr>
        <p:spPr>
          <a:xfrm>
            <a:off x="1295400" y="2971800"/>
            <a:ext cx="3657600" cy="2819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IN" i="1" dirty="0">
                <a:latin typeface="Times New Roman" pitchFamily="18" charset="0"/>
                <a:cs typeface="Times New Roman" pitchFamily="18" charset="0"/>
              </a:rPr>
              <a:t>Presented by,</a:t>
            </a:r>
          </a:p>
          <a:p>
            <a:endParaRPr lang="en-IN" i="1" dirty="0">
              <a:latin typeface="Times New Roman" pitchFamily="18" charset="0"/>
              <a:cs typeface="Times New Roman"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ARUNIKA G      (710722243005)</a:t>
            </a:r>
          </a:p>
          <a:p>
            <a:pPr algn="just">
              <a:lnSpc>
                <a:spcPct val="150000"/>
              </a:lnSpc>
            </a:pPr>
            <a:r>
              <a:rPr lang="en-IN" dirty="0">
                <a:latin typeface="Times New Roman" panose="02020603050405020304" pitchFamily="18" charset="0"/>
                <a:cs typeface="Times New Roman" panose="02020603050405020304" pitchFamily="18" charset="0"/>
              </a:rPr>
              <a:t>NAVYA N J        (710722243034)</a:t>
            </a:r>
          </a:p>
          <a:p>
            <a:pPr algn="just">
              <a:lnSpc>
                <a:spcPct val="150000"/>
              </a:lnSpc>
            </a:pPr>
            <a:r>
              <a:rPr lang="en-IN" dirty="0">
                <a:latin typeface="Times New Roman" panose="02020603050405020304" pitchFamily="18" charset="0"/>
                <a:cs typeface="Times New Roman" panose="02020603050405020304" pitchFamily="18" charset="0"/>
              </a:rPr>
              <a:t>RITHANYA V    (710722243040)</a:t>
            </a:r>
          </a:p>
          <a:p>
            <a:endParaRPr lang="en-IN" dirty="0"/>
          </a:p>
          <a:p>
            <a:endParaRPr lang="en-US" dirty="0"/>
          </a:p>
        </p:txBody>
      </p:sp>
      <p:sp>
        <p:nvSpPr>
          <p:cNvPr id="14" name="Rectangle 13"/>
          <p:cNvSpPr/>
          <p:nvPr/>
        </p:nvSpPr>
        <p:spPr>
          <a:xfrm>
            <a:off x="5562600" y="3346450"/>
            <a:ext cx="3276600" cy="17526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IN" i="1" dirty="0">
                <a:latin typeface="Times New Roman" pitchFamily="18" charset="0"/>
                <a:cs typeface="Times New Roman" pitchFamily="18" charset="0"/>
              </a:rPr>
              <a:t>Under the Guidance of</a:t>
            </a: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Dr. I. Devi B.E., M.E., PhD.,</a:t>
            </a:r>
          </a:p>
          <a:p>
            <a:r>
              <a:rPr lang="en-IN" dirty="0">
                <a:latin typeface="Times New Roman" pitchFamily="18" charset="0"/>
                <a:cs typeface="Times New Roman" pitchFamily="18" charset="0"/>
              </a:rPr>
              <a:t>Assistant Professor (</a:t>
            </a:r>
            <a:r>
              <a:rPr lang="en-IN" dirty="0" err="1">
                <a:latin typeface="Times New Roman" panose="02020603050405020304" pitchFamily="18" charset="0"/>
                <a:cs typeface="Times New Roman" panose="02020603050405020304" pitchFamily="18" charset="0"/>
              </a:rPr>
              <a:t>Sr.Gr</a:t>
            </a:r>
            <a:r>
              <a:rPr lang="en-IN" dirty="0">
                <a:latin typeface="Times New Roman" panose="02020603050405020304" pitchFamily="18" charset="0"/>
                <a:cs typeface="Times New Roman" panose="02020603050405020304" pitchFamily="18" charset="0"/>
              </a:rPr>
              <a:t>.) </a:t>
            </a:r>
          </a:p>
          <a:p>
            <a:endParaRPr lang="en-IN" dirty="0"/>
          </a:p>
          <a:p>
            <a:endParaRPr lang="en-US" dirty="0"/>
          </a:p>
        </p:txBody>
      </p:sp>
      <p:sp>
        <p:nvSpPr>
          <p:cNvPr id="15" name="Date Placeholder 14"/>
          <p:cNvSpPr>
            <a:spLocks noGrp="1"/>
          </p:cNvSpPr>
          <p:nvPr>
            <p:ph type="dt" sz="half" idx="10"/>
          </p:nvPr>
        </p:nvSpPr>
        <p:spPr>
          <a:xfrm>
            <a:off x="1295400" y="6324600"/>
            <a:ext cx="2133600" cy="365125"/>
          </a:xfrm>
        </p:spPr>
        <p:txBody>
          <a:bodyPr/>
          <a:lstStyle/>
          <a:p>
            <a:fld id="{7F4C9F76-4268-4240-B178-391A94A3FBA1}" type="datetime5">
              <a:rPr lang="en-US" sz="1400" smtClean="0">
                <a:solidFill>
                  <a:schemeClr val="tx1"/>
                </a:solidFill>
                <a:latin typeface="Times New Roman" pitchFamily="18" charset="0"/>
                <a:cs typeface="Times New Roman" pitchFamily="18" charset="0"/>
              </a:rPr>
              <a:t>8-Mar-26</a:t>
            </a:fld>
            <a:endParaRPr lang="en-US" dirty="0">
              <a:solidFill>
                <a:schemeClr val="tx1"/>
              </a:solidFill>
              <a:latin typeface="Times New Roman" pitchFamily="18" charset="0"/>
              <a:cs typeface="Times New Roman" pitchFamily="18" charset="0"/>
            </a:endParaRPr>
          </a:p>
        </p:txBody>
      </p:sp>
      <p:sp>
        <p:nvSpPr>
          <p:cNvPr id="16" name="Footer Placeholder 15"/>
          <p:cNvSpPr>
            <a:spLocks noGrp="1"/>
          </p:cNvSpPr>
          <p:nvPr>
            <p:ph type="ftr" sz="quarter" idx="11"/>
          </p:nvPr>
        </p:nvSpPr>
        <p:spPr>
          <a:xfrm>
            <a:off x="3657600" y="6324600"/>
            <a:ext cx="2895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Department of AI&amp;DS</a:t>
            </a:r>
            <a:endParaRPr lang="en-US" sz="1600" b="1" dirty="0">
              <a:solidFill>
                <a:schemeClr val="tx1"/>
              </a:solidFill>
              <a:latin typeface="Times New Roman" pitchFamily="18" charset="0"/>
              <a:cs typeface="Times New Roman" pitchFamily="18" charset="0"/>
            </a:endParaRPr>
          </a:p>
        </p:txBody>
      </p:sp>
      <p:sp>
        <p:nvSpPr>
          <p:cNvPr id="17" name="Slide Number Placeholder 16"/>
          <p:cNvSpPr>
            <a:spLocks noGrp="1"/>
          </p:cNvSpPr>
          <p:nvPr>
            <p:ph type="sldNum" sz="quarter" idx="12"/>
          </p:nvPr>
        </p:nvSpPr>
        <p:spPr/>
        <p:txBody>
          <a:bodyPr/>
          <a:lstStyle/>
          <a:p>
            <a:fld id="{B6F15528-21DE-4FAA-801E-634DDDAF4B2B}" type="slidenum">
              <a:rPr lang="en-US" sz="1400" smtClean="0">
                <a:solidFill>
                  <a:schemeClr val="tx1"/>
                </a:solidFill>
                <a:latin typeface="Times New Roman" pitchFamily="18" charset="0"/>
                <a:cs typeface="Times New Roman" pitchFamily="18" charset="0"/>
              </a:rPr>
              <a:pPr/>
              <a:t>1</a:t>
            </a:fld>
            <a:endParaRPr lang="en-US" sz="1400" dirty="0">
              <a:solidFill>
                <a:schemeClr val="tx1"/>
              </a:solidFill>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0D50C8E8-6E95-AB19-91DB-54A496910894}"/>
              </a:ext>
            </a:extLst>
          </p:cNvPr>
          <p:cNvPicPr>
            <a:picLocks noChangeAspect="1"/>
          </p:cNvPicPr>
          <p:nvPr/>
        </p:nvPicPr>
        <p:blipFill>
          <a:blip r:embed="rId2"/>
          <a:stretch>
            <a:fillRect/>
          </a:stretch>
        </p:blipFill>
        <p:spPr>
          <a:xfrm>
            <a:off x="1236785" y="495300"/>
            <a:ext cx="13716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95400" y="121777"/>
            <a:ext cx="7543800" cy="1371600"/>
          </a:xfrm>
        </p:spPr>
        <p:txBody>
          <a:bodyPr>
            <a:normAutofit/>
          </a:bodyPr>
          <a:lstStyle/>
          <a:p>
            <a:r>
              <a:rPr lang="en-IN" sz="3600" dirty="0">
                <a:latin typeface="Times New Roman" pitchFamily="18" charset="0"/>
                <a:cs typeface="Times New Roman" pitchFamily="18" charset="0"/>
              </a:rPr>
              <a:t>Objective</a:t>
            </a:r>
            <a:endParaRPr lang="en-US"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430951A-62F7-42F0-9D39-0DCD21F5717B}" type="datetime5">
              <a:rPr lang="en-US" smtClean="0"/>
              <a:t>8-Mar-26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Rectangle 6"/>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FB30E1B8-3F58-E36C-FF8C-F31B7E9F770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F6C92390-75A0-0C3C-BA74-D56C834C2954}"/>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1" name="TextBox 10">
            <a:extLst>
              <a:ext uri="{FF2B5EF4-FFF2-40B4-BE49-F238E27FC236}">
                <a16:creationId xmlns:a16="http://schemas.microsoft.com/office/drawing/2014/main" id="{DE3BA016-DC09-96D4-9E2F-AFD24B755317}"/>
              </a:ext>
            </a:extLst>
          </p:cNvPr>
          <p:cNvSpPr txBox="1"/>
          <p:nvPr/>
        </p:nvSpPr>
        <p:spPr>
          <a:xfrm>
            <a:off x="1409700" y="1481087"/>
            <a:ext cx="7315200" cy="440120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objective of this project is to design and develop an </a:t>
            </a:r>
            <a:r>
              <a:rPr lang="en-US" sz="2000" b="1" dirty="0">
                <a:latin typeface="Times New Roman" panose="02020603050405020304" pitchFamily="18" charset="0"/>
                <a:cs typeface="Times New Roman" panose="02020603050405020304" pitchFamily="18" charset="0"/>
              </a:rPr>
              <a:t>AI-powered breed identification system for dairy cattle and buffaloes</a:t>
            </a:r>
            <a:r>
              <a:rPr lang="en-US" sz="2000" dirty="0">
                <a:latin typeface="Times New Roman" panose="02020603050405020304" pitchFamily="18" charset="0"/>
                <a:cs typeface="Times New Roman" panose="02020603050405020304" pitchFamily="18" charset="0"/>
              </a:rPr>
              <a:t> using image-based deep learning techniques. The system aims to accurately classify indigenous breeds under real-world farm conditions and </a:t>
            </a:r>
            <a:r>
              <a:rPr lang="en-US" sz="2000" b="1" dirty="0">
                <a:latin typeface="Times New Roman" panose="02020603050405020304" pitchFamily="18" charset="0"/>
                <a:cs typeface="Times New Roman" panose="02020603050405020304" pitchFamily="18" charset="0"/>
              </a:rPr>
              <a:t>improve the quality of livestock data used for breeding, insurance, and government schemes</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Specific Objectives: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automate breed identification using image-based analysis.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perform automated breed identification using deep learning based image classification techniques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provide a practical and user-friendly solution suitable for real-time usage.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3756E-D1AE-82C0-D266-FE61DBAED6F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BA8D49F-00CD-B0CD-3FC1-3B85558FCD6E}"/>
              </a:ext>
            </a:extLst>
          </p:cNvPr>
          <p:cNvSpPr>
            <a:spLocks noGrp="1"/>
          </p:cNvSpPr>
          <p:nvPr>
            <p:ph type="title"/>
          </p:nvPr>
        </p:nvSpPr>
        <p:spPr>
          <a:xfrm>
            <a:off x="1295400" y="121777"/>
            <a:ext cx="7543800" cy="1371600"/>
          </a:xfrm>
        </p:spPr>
        <p:txBody>
          <a:bodyPr>
            <a:normAutofit/>
          </a:bodyPr>
          <a:lstStyle/>
          <a:p>
            <a:r>
              <a:rPr lang="en-IN" sz="3600">
                <a:latin typeface="Times New Roman"/>
                <a:cs typeface="Times New Roman"/>
              </a:rPr>
              <a:t>Introduction</a:t>
            </a:r>
            <a:endParaRPr lang="en-IN" sz="36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09A86141-3C88-F39D-5C7B-A488F64E4C3A}"/>
              </a:ext>
            </a:extLst>
          </p:cNvPr>
          <p:cNvSpPr>
            <a:spLocks noGrp="1"/>
          </p:cNvSpPr>
          <p:nvPr>
            <p:ph type="dt" sz="half" idx="10"/>
          </p:nvPr>
        </p:nvSpPr>
        <p:spPr/>
        <p:txBody>
          <a:bodyPr/>
          <a:lstStyle/>
          <a:p>
            <a:fld id="{6430951A-62F7-42F0-9D39-0DCD21F5717B}" type="datetime5">
              <a:rPr lang="en-US" smtClean="0"/>
              <a:t>8-Mar-26</a:t>
            </a:fld>
            <a:endParaRPr lang="en-US"/>
          </a:p>
        </p:txBody>
      </p:sp>
      <p:sp>
        <p:nvSpPr>
          <p:cNvPr id="6" name="Slide Number Placeholder 5">
            <a:extLst>
              <a:ext uri="{FF2B5EF4-FFF2-40B4-BE49-F238E27FC236}">
                <a16:creationId xmlns:a16="http://schemas.microsoft.com/office/drawing/2014/main" id="{7BB83786-0035-3C45-99A9-60DFD403483B}"/>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Rectangle 6">
            <a:extLst>
              <a:ext uri="{FF2B5EF4-FFF2-40B4-BE49-F238E27FC236}">
                <a16:creationId xmlns:a16="http://schemas.microsoft.com/office/drawing/2014/main" id="{AF6AE084-A9DF-F850-A1B9-449F25423DE9}"/>
              </a:ext>
            </a:extLst>
          </p:cNvPr>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012E1398-A884-DBCA-2DBF-CB9BE399009C}"/>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D6409476-30C3-4948-0E36-F955A73035D1}"/>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1" name="TextBox 10">
            <a:extLst>
              <a:ext uri="{FF2B5EF4-FFF2-40B4-BE49-F238E27FC236}">
                <a16:creationId xmlns:a16="http://schemas.microsoft.com/office/drawing/2014/main" id="{DEB8133C-1D4D-55C1-5249-5A2741D3FD5F}"/>
              </a:ext>
            </a:extLst>
          </p:cNvPr>
          <p:cNvSpPr txBox="1"/>
          <p:nvPr/>
        </p:nvSpPr>
        <p:spPr>
          <a:xfrm>
            <a:off x="1409700" y="1491477"/>
            <a:ext cx="7419109" cy="4708981"/>
          </a:xfrm>
          <a:prstGeom prst="rect">
            <a:avLst/>
          </a:prstGeom>
          <a:noFill/>
        </p:spPr>
        <p:txBody>
          <a:bodyPr wrap="square" lIns="91440" tIns="45720" rIns="91440" bIns="45720" anchor="t">
            <a:spAutoFit/>
          </a:bodyPr>
          <a:lstStyle/>
          <a:p>
            <a:pPr marL="342900" indent="-342900" algn="just">
              <a:buFont typeface="Arial"/>
              <a:buChar char="•"/>
            </a:pPr>
            <a:r>
              <a:rPr lang="en-US" sz="2000">
                <a:latin typeface="Times New Roman"/>
                <a:ea typeface="+mn-lt"/>
                <a:cs typeface="Times New Roman"/>
              </a:rPr>
              <a:t>The livestock sector plays a vital role in </a:t>
            </a:r>
            <a:r>
              <a:rPr lang="en-US" sz="2000" b="1">
                <a:latin typeface="Times New Roman"/>
                <a:ea typeface="+mn-lt"/>
                <a:cs typeface="Times New Roman"/>
              </a:rPr>
              <a:t>India’s rural economy</a:t>
            </a:r>
            <a:r>
              <a:rPr lang="en-US" sz="2000">
                <a:latin typeface="Times New Roman"/>
                <a:ea typeface="+mn-lt"/>
                <a:cs typeface="Times New Roman"/>
              </a:rPr>
              <a:t>, supporting agricultural productivity and farmer livelihoods through dairy cattle and buffaloes.</a:t>
            </a:r>
            <a:endParaRPr lang="en-US"/>
          </a:p>
          <a:p>
            <a:pPr marL="342900" indent="-342900" algn="just">
              <a:buFont typeface="Arial"/>
              <a:buChar char="•"/>
            </a:pPr>
            <a:endParaRPr lang="en-US" sz="2000" dirty="0">
              <a:latin typeface="Times New Roman"/>
              <a:cs typeface="Times New Roman"/>
            </a:endParaRPr>
          </a:p>
          <a:p>
            <a:pPr marL="342900" indent="-342900" algn="just">
              <a:buFont typeface="Arial"/>
              <a:buChar char="•"/>
            </a:pPr>
            <a:r>
              <a:rPr lang="en-US" sz="2000">
                <a:latin typeface="Times New Roman"/>
                <a:ea typeface="+mn-lt"/>
                <a:cs typeface="Times New Roman"/>
              </a:rPr>
              <a:t>Accurate </a:t>
            </a:r>
            <a:r>
              <a:rPr lang="en-US" sz="2000" b="1">
                <a:latin typeface="Times New Roman"/>
                <a:ea typeface="+mn-lt"/>
                <a:cs typeface="Times New Roman"/>
              </a:rPr>
              <a:t>breed identification </a:t>
            </a:r>
            <a:r>
              <a:rPr lang="en-US" sz="2000">
                <a:latin typeface="Times New Roman"/>
                <a:ea typeface="+mn-lt"/>
                <a:cs typeface="Times New Roman"/>
              </a:rPr>
              <a:t>is essential for effective breeding programs, nutrition planning, disease control, insurance, and policy decisions.</a:t>
            </a:r>
          </a:p>
          <a:p>
            <a:pPr marL="342900" indent="-342900" algn="just">
              <a:buFont typeface="Arial"/>
              <a:buChar char="•"/>
            </a:pPr>
            <a:endParaRPr lang="en-US" sz="2000" dirty="0">
              <a:latin typeface="Times New Roman"/>
              <a:cs typeface="Times New Roman"/>
            </a:endParaRPr>
          </a:p>
          <a:p>
            <a:pPr marL="342900" indent="-342900" algn="just">
              <a:buFont typeface="Arial"/>
              <a:buChar char="•"/>
            </a:pPr>
            <a:r>
              <a:rPr lang="en-US" sz="2000" dirty="0">
                <a:latin typeface="Times New Roman"/>
                <a:ea typeface="+mn-lt"/>
                <a:cs typeface="Times New Roman"/>
              </a:rPr>
              <a:t>The Government of India introduced the</a:t>
            </a:r>
            <a:r>
              <a:rPr lang="en-US" sz="2000" b="1" dirty="0">
                <a:latin typeface="Times New Roman"/>
                <a:ea typeface="+mn-lt"/>
                <a:cs typeface="Times New Roman"/>
              </a:rPr>
              <a:t> Bharat </a:t>
            </a:r>
            <a:r>
              <a:rPr lang="en-US" sz="2000" b="1" dirty="0" err="1">
                <a:latin typeface="Times New Roman"/>
                <a:ea typeface="+mn-lt"/>
                <a:cs typeface="Times New Roman"/>
              </a:rPr>
              <a:t>Pashudhan</a:t>
            </a:r>
            <a:r>
              <a:rPr lang="en-US" sz="2000" b="1" dirty="0">
                <a:latin typeface="Times New Roman"/>
                <a:ea typeface="+mn-lt"/>
                <a:cs typeface="Times New Roman"/>
              </a:rPr>
              <a:t> App </a:t>
            </a:r>
            <a:r>
              <a:rPr lang="en-US" sz="2000" dirty="0">
                <a:latin typeface="Times New Roman"/>
                <a:ea typeface="+mn-lt"/>
                <a:cs typeface="Times New Roman"/>
              </a:rPr>
              <a:t>to digitally record breeding, health, and nutrition data of livestock.</a:t>
            </a:r>
            <a:endParaRPr lang="en-US" sz="2000">
              <a:latin typeface="Times New Roman"/>
              <a:ea typeface="+mn-lt"/>
              <a:cs typeface="Times New Roman"/>
            </a:endParaRPr>
          </a:p>
          <a:p>
            <a:pPr marL="342900" indent="-342900" algn="just">
              <a:buFont typeface="Arial"/>
              <a:buChar char="•"/>
            </a:pPr>
            <a:endParaRPr lang="en-US" sz="2000" dirty="0">
              <a:latin typeface="Times New Roman"/>
              <a:cs typeface="Times New Roman"/>
            </a:endParaRPr>
          </a:p>
          <a:p>
            <a:pPr marL="342900" indent="-342900" algn="just">
              <a:buFont typeface="Arial"/>
              <a:buChar char="•"/>
            </a:pPr>
            <a:r>
              <a:rPr lang="en-US" sz="2000">
                <a:latin typeface="Times New Roman"/>
                <a:ea typeface="+mn-lt"/>
                <a:cs typeface="Times New Roman"/>
              </a:rPr>
              <a:t>However, manual breed identification by field workers often leads to </a:t>
            </a:r>
            <a:r>
              <a:rPr lang="en-US" sz="2000" b="1">
                <a:latin typeface="Times New Roman"/>
                <a:ea typeface="+mn-lt"/>
                <a:cs typeface="Times New Roman"/>
              </a:rPr>
              <a:t>misclassification, </a:t>
            </a:r>
            <a:r>
              <a:rPr lang="en-US" sz="2000">
                <a:latin typeface="Times New Roman"/>
                <a:ea typeface="+mn-lt"/>
                <a:cs typeface="Times New Roman"/>
              </a:rPr>
              <a:t>so this project proposes an </a:t>
            </a:r>
            <a:r>
              <a:rPr lang="en-US" sz="2000" b="1">
                <a:latin typeface="Times New Roman"/>
                <a:ea typeface="+mn-lt"/>
                <a:cs typeface="Times New Roman"/>
              </a:rPr>
              <a:t>AI-based YOLO model</a:t>
            </a:r>
            <a:r>
              <a:rPr lang="en-US" sz="2000">
                <a:latin typeface="Times New Roman"/>
                <a:ea typeface="+mn-lt"/>
                <a:cs typeface="Times New Roman"/>
              </a:rPr>
              <a:t> to classify cattle and buffalo breeds from images.</a:t>
            </a:r>
          </a:p>
          <a:p>
            <a:pPr marL="342900" marR="0" lvl="0" indent="-342900" algn="just" defTabSz="914400">
              <a:lnSpc>
                <a:spcPct val="100000"/>
              </a:lnSpc>
              <a:buClrTx/>
              <a:buSzTx/>
              <a:buFont typeface="Arial"/>
              <a:buChar char="•"/>
              <a:tabLst/>
            </a:pPr>
            <a:endParaRPr lang="en-US" sz="2000" b="0" i="0" u="none" strike="noStrike" cap="none" normalizeH="0" baseline="0" dirty="0">
              <a:ln>
                <a:noFill/>
              </a:ln>
              <a:effectLst/>
              <a:latin typeface="Times New Roman"/>
              <a:ea typeface="Calibri"/>
              <a:cs typeface="Times New Roman"/>
            </a:endParaRPr>
          </a:p>
        </p:txBody>
      </p:sp>
    </p:spTree>
    <p:extLst>
      <p:ext uri="{BB962C8B-B14F-4D97-AF65-F5344CB8AC3E}">
        <p14:creationId xmlns:p14="http://schemas.microsoft.com/office/powerpoint/2010/main" val="1642172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DD2FE-7F40-4D18-9574-7CAE12DA18BD}"/>
              </a:ext>
            </a:extLst>
          </p:cNvPr>
          <p:cNvSpPr>
            <a:spLocks noGrp="1"/>
          </p:cNvSpPr>
          <p:nvPr>
            <p:ph type="title"/>
          </p:nvPr>
        </p:nvSpPr>
        <p:spPr>
          <a:xfrm>
            <a:off x="457200" y="73276"/>
            <a:ext cx="8229600" cy="1143000"/>
          </a:xfrm>
        </p:spPr>
        <p:txBody>
          <a:bodyPr>
            <a:normAutofit/>
          </a:bodyPr>
          <a:lstStyle/>
          <a:p>
            <a:r>
              <a:rPr lang="en-IN" sz="3600" dirty="0">
                <a:latin typeface="Times New Roman" panose="02020603050405020304" pitchFamily="18" charset="0"/>
                <a:cs typeface="Times New Roman" panose="02020603050405020304" pitchFamily="18" charset="0"/>
              </a:rPr>
              <a:t>Abstract</a:t>
            </a:r>
          </a:p>
        </p:txBody>
      </p:sp>
      <p:sp>
        <p:nvSpPr>
          <p:cNvPr id="3" name="Date Placeholder 2">
            <a:extLst>
              <a:ext uri="{FF2B5EF4-FFF2-40B4-BE49-F238E27FC236}">
                <a16:creationId xmlns:a16="http://schemas.microsoft.com/office/drawing/2014/main" id="{B3A9B340-E243-A3B7-E1C7-8954E365AD7D}"/>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F0703EF1-A9FF-44EC-06CD-BBBBE2CCBD99}"/>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11E288B6-5DD0-5EA5-3C19-292AD2C1079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7" name="Date Placeholder 3">
            <a:extLst>
              <a:ext uri="{FF2B5EF4-FFF2-40B4-BE49-F238E27FC236}">
                <a16:creationId xmlns:a16="http://schemas.microsoft.com/office/drawing/2014/main" id="{8DE65CA5-C756-DCD7-9D01-EF4787C193A4}"/>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430951A-62F7-42F0-9D39-0DCD21F5717B}" type="datetime5">
              <a:rPr lang="en-US" smtClean="0"/>
              <a:pPr/>
              <a:t>8-Mar-26</a:t>
            </a:fld>
            <a:endParaRPr lang="en-US"/>
          </a:p>
        </p:txBody>
      </p:sp>
      <p:sp>
        <p:nvSpPr>
          <p:cNvPr id="8" name="Slide Number Placeholder 5">
            <a:extLst>
              <a:ext uri="{FF2B5EF4-FFF2-40B4-BE49-F238E27FC236}">
                <a16:creationId xmlns:a16="http://schemas.microsoft.com/office/drawing/2014/main" id="{D1D8EAD2-026D-0402-0F51-6D90FADE738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a:t>
            </a:fld>
            <a:endParaRPr lang="en-US"/>
          </a:p>
        </p:txBody>
      </p:sp>
      <p:sp>
        <p:nvSpPr>
          <p:cNvPr id="9" name="Rectangle 8">
            <a:extLst>
              <a:ext uri="{FF2B5EF4-FFF2-40B4-BE49-F238E27FC236}">
                <a16:creationId xmlns:a16="http://schemas.microsoft.com/office/drawing/2014/main" id="{4A7E2DA0-2ED1-09E6-866A-42D7FFDEDAF3}"/>
              </a:ext>
            </a:extLst>
          </p:cNvPr>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10" name="Rectangle 9">
            <a:extLst>
              <a:ext uri="{FF2B5EF4-FFF2-40B4-BE49-F238E27FC236}">
                <a16:creationId xmlns:a16="http://schemas.microsoft.com/office/drawing/2014/main" id="{74852E19-A14A-5437-D16F-3EAB10534FA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Footer Placeholder 4">
            <a:extLst>
              <a:ext uri="{FF2B5EF4-FFF2-40B4-BE49-F238E27FC236}">
                <a16:creationId xmlns:a16="http://schemas.microsoft.com/office/drawing/2014/main" id="{CF1A8E49-F324-4442-7007-F8C1B711CA8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2" name="TextBox 11">
            <a:extLst>
              <a:ext uri="{FF2B5EF4-FFF2-40B4-BE49-F238E27FC236}">
                <a16:creationId xmlns:a16="http://schemas.microsoft.com/office/drawing/2014/main" id="{EA26112A-B1BD-EA58-3696-DE8AB91A0D72}"/>
              </a:ext>
            </a:extLst>
          </p:cNvPr>
          <p:cNvSpPr txBox="1"/>
          <p:nvPr/>
        </p:nvSpPr>
        <p:spPr>
          <a:xfrm>
            <a:off x="1524000" y="1447800"/>
            <a:ext cx="7239000" cy="4093428"/>
          </a:xfrm>
          <a:prstGeom prst="rect">
            <a:avLst/>
          </a:prstGeom>
          <a:noFill/>
        </p:spPr>
        <p:txBody>
          <a:bodyPr wrap="square" lIns="91440" tIns="45720" rIns="91440" bIns="45720" anchor="t">
            <a:spAutoFit/>
          </a:bodyPr>
          <a:lstStyle/>
          <a:p>
            <a:pPr algn="just"/>
            <a:r>
              <a:rPr lang="en-US" sz="2000" dirty="0">
                <a:latin typeface="Times New Roman"/>
                <a:ea typeface="+mn-lt"/>
                <a:cs typeface="Times New Roman"/>
              </a:rPr>
              <a:t>India is home to </a:t>
            </a:r>
            <a:r>
              <a:rPr lang="en-US" sz="2000" b="1" dirty="0">
                <a:latin typeface="Times New Roman"/>
                <a:ea typeface="+mn-lt"/>
                <a:cs typeface="Times New Roman"/>
              </a:rPr>
              <a:t>50+ recognized cattle and buffalo breeds</a:t>
            </a:r>
            <a:r>
              <a:rPr lang="en-US" sz="2000" dirty="0">
                <a:latin typeface="Times New Roman"/>
                <a:ea typeface="+mn-lt"/>
                <a:cs typeface="Times New Roman"/>
              </a:rPr>
              <a:t>, each with unique genetic, productivity, and disease-resistance traits. Accurate breed identification is vital for </a:t>
            </a:r>
            <a:r>
              <a:rPr lang="en-US" sz="2000" b="1" dirty="0">
                <a:latin typeface="Times New Roman"/>
                <a:ea typeface="+mn-lt"/>
                <a:cs typeface="Times New Roman"/>
              </a:rPr>
              <a:t>breeding, nutrition planning, and disease control</a:t>
            </a:r>
            <a:r>
              <a:rPr lang="en-US" sz="2000" dirty="0">
                <a:latin typeface="Times New Roman"/>
                <a:ea typeface="+mn-lt"/>
                <a:cs typeface="Times New Roman"/>
              </a:rPr>
              <a:t>. Currently, </a:t>
            </a:r>
            <a:r>
              <a:rPr lang="en-US" sz="2000" b="1" dirty="0">
                <a:latin typeface="Times New Roman"/>
                <a:ea typeface="+mn-lt"/>
                <a:cs typeface="Times New Roman"/>
              </a:rPr>
              <a:t>manual identification by FLWs</a:t>
            </a:r>
            <a:r>
              <a:rPr lang="en-US" sz="2000" dirty="0">
                <a:latin typeface="Times New Roman"/>
                <a:ea typeface="+mn-lt"/>
                <a:cs typeface="Times New Roman"/>
              </a:rPr>
              <a:t> leads to frequent misclassification, resulting in poor-quality data in national livestock databases.</a:t>
            </a:r>
            <a:endParaRPr lang="en-US" dirty="0">
              <a:latin typeface="Times New Roman"/>
              <a:cs typeface="Times New Roman"/>
            </a:endParaRPr>
          </a:p>
          <a:p>
            <a:pPr algn="just"/>
            <a:br>
              <a:rPr lang="en-US" sz="2000" dirty="0">
                <a:latin typeface="Times New Roman"/>
                <a:cs typeface="Times New Roman"/>
              </a:rPr>
            </a:br>
            <a:r>
              <a:rPr lang="en-US" sz="2000" dirty="0">
                <a:latin typeface="Times New Roman"/>
                <a:ea typeface="+mn-lt"/>
                <a:cs typeface="Times New Roman"/>
              </a:rPr>
              <a:t>This project proposes a deep learning–based breed identification system using image-based analysis, which will detect and classify breeds from captured images.</a:t>
            </a:r>
            <a:endParaRPr lang="en-US" dirty="0">
              <a:latin typeface="Times New Roman"/>
              <a:cs typeface="Times New Roman"/>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Suggest accurate breed names in real time.</a:t>
            </a:r>
            <a:endParaRPr lang="en-US"/>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 reliability of government records and assist in effective policy-making</a:t>
            </a:r>
            <a:endParaRPr lang="en-US"/>
          </a:p>
        </p:txBody>
      </p:sp>
    </p:spTree>
    <p:extLst>
      <p:ext uri="{BB962C8B-B14F-4D97-AF65-F5344CB8AC3E}">
        <p14:creationId xmlns:p14="http://schemas.microsoft.com/office/powerpoint/2010/main" val="279332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472C55-85D3-A634-8328-A6BCBCC8F626}"/>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FB79C5B5-E2A5-5071-10AD-5C054DD2DECE}"/>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69FA6722-0470-662A-DA24-1C0A8D0931CC}"/>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6" name="Title 1">
            <a:extLst>
              <a:ext uri="{FF2B5EF4-FFF2-40B4-BE49-F238E27FC236}">
                <a16:creationId xmlns:a16="http://schemas.microsoft.com/office/drawing/2014/main" id="{27E857D5-51BC-65A3-53F3-C45EA880FB35}"/>
              </a:ext>
            </a:extLst>
          </p:cNvPr>
          <p:cNvSpPr txBox="1">
            <a:spLocks/>
          </p:cNvSpPr>
          <p:nvPr/>
        </p:nvSpPr>
        <p:spPr>
          <a:xfrm>
            <a:off x="685800" y="32067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600" dirty="0">
                <a:latin typeface="Times New Roman" panose="02020603050405020304" pitchFamily="18" charset="0"/>
                <a:cs typeface="Times New Roman" panose="02020603050405020304" pitchFamily="18" charset="0"/>
              </a:rPr>
              <a:t>Problem Statement</a:t>
            </a:r>
          </a:p>
        </p:txBody>
      </p:sp>
      <p:sp>
        <p:nvSpPr>
          <p:cNvPr id="7" name="Date Placeholder 2">
            <a:extLst>
              <a:ext uri="{FF2B5EF4-FFF2-40B4-BE49-F238E27FC236}">
                <a16:creationId xmlns:a16="http://schemas.microsoft.com/office/drawing/2014/main" id="{CAA34B32-1A65-2C4B-9C32-D9CC239691F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8" name="Footer Placeholder 3">
            <a:extLst>
              <a:ext uri="{FF2B5EF4-FFF2-40B4-BE49-F238E27FC236}">
                <a16:creationId xmlns:a16="http://schemas.microsoft.com/office/drawing/2014/main" id="{827B436C-9374-F8A2-F6C2-F6A036979DE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9" name="Slide Number Placeholder 4">
            <a:extLst>
              <a:ext uri="{FF2B5EF4-FFF2-40B4-BE49-F238E27FC236}">
                <a16:creationId xmlns:a16="http://schemas.microsoft.com/office/drawing/2014/main" id="{B912CA71-028C-195B-5EA3-8A4899394AB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5</a:t>
            </a:fld>
            <a:endParaRPr lang="en-US"/>
          </a:p>
        </p:txBody>
      </p:sp>
      <p:sp>
        <p:nvSpPr>
          <p:cNvPr id="10" name="Date Placeholder 3">
            <a:extLst>
              <a:ext uri="{FF2B5EF4-FFF2-40B4-BE49-F238E27FC236}">
                <a16:creationId xmlns:a16="http://schemas.microsoft.com/office/drawing/2014/main" id="{4C462149-A923-6D31-AD70-97560214511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430951A-62F7-42F0-9D39-0DCD21F5717B}" type="datetime5">
              <a:rPr lang="en-US" smtClean="0"/>
              <a:pPr/>
              <a:t>8-Mar-26</a:t>
            </a:fld>
            <a:endParaRPr lang="en-US"/>
          </a:p>
        </p:txBody>
      </p:sp>
      <p:sp>
        <p:nvSpPr>
          <p:cNvPr id="11" name="Slide Number Placeholder 5">
            <a:extLst>
              <a:ext uri="{FF2B5EF4-FFF2-40B4-BE49-F238E27FC236}">
                <a16:creationId xmlns:a16="http://schemas.microsoft.com/office/drawing/2014/main" id="{45AB5346-C5A5-402C-E652-FB24F5BDC0E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5</a:t>
            </a:fld>
            <a:endParaRPr lang="en-US"/>
          </a:p>
        </p:txBody>
      </p:sp>
      <p:sp>
        <p:nvSpPr>
          <p:cNvPr id="12" name="Rectangle 11">
            <a:extLst>
              <a:ext uri="{FF2B5EF4-FFF2-40B4-BE49-F238E27FC236}">
                <a16:creationId xmlns:a16="http://schemas.microsoft.com/office/drawing/2014/main" id="{102D2EF6-3183-C7B1-BAB5-551587A146D3}"/>
              </a:ext>
            </a:extLst>
          </p:cNvPr>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13" name="Rectangle 12">
            <a:extLst>
              <a:ext uri="{FF2B5EF4-FFF2-40B4-BE49-F238E27FC236}">
                <a16:creationId xmlns:a16="http://schemas.microsoft.com/office/drawing/2014/main" id="{F6A5D205-7050-EBF9-4B81-516641B5285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4" name="Footer Placeholder 4">
            <a:extLst>
              <a:ext uri="{FF2B5EF4-FFF2-40B4-BE49-F238E27FC236}">
                <a16:creationId xmlns:a16="http://schemas.microsoft.com/office/drawing/2014/main" id="{6AC5C963-321C-E77D-5379-182CB27B7DF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9" name="Rectangle 4">
            <a:extLst>
              <a:ext uri="{FF2B5EF4-FFF2-40B4-BE49-F238E27FC236}">
                <a16:creationId xmlns:a16="http://schemas.microsoft.com/office/drawing/2014/main" id="{F1EB7F98-84B2-25EE-2E54-60670FB59357}"/>
              </a:ext>
            </a:extLst>
          </p:cNvPr>
          <p:cNvSpPr>
            <a:spLocks noChangeArrowheads="1"/>
          </p:cNvSpPr>
          <p:nvPr/>
        </p:nvSpPr>
        <p:spPr bwMode="auto">
          <a:xfrm>
            <a:off x="1573161" y="1784350"/>
            <a:ext cx="688503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livestock breed identification: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Depends heavily on human expertise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Leads to </a:t>
            </a:r>
            <a:r>
              <a:rPr lang="en-US" sz="2000" b="1" dirty="0">
                <a:latin typeface="Times New Roman" panose="02020603050405020304" pitchFamily="18" charset="0"/>
                <a:cs typeface="Times New Roman" panose="02020603050405020304" pitchFamily="18" charset="0"/>
              </a:rPr>
              <a:t>misclassification</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Causes </a:t>
            </a:r>
            <a:r>
              <a:rPr lang="en-US" sz="2000" b="1" dirty="0">
                <a:latin typeface="Times New Roman" panose="02020603050405020304" pitchFamily="18" charset="0"/>
                <a:cs typeface="Times New Roman" panose="02020603050405020304" pitchFamily="18" charset="0"/>
              </a:rPr>
              <a:t>incorrect livestock database entries</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Affects government schemes, insurance, and breeding strategies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is </a:t>
            </a:r>
            <a:r>
              <a:rPr lang="en-US" sz="2000" b="1" dirty="0">
                <a:latin typeface="Times New Roman" panose="02020603050405020304" pitchFamily="18" charset="0"/>
                <a:cs typeface="Times New Roman" panose="02020603050405020304" pitchFamily="18" charset="0"/>
              </a:rPr>
              <a:t>no scalable, automated, and accurate system</a:t>
            </a:r>
            <a:r>
              <a:rPr lang="en-US" sz="2000" dirty="0">
                <a:latin typeface="Times New Roman" panose="02020603050405020304" pitchFamily="18" charset="0"/>
                <a:cs typeface="Times New Roman" panose="02020603050405020304" pitchFamily="18" charset="0"/>
              </a:rPr>
              <a:t> available for breed identification in real-time field conditions.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939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D5EABC-85BB-F0B4-1A49-C82786EA5685}"/>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F3C10BE2-A62E-BE54-EFD5-68A4A61A9B29}"/>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EAA77FDC-FA17-9DCB-E571-7A3F4E9A58F7}"/>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itle 1">
            <a:extLst>
              <a:ext uri="{FF2B5EF4-FFF2-40B4-BE49-F238E27FC236}">
                <a16:creationId xmlns:a16="http://schemas.microsoft.com/office/drawing/2014/main" id="{C9847A62-6FAF-5BC8-7BDA-8B2347930651}"/>
              </a:ext>
            </a:extLst>
          </p:cNvPr>
          <p:cNvSpPr txBox="1">
            <a:spLocks/>
          </p:cNvSpPr>
          <p:nvPr/>
        </p:nvSpPr>
        <p:spPr>
          <a:xfrm>
            <a:off x="457200" y="20076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1</a:t>
            </a:r>
            <a:endParaRPr lang="en-IN" sz="28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CC8E6A2-5F2C-DFA0-0E9F-991249982EE6}"/>
              </a:ext>
            </a:extLst>
          </p:cNvPr>
          <p:cNvSpPr txBox="1">
            <a:spLocks/>
          </p:cNvSpPr>
          <p:nvPr/>
        </p:nvSpPr>
        <p:spPr>
          <a:xfrm>
            <a:off x="1447800" y="1544536"/>
            <a:ext cx="7162800" cy="4373563"/>
          </a:xfrm>
          <a:prstGeom prst="rect">
            <a:avLst/>
          </a:prstGeom>
        </p:spPr>
        <p:txBody>
          <a:bodyPr lIns="91440" tIns="45720" rIns="91440" bIns="4572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b="1" dirty="0">
                <a:latin typeface="Times New Roman"/>
                <a:cs typeface="Times New Roman"/>
              </a:rPr>
              <a:t>Image-Based Breed Recognition of Indian Cattle and Buffaloes Using YOLOv12 and </a:t>
            </a:r>
            <a:r>
              <a:rPr lang="en-US" sz="2000" b="1" err="1">
                <a:latin typeface="Times New Roman"/>
                <a:cs typeface="Times New Roman"/>
              </a:rPr>
              <a:t>Roboflow</a:t>
            </a:r>
            <a:r>
              <a:rPr lang="en-US" sz="2000" b="1" dirty="0">
                <a:latin typeface="Times New Roman"/>
                <a:cs typeface="Times New Roman"/>
              </a:rPr>
              <a:t> Cloud Platform </a:t>
            </a:r>
            <a:r>
              <a:rPr lang="en-US" sz="2000" b="1">
                <a:latin typeface="Times New Roman"/>
                <a:cs typeface="Times New Roman"/>
              </a:rPr>
              <a:t>(Year:2025)</a:t>
            </a:r>
            <a:br>
              <a:rPr lang="en-US" sz="2000" dirty="0">
                <a:latin typeface="Times New Roman" panose="02020603050405020304" pitchFamily="18" charset="0"/>
                <a:cs typeface="Times New Roman" panose="02020603050405020304" pitchFamily="18" charset="0"/>
              </a:rPr>
            </a:br>
            <a:r>
              <a:rPr lang="en-US" sz="2000" b="1">
                <a:latin typeface="Times New Roman"/>
                <a:cs typeface="Times New Roman"/>
              </a:rPr>
              <a:t>Authors:</a:t>
            </a:r>
            <a:r>
              <a:rPr lang="en-US" sz="2000" dirty="0">
                <a:latin typeface="Times New Roman"/>
                <a:cs typeface="Times New Roman"/>
              </a:rPr>
              <a:t> Aashish Chauhan, Ajit Kumar Gupta, Garvit Paliwal, Gautam Singh, Harshit Singh, Dr. Umesh Dwivedi</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study presents </a:t>
            </a:r>
            <a:r>
              <a:rPr lang="en-US" sz="2000" b="1" dirty="0" err="1">
                <a:latin typeface="Times New Roman" panose="02020603050405020304" pitchFamily="18" charset="0"/>
                <a:cs typeface="Times New Roman" panose="02020603050405020304" pitchFamily="18" charset="0"/>
              </a:rPr>
              <a:t>BreedVision</a:t>
            </a:r>
            <a:r>
              <a:rPr lang="en-US" sz="2000" dirty="0">
                <a:latin typeface="Times New Roman" panose="02020603050405020304" pitchFamily="18" charset="0"/>
                <a:cs typeface="Times New Roman" panose="02020603050405020304" pitchFamily="18" charset="0"/>
              </a:rPr>
              <a:t>, an AI-powered web system for automated cattle and buffalo breed recognition. The approach uses </a:t>
            </a:r>
            <a:r>
              <a:rPr lang="en-US" sz="2000" b="1" dirty="0">
                <a:latin typeface="Times New Roman" panose="02020603050405020304" pitchFamily="18" charset="0"/>
                <a:cs typeface="Times New Roman" panose="02020603050405020304" pitchFamily="18" charset="0"/>
              </a:rPr>
              <a:t>YOLOv12 object detection</a:t>
            </a:r>
            <a:r>
              <a:rPr lang="en-US" sz="2000" dirty="0">
                <a:latin typeface="Times New Roman" panose="02020603050405020304" pitchFamily="18" charset="0"/>
                <a:cs typeface="Times New Roman" panose="02020603050405020304" pitchFamily="18" charset="0"/>
              </a:rPr>
              <a:t> trained on </a:t>
            </a:r>
            <a:r>
              <a:rPr lang="en-US" sz="2000" b="1" dirty="0">
                <a:latin typeface="Times New Roman" panose="02020603050405020304" pitchFamily="18" charset="0"/>
                <a:cs typeface="Times New Roman" panose="02020603050405020304" pitchFamily="18" charset="0"/>
              </a:rPr>
              <a:t>3,683 annotated images</a:t>
            </a:r>
            <a:r>
              <a:rPr lang="en-US" sz="2000" dirty="0">
                <a:latin typeface="Times New Roman" panose="02020603050405020304" pitchFamily="18" charset="0"/>
                <a:cs typeface="Times New Roman" panose="02020603050405020304" pitchFamily="18" charset="0"/>
              </a:rPr>
              <a:t> covering 15 major Indian breeds. </a:t>
            </a:r>
          </a:p>
          <a:p>
            <a:pPr algn="just"/>
            <a:r>
              <a:rPr lang="en-US" sz="2000" dirty="0">
                <a:latin typeface="Times New Roman" panose="02020603050405020304" pitchFamily="18" charset="0"/>
                <a:cs typeface="Times New Roman" panose="02020603050405020304" pitchFamily="18" charset="0"/>
              </a:rPr>
              <a:t>Real-time classification is achieved by integrating ReactJS frontend with a Python Flask backend and a </a:t>
            </a:r>
            <a:r>
              <a:rPr lang="en-US" sz="2000" dirty="0" err="1">
                <a:latin typeface="Times New Roman" panose="02020603050405020304" pitchFamily="18" charset="0"/>
                <a:cs typeface="Times New Roman" panose="02020603050405020304" pitchFamily="18" charset="0"/>
              </a:rPr>
              <a:t>Roboflow</a:t>
            </a:r>
            <a:r>
              <a:rPr lang="en-US" sz="2000" dirty="0">
                <a:latin typeface="Times New Roman" panose="02020603050405020304" pitchFamily="18" charset="0"/>
                <a:cs typeface="Times New Roman" panose="02020603050405020304" pitchFamily="18" charset="0"/>
              </a:rPr>
              <a:t> cloud inference engine</a:t>
            </a:r>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F9C6725E-6E84-ED67-886B-B92AE3232D8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0" name="Slide Number Placeholder 5">
            <a:extLst>
              <a:ext uri="{FF2B5EF4-FFF2-40B4-BE49-F238E27FC236}">
                <a16:creationId xmlns:a16="http://schemas.microsoft.com/office/drawing/2014/main" id="{C593C9B7-B00F-149A-903C-691ABF64594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6</a:t>
            </a:fld>
            <a:endParaRPr lang="en-US"/>
          </a:p>
        </p:txBody>
      </p:sp>
      <p:sp>
        <p:nvSpPr>
          <p:cNvPr id="11" name="Rectangle 10">
            <a:extLst>
              <a:ext uri="{FF2B5EF4-FFF2-40B4-BE49-F238E27FC236}">
                <a16:creationId xmlns:a16="http://schemas.microsoft.com/office/drawing/2014/main" id="{7C883BE2-0BE1-8D70-F142-2B9A9C4451F9}"/>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437611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6617812-0D37-AC8D-606E-6F719EA79A60}"/>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8FE0B690-47F1-E33B-4831-7BAA968B40E3}"/>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5D796D99-C2E7-A5A9-DF7F-62E3F489AF86}"/>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Title 1">
            <a:extLst>
              <a:ext uri="{FF2B5EF4-FFF2-40B4-BE49-F238E27FC236}">
                <a16:creationId xmlns:a16="http://schemas.microsoft.com/office/drawing/2014/main" id="{A2B70E9F-9D34-6F06-A7C5-0B89058345BF}"/>
              </a:ext>
            </a:extLst>
          </p:cNvPr>
          <p:cNvSpPr txBox="1">
            <a:spLocks/>
          </p:cNvSpPr>
          <p:nvPr/>
        </p:nvSpPr>
        <p:spPr>
          <a:xfrm>
            <a:off x="457200" y="19014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2</a:t>
            </a:r>
            <a:endParaRPr lang="en-IN" sz="2800" b="1" dirty="0"/>
          </a:p>
        </p:txBody>
      </p:sp>
      <p:sp>
        <p:nvSpPr>
          <p:cNvPr id="7" name="Date Placeholder 3">
            <a:extLst>
              <a:ext uri="{FF2B5EF4-FFF2-40B4-BE49-F238E27FC236}">
                <a16:creationId xmlns:a16="http://schemas.microsoft.com/office/drawing/2014/main" id="{DBA23CCA-7BA8-988A-CA3F-AE43219540BB}"/>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8" name="Footer Placeholder 4">
            <a:extLst>
              <a:ext uri="{FF2B5EF4-FFF2-40B4-BE49-F238E27FC236}">
                <a16:creationId xmlns:a16="http://schemas.microsoft.com/office/drawing/2014/main" id="{5570F33C-F32E-CADE-AE7D-DA662BA9050E}"/>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9" name="Slide Number Placeholder 5">
            <a:extLst>
              <a:ext uri="{FF2B5EF4-FFF2-40B4-BE49-F238E27FC236}">
                <a16:creationId xmlns:a16="http://schemas.microsoft.com/office/drawing/2014/main" id="{264D867C-C311-5CCC-3062-A340F22EFB8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a:t>
            </a:fld>
            <a:endParaRPr lang="en-US"/>
          </a:p>
        </p:txBody>
      </p:sp>
      <p:sp>
        <p:nvSpPr>
          <p:cNvPr id="10" name="Rectangle 9">
            <a:extLst>
              <a:ext uri="{FF2B5EF4-FFF2-40B4-BE49-F238E27FC236}">
                <a16:creationId xmlns:a16="http://schemas.microsoft.com/office/drawing/2014/main" id="{F0D7B9A7-B17A-500B-0AEB-99C8D6A2A31D}"/>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Content Placeholder 8">
            <a:extLst>
              <a:ext uri="{FF2B5EF4-FFF2-40B4-BE49-F238E27FC236}">
                <a16:creationId xmlns:a16="http://schemas.microsoft.com/office/drawing/2014/main" id="{D320C28F-B24A-F6AD-CE59-C30D1855077E}"/>
              </a:ext>
            </a:extLst>
          </p:cNvPr>
          <p:cNvSpPr txBox="1">
            <a:spLocks/>
          </p:cNvSpPr>
          <p:nvPr/>
        </p:nvSpPr>
        <p:spPr>
          <a:xfrm>
            <a:off x="1219200" y="1333142"/>
            <a:ext cx="7467600" cy="479302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Development of a Lightweight Deep Learning Model for the Identification and Classification of Indigenous Cattle Breeds (Year: 2025)</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Shruti Arya, Indu Devi, Divyanshu Singh Tomar, Man Singh, Radhika </a:t>
            </a:r>
            <a:r>
              <a:rPr lang="en-US" sz="2000" dirty="0" err="1">
                <a:latin typeface="Times New Roman" panose="02020603050405020304" pitchFamily="18" charset="0"/>
                <a:cs typeface="Times New Roman" panose="02020603050405020304" pitchFamily="18" charset="0"/>
              </a:rPr>
              <a:t>Warhade</a:t>
            </a:r>
            <a:r>
              <a:rPr lang="en-US" sz="2000" dirty="0">
                <a:latin typeface="Times New Roman" panose="02020603050405020304" pitchFamily="18" charset="0"/>
                <a:cs typeface="Times New Roman" panose="02020603050405020304" pitchFamily="18" charset="0"/>
              </a:rPr>
              <a:t>, Anshul Gautam, T. K. Mohanty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research focuses on </a:t>
            </a:r>
            <a:r>
              <a:rPr lang="en-US" sz="2000" b="1" dirty="0">
                <a:latin typeface="Times New Roman" panose="02020603050405020304" pitchFamily="18" charset="0"/>
                <a:cs typeface="Times New Roman" panose="02020603050405020304" pitchFamily="18" charset="0"/>
              </a:rPr>
              <a:t>differentiating phenotypically similar indigenous cattle breeds</a:t>
            </a:r>
            <a:r>
              <a:rPr lang="en-US" sz="2000" dirty="0">
                <a:latin typeface="Times New Roman" panose="02020603050405020304" pitchFamily="18" charset="0"/>
                <a:cs typeface="Times New Roman" panose="02020603050405020304" pitchFamily="18" charset="0"/>
              </a:rPr>
              <a:t> (e.g., </a:t>
            </a:r>
            <a:r>
              <a:rPr lang="en-US" sz="2000" dirty="0" err="1">
                <a:latin typeface="Times New Roman" panose="02020603050405020304" pitchFamily="18" charset="0"/>
                <a:cs typeface="Times New Roman" panose="02020603050405020304" pitchFamily="18" charset="0"/>
              </a:rPr>
              <a:t>Tharparkar</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Hariana</a:t>
            </a:r>
            <a:r>
              <a:rPr lang="en-US" sz="2000" dirty="0">
                <a:latin typeface="Times New Roman" panose="02020603050405020304" pitchFamily="18" charset="0"/>
                <a:cs typeface="Times New Roman" panose="02020603050405020304" pitchFamily="18" charset="0"/>
              </a:rPr>
              <a:t>) using a deep learning-based segmentation and classification pipeline. This work highlights the challenge of similar visual appearance and the need for segmentation before classification in breed recognition.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568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B8DB71-60B4-89D5-A260-6C44195677A6}"/>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EB7B8C89-B9E9-2DB8-ED08-267A2D4FD5A6}"/>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D73361C2-B517-393C-F114-3D3C9457CFFC}"/>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Title 1">
            <a:extLst>
              <a:ext uri="{FF2B5EF4-FFF2-40B4-BE49-F238E27FC236}">
                <a16:creationId xmlns:a16="http://schemas.microsoft.com/office/drawing/2014/main" id="{AC28DDCB-3D45-EA4F-9C07-3C1F248DCFF7}"/>
              </a:ext>
            </a:extLst>
          </p:cNvPr>
          <p:cNvSpPr txBox="1">
            <a:spLocks/>
          </p:cNvSpPr>
          <p:nvPr/>
        </p:nvSpPr>
        <p:spPr>
          <a:xfrm>
            <a:off x="457200" y="160337"/>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3</a:t>
            </a:r>
            <a:endParaRPr lang="en-IN" sz="2800" b="1" dirty="0"/>
          </a:p>
        </p:txBody>
      </p:sp>
      <p:sp>
        <p:nvSpPr>
          <p:cNvPr id="7" name="Content Placeholder 2">
            <a:extLst>
              <a:ext uri="{FF2B5EF4-FFF2-40B4-BE49-F238E27FC236}">
                <a16:creationId xmlns:a16="http://schemas.microsoft.com/office/drawing/2014/main" id="{89C859B4-7810-7B11-8EAE-418795E45140}"/>
              </a:ext>
            </a:extLst>
          </p:cNvPr>
          <p:cNvSpPr txBox="1">
            <a:spLocks/>
          </p:cNvSpPr>
          <p:nvPr/>
        </p:nvSpPr>
        <p:spPr>
          <a:xfrm>
            <a:off x="1219200" y="1303337"/>
            <a:ext cx="7467600" cy="442405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panose="02020603050405020304" pitchFamily="18" charset="0"/>
                <a:cs typeface="Times New Roman" panose="02020603050405020304" pitchFamily="18" charset="0"/>
              </a:rPr>
              <a:t>Buffalo Identification in Mixed-Species Environments: A Comparative Deep Learning Approach Using ResNet50 and EfficientNetB3 (Year: 2025)</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Authors:</a:t>
            </a:r>
            <a:r>
              <a:rPr lang="en-IN" sz="2000" dirty="0">
                <a:latin typeface="Times New Roman" panose="02020603050405020304" pitchFamily="18" charset="0"/>
                <a:cs typeface="Times New Roman" panose="02020603050405020304" pitchFamily="18" charset="0"/>
              </a:rPr>
              <a:t> Nagaraj Naik (Manipal Institute of Technology), Ramu S. (</a:t>
            </a:r>
            <a:r>
              <a:rPr lang="en-IN" sz="2000" dirty="0" err="1">
                <a:latin typeface="Times New Roman" panose="02020603050405020304" pitchFamily="18" charset="0"/>
                <a:cs typeface="Times New Roman" panose="02020603050405020304" pitchFamily="18" charset="0"/>
              </a:rPr>
              <a:t>Siddaganga</a:t>
            </a:r>
            <a:r>
              <a:rPr lang="en-IN" sz="2000" dirty="0">
                <a:latin typeface="Times New Roman" panose="02020603050405020304" pitchFamily="18" charset="0"/>
                <a:cs typeface="Times New Roman" panose="02020603050405020304" pitchFamily="18" charset="0"/>
              </a:rPr>
              <a:t> Institute of Technology)</a:t>
            </a:r>
          </a:p>
          <a:p>
            <a:pPr marL="0" indent="0">
              <a:buFont typeface="Arial" pitchFamily="34" charse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study compares the performance of </a:t>
            </a:r>
            <a:r>
              <a:rPr lang="en-IN" sz="2000" b="1" dirty="0">
                <a:latin typeface="Times New Roman" panose="02020603050405020304" pitchFamily="18" charset="0"/>
                <a:cs typeface="Times New Roman" panose="02020603050405020304" pitchFamily="18" charset="0"/>
              </a:rPr>
              <a:t>ResNet50 and EfficientNetB3</a:t>
            </a:r>
            <a:r>
              <a:rPr lang="en-IN" sz="2000" dirty="0">
                <a:latin typeface="Times New Roman" panose="02020603050405020304" pitchFamily="18" charset="0"/>
                <a:cs typeface="Times New Roman" panose="02020603050405020304" pitchFamily="18" charset="0"/>
              </a:rPr>
              <a:t> for visual buffalo identification in mixed species scenarios. By curating a balanced dataset with multiple classes (buffalo, elephant, rhino, zebra), the research evaluates how CNN architectures distinguish buffaloes from other large mammals, demonstrating the effectiveness of deeper networks in complex visual classification challenges</a:t>
            </a:r>
          </a:p>
          <a:p>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DF64957F-224B-7CEF-491E-981ED114624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9" name="Footer Placeholder 4">
            <a:extLst>
              <a:ext uri="{FF2B5EF4-FFF2-40B4-BE49-F238E27FC236}">
                <a16:creationId xmlns:a16="http://schemas.microsoft.com/office/drawing/2014/main" id="{9EC409DF-59DE-70F5-1E31-74EA287D5CB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0" name="Slide Number Placeholder 5">
            <a:extLst>
              <a:ext uri="{FF2B5EF4-FFF2-40B4-BE49-F238E27FC236}">
                <a16:creationId xmlns:a16="http://schemas.microsoft.com/office/drawing/2014/main" id="{F876D60E-F281-2E41-F9B9-4DF4828DECE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8</a:t>
            </a:fld>
            <a:endParaRPr lang="en-US"/>
          </a:p>
        </p:txBody>
      </p:sp>
      <p:sp>
        <p:nvSpPr>
          <p:cNvPr id="11" name="Rectangle 10">
            <a:extLst>
              <a:ext uri="{FF2B5EF4-FFF2-40B4-BE49-F238E27FC236}">
                <a16:creationId xmlns:a16="http://schemas.microsoft.com/office/drawing/2014/main" id="{22DD39DE-4A9F-FA5C-278B-1EC42FC3169B}"/>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9429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D912-6D7C-0392-E2CF-9AFB17D04BC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0CAE12A-99A9-F908-D9BB-165EB4336FC2}"/>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AC06CA20-4039-50F2-4157-A8957C771CA2}"/>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A4C8786D-B866-D9E1-4952-55422CAED4C1}"/>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6" name="Title 1">
            <a:extLst>
              <a:ext uri="{FF2B5EF4-FFF2-40B4-BE49-F238E27FC236}">
                <a16:creationId xmlns:a16="http://schemas.microsoft.com/office/drawing/2014/main" id="{898E4341-3A8B-54C7-F23E-11F23BB4E094}"/>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4</a:t>
            </a:r>
            <a:endParaRPr lang="en-IN" sz="2800" b="1" dirty="0"/>
          </a:p>
        </p:txBody>
      </p:sp>
      <p:sp>
        <p:nvSpPr>
          <p:cNvPr id="7" name="Content Placeholder 2">
            <a:extLst>
              <a:ext uri="{FF2B5EF4-FFF2-40B4-BE49-F238E27FC236}">
                <a16:creationId xmlns:a16="http://schemas.microsoft.com/office/drawing/2014/main" id="{07DC7F69-08C5-DCD3-E229-C5BF63FDDC4F}"/>
              </a:ext>
            </a:extLst>
          </p:cNvPr>
          <p:cNvSpPr txBox="1">
            <a:spLocks/>
          </p:cNvSpPr>
          <p:nvPr/>
        </p:nvSpPr>
        <p:spPr>
          <a:xfrm>
            <a:off x="1351935" y="1422554"/>
            <a:ext cx="7315200" cy="442405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panose="02020603050405020304" pitchFamily="18" charset="0"/>
                <a:cs typeface="Times New Roman" panose="02020603050405020304" pitchFamily="18" charset="0"/>
              </a:rPr>
              <a:t>Ensemble Learning Algorithm for Cattle Breed Identification Using Computer Vision Techniques (Year: 2024)</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Authors:</a:t>
            </a:r>
            <a:r>
              <a:rPr lang="en-IN" sz="2000" dirty="0">
                <a:latin typeface="Times New Roman" panose="02020603050405020304" pitchFamily="18" charset="0"/>
                <a:cs typeface="Times New Roman" panose="02020603050405020304" pitchFamily="18" charset="0"/>
              </a:rPr>
              <a:t> Vijayalakshmi A, P. Shanmugavadivu, S. Vijayalakshmi, Shreyansh </a:t>
            </a:r>
            <a:r>
              <a:rPr lang="en-IN" sz="2000" dirty="0" err="1">
                <a:latin typeface="Times New Roman" panose="02020603050405020304" pitchFamily="18" charset="0"/>
                <a:cs typeface="Times New Roman" panose="02020603050405020304" pitchFamily="18" charset="0"/>
              </a:rPr>
              <a:t>Padarha</a:t>
            </a:r>
            <a:r>
              <a:rPr lang="en-IN" sz="2000" dirty="0">
                <a:latin typeface="Times New Roman" panose="02020603050405020304" pitchFamily="18" charset="0"/>
                <a:cs typeface="Times New Roman" panose="02020603050405020304" pitchFamily="18" charset="0"/>
              </a:rPr>
              <a:t>, Sivaranjani R</a:t>
            </a:r>
          </a:p>
          <a:p>
            <a:pPr marL="0" indent="0">
              <a:buFont typeface="Arial" pitchFamily="34" charse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research proposes an </a:t>
            </a:r>
            <a:r>
              <a:rPr lang="en-IN" sz="2000" b="1" dirty="0">
                <a:latin typeface="Times New Roman" panose="02020603050405020304" pitchFamily="18" charset="0"/>
                <a:cs typeface="Times New Roman" panose="02020603050405020304" pitchFamily="18" charset="0"/>
              </a:rPr>
              <a:t>ensemble learning approach</a:t>
            </a:r>
            <a:r>
              <a:rPr lang="en-IN" sz="2000" dirty="0">
                <a:latin typeface="Times New Roman" panose="02020603050405020304" pitchFamily="18" charset="0"/>
                <a:cs typeface="Times New Roman" panose="02020603050405020304" pitchFamily="18" charset="0"/>
              </a:rPr>
              <a:t> for cattle breed identification by combining multiple computer vision techniques including CNN, YOLO object detection, Canny edge detection, k-means segmentation, and grayscale imaging. The ensemble classifier uses a voting mechanism to improve robustness against obscured features and environmental noise, suggesting that hybrid methods can address limitations of individual models. </a:t>
            </a:r>
          </a:p>
          <a:p>
            <a:pPr algn="just"/>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FFD73184-456F-D11E-A6DA-2A661C89AB0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0" name="Slide Number Placeholder 5">
            <a:extLst>
              <a:ext uri="{FF2B5EF4-FFF2-40B4-BE49-F238E27FC236}">
                <a16:creationId xmlns:a16="http://schemas.microsoft.com/office/drawing/2014/main" id="{1D0A1A30-33B3-9339-D845-4753625440E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9</a:t>
            </a:fld>
            <a:endParaRPr lang="en-US"/>
          </a:p>
        </p:txBody>
      </p:sp>
      <p:sp>
        <p:nvSpPr>
          <p:cNvPr id="11" name="Rectangle 10">
            <a:extLst>
              <a:ext uri="{FF2B5EF4-FFF2-40B4-BE49-F238E27FC236}">
                <a16:creationId xmlns:a16="http://schemas.microsoft.com/office/drawing/2014/main" id="{09137973-4CF7-43EE-624B-C4AB8D45452F}"/>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752629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DB6B1-5195-6200-E717-4E387F48F12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402A70A4-2D33-85C5-FA45-634FD9771D13}"/>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3324FA89-EDA1-15B3-443B-351CEFC9140F}"/>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58AEE9DD-F88B-E012-6A9A-7261D56DD138}"/>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Title 1">
            <a:extLst>
              <a:ext uri="{FF2B5EF4-FFF2-40B4-BE49-F238E27FC236}">
                <a16:creationId xmlns:a16="http://schemas.microsoft.com/office/drawing/2014/main" id="{5578597F-9510-06D6-5FDC-84EF72D92838}"/>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a:cs typeface="Times New Roman"/>
              </a:rPr>
              <a:t>LITERATURE SURVEY 5</a:t>
            </a:r>
            <a:endParaRPr lang="en-IN" sz="2800" b="1" dirty="0"/>
          </a:p>
        </p:txBody>
      </p:sp>
      <p:sp>
        <p:nvSpPr>
          <p:cNvPr id="7" name="Content Placeholder 2">
            <a:extLst>
              <a:ext uri="{FF2B5EF4-FFF2-40B4-BE49-F238E27FC236}">
                <a16:creationId xmlns:a16="http://schemas.microsoft.com/office/drawing/2014/main" id="{50888851-C1D8-E0D9-AF90-89CE79A693F4}"/>
              </a:ext>
            </a:extLst>
          </p:cNvPr>
          <p:cNvSpPr txBox="1">
            <a:spLocks/>
          </p:cNvSpPr>
          <p:nvPr/>
        </p:nvSpPr>
        <p:spPr>
          <a:xfrm>
            <a:off x="1351935" y="1422554"/>
            <a:ext cx="7315200" cy="4424055"/>
          </a:xfrm>
          <a:prstGeom prst="rect">
            <a:avLst/>
          </a:prstGeom>
        </p:spPr>
        <p:txBody>
          <a:bodyPr lIns="91440" tIns="45720" rIns="91440" bIns="4572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a:ea typeface="+mn-lt"/>
                <a:cs typeface="Times New Roman"/>
              </a:rPr>
              <a:t>Automatic Cattle Breed Identification Using Transfer Learning and Deep CNN</a:t>
            </a:r>
            <a:r>
              <a:rPr lang="en-IN" sz="2000" b="1">
                <a:latin typeface="Times New Roman"/>
                <a:cs typeface="Times New Roman"/>
              </a:rPr>
              <a:t> (Year: 2021)</a:t>
            </a:r>
            <a:br>
              <a:rPr lang="en-IN" sz="2000" dirty="0">
                <a:latin typeface="Times New Roman" panose="02020603050405020304" pitchFamily="18" charset="0"/>
                <a:cs typeface="Times New Roman" panose="02020603050405020304" pitchFamily="18" charset="0"/>
              </a:rPr>
            </a:br>
            <a:r>
              <a:rPr lang="en-IN" sz="2000" b="1">
                <a:latin typeface="Times New Roman"/>
                <a:cs typeface="Times New Roman"/>
              </a:rPr>
              <a:t>Authors:</a:t>
            </a:r>
            <a:r>
              <a:rPr lang="en-IN" sz="2000" dirty="0">
                <a:latin typeface="Times New Roman"/>
                <a:cs typeface="Times New Roman"/>
              </a:rPr>
              <a:t> </a:t>
            </a:r>
            <a:r>
              <a:rPr lang="en-IN" sz="2000">
                <a:latin typeface="Times New Roman"/>
                <a:ea typeface="+mn-lt"/>
                <a:cs typeface="Times New Roman"/>
              </a:rPr>
              <a:t>K. Kumar, R. Verma </a:t>
            </a:r>
            <a:endParaRPr lang="en-IN" sz="2000" dirty="0">
              <a:latin typeface="Times New Roman"/>
              <a:cs typeface="Times New Roman"/>
            </a:endParaRPr>
          </a:p>
          <a:p>
            <a:pPr marL="0" indent="0">
              <a:buFont typeface="Arial" pitchFamily="34" charse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a:ea typeface="+mn-lt"/>
                <a:cs typeface="Times New Roman"/>
              </a:rPr>
              <a:t>The study uses </a:t>
            </a:r>
            <a:r>
              <a:rPr lang="en-IN" sz="2000" b="1" dirty="0">
                <a:latin typeface="Times New Roman"/>
                <a:ea typeface="+mn-lt"/>
                <a:cs typeface="Times New Roman"/>
              </a:rPr>
              <a:t>transfer learning with deep convolutional neural networks</a:t>
            </a:r>
            <a:r>
              <a:rPr lang="en-IN" sz="2000" dirty="0">
                <a:latin typeface="Times New Roman"/>
                <a:ea typeface="+mn-lt"/>
                <a:cs typeface="Times New Roman"/>
              </a:rPr>
              <a:t> such as VGG16 and ResNet50 for cattle breed identification. Using pre-trained ImageNet models helps improve accuracy and reduces training time, especially when datasets are </a:t>
            </a:r>
            <a:r>
              <a:rPr lang="en-IN" sz="2000">
                <a:latin typeface="Times New Roman"/>
                <a:ea typeface="+mn-lt"/>
                <a:cs typeface="Times New Roman"/>
              </a:rPr>
              <a:t>limited. Data</a:t>
            </a:r>
            <a:r>
              <a:rPr lang="en-IN" sz="2000" dirty="0">
                <a:latin typeface="Times New Roman"/>
                <a:ea typeface="+mn-lt"/>
                <a:cs typeface="Times New Roman"/>
              </a:rPr>
              <a:t> augmentation techniques (rotation, flipping, brightness adjustment) were applied to improve model performance. The research shows that transfer learning is an effective approach for agricultural AI systems, enabling efficient and scalable breed classification.</a:t>
            </a:r>
            <a:endParaRPr lang="en-IN" dirty="0">
              <a:latin typeface="Times New Roman"/>
              <a:ea typeface="+mn-lt"/>
              <a:cs typeface="Times New Roman"/>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F8736C03-7A95-0FDB-CFBF-B72E32599FC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0" name="Slide Number Placeholder 5">
            <a:extLst>
              <a:ext uri="{FF2B5EF4-FFF2-40B4-BE49-F238E27FC236}">
                <a16:creationId xmlns:a16="http://schemas.microsoft.com/office/drawing/2014/main" id="{42CC7EAC-5173-238E-0FF5-2B6B77DD988D}"/>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sp>
        <p:nvSpPr>
          <p:cNvPr id="11" name="Rectangle 10">
            <a:extLst>
              <a:ext uri="{FF2B5EF4-FFF2-40B4-BE49-F238E27FC236}">
                <a16:creationId xmlns:a16="http://schemas.microsoft.com/office/drawing/2014/main" id="{9ED606C9-52A8-B608-EB8C-4D8AEA4E4902}"/>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645465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0B6F7-98CA-B6AD-D3E4-71DCDEED1E21}"/>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F8A283F-DD81-5CD5-FE6E-5C5AD29B8AB6}"/>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0CFAA7CE-DE16-E5C3-2BAE-CB0825DADEBD}"/>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5DEFBA46-E345-F4A8-920B-E6882418F848}"/>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6" name="Title 1">
            <a:extLst>
              <a:ext uri="{FF2B5EF4-FFF2-40B4-BE49-F238E27FC236}">
                <a16:creationId xmlns:a16="http://schemas.microsoft.com/office/drawing/2014/main" id="{2A6F4F1F-9C90-641A-ACA4-5AF4565A0B18}"/>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a:cs typeface="Times New Roman"/>
              </a:rPr>
              <a:t>LITERATURE SURVEY 6</a:t>
            </a:r>
            <a:endParaRPr lang="en-IN" sz="2800" b="1" dirty="0"/>
          </a:p>
        </p:txBody>
      </p:sp>
      <p:sp>
        <p:nvSpPr>
          <p:cNvPr id="7" name="Content Placeholder 2">
            <a:extLst>
              <a:ext uri="{FF2B5EF4-FFF2-40B4-BE49-F238E27FC236}">
                <a16:creationId xmlns:a16="http://schemas.microsoft.com/office/drawing/2014/main" id="{1919140E-E45F-2A2A-1DD0-43674EE3C80D}"/>
              </a:ext>
            </a:extLst>
          </p:cNvPr>
          <p:cNvSpPr txBox="1">
            <a:spLocks/>
          </p:cNvSpPr>
          <p:nvPr/>
        </p:nvSpPr>
        <p:spPr>
          <a:xfrm>
            <a:off x="1351935" y="1422554"/>
            <a:ext cx="7315200" cy="4424055"/>
          </a:xfrm>
          <a:prstGeom prst="rect">
            <a:avLst/>
          </a:prstGeom>
        </p:spPr>
        <p:txBody>
          <a:bodyPr lIns="91440" tIns="45720" rIns="91440" bIns="4572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a:ea typeface="+mn-lt"/>
                <a:cs typeface="Times New Roman"/>
              </a:rPr>
              <a:t>Deep Learning-Based Animal Classification in Precision Livestock Farming</a:t>
            </a:r>
            <a:r>
              <a:rPr lang="en-IN" sz="2000" b="1" dirty="0">
                <a:latin typeface="Times New Roman"/>
                <a:cs typeface="Times New Roman"/>
              </a:rPr>
              <a:t> (Year: 2022)</a:t>
            </a:r>
            <a:br>
              <a:rPr lang="en-IN" sz="2000" dirty="0">
                <a:latin typeface="Times New Roman" panose="02020603050405020304" pitchFamily="18" charset="0"/>
                <a:cs typeface="Times New Roman" panose="02020603050405020304" pitchFamily="18" charset="0"/>
              </a:rPr>
            </a:br>
            <a:r>
              <a:rPr lang="en-IN" sz="2000" b="1" dirty="0">
                <a:latin typeface="Times New Roman"/>
                <a:cs typeface="Times New Roman"/>
              </a:rPr>
              <a:t>Authors:</a:t>
            </a:r>
            <a:r>
              <a:rPr lang="en-IN" sz="2000" dirty="0">
                <a:latin typeface="Times New Roman"/>
                <a:cs typeface="Times New Roman"/>
              </a:rPr>
              <a:t> </a:t>
            </a:r>
            <a:r>
              <a:rPr lang="en-IN" sz="2000" dirty="0">
                <a:latin typeface="Times New Roman"/>
                <a:ea typeface="+mn-lt"/>
                <a:cs typeface="Times New Roman"/>
              </a:rPr>
              <a:t>P. </a:t>
            </a:r>
            <a:r>
              <a:rPr lang="en-IN" sz="2000" dirty="0" err="1">
                <a:latin typeface="Times New Roman"/>
                <a:ea typeface="+mn-lt"/>
                <a:cs typeface="Times New Roman"/>
              </a:rPr>
              <a:t>Guarnido</a:t>
            </a:r>
            <a:r>
              <a:rPr lang="en-IN" sz="2000" dirty="0">
                <a:latin typeface="Times New Roman"/>
                <a:ea typeface="+mn-lt"/>
                <a:cs typeface="Times New Roman"/>
              </a:rPr>
              <a:t>-Lopez, J. Y. Lee </a:t>
            </a:r>
            <a:endParaRPr lang="en-IN" sz="2000">
              <a:latin typeface="Times New Roman"/>
              <a:ea typeface="Calibri"/>
              <a:cs typeface="Times New Roman"/>
            </a:endParaRPr>
          </a:p>
          <a:p>
            <a:pPr marL="0" indent="0">
              <a:buFont typeface="Arial" pitchFamily="34" charse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a:ea typeface="+mn-lt"/>
                <a:cs typeface="Times New Roman"/>
              </a:rPr>
              <a:t>The research reviews the use of </a:t>
            </a:r>
            <a:r>
              <a:rPr lang="en-IN" sz="2000" b="1" dirty="0">
                <a:latin typeface="Times New Roman"/>
                <a:ea typeface="+mn-lt"/>
                <a:cs typeface="Times New Roman"/>
              </a:rPr>
              <a:t>deep learning techniques</a:t>
            </a:r>
            <a:r>
              <a:rPr lang="en-IN" sz="2000" dirty="0">
                <a:latin typeface="Times New Roman"/>
                <a:ea typeface="+mn-lt"/>
                <a:cs typeface="Times New Roman"/>
              </a:rPr>
              <a:t> for applications in precision livestock farming, including breed identification, health monitoring, and behaviour analysis. It analyses architectures such as </a:t>
            </a:r>
            <a:r>
              <a:rPr lang="en-IN" sz="2000" b="1" dirty="0">
                <a:latin typeface="Times New Roman"/>
                <a:ea typeface="+mn-lt"/>
                <a:cs typeface="Times New Roman"/>
              </a:rPr>
              <a:t>CNNs, YOLO-based detectors, and recurrent neural networks</a:t>
            </a:r>
            <a:r>
              <a:rPr lang="en-IN" sz="2000" dirty="0">
                <a:latin typeface="Times New Roman"/>
                <a:ea typeface="+mn-lt"/>
                <a:cs typeface="Times New Roman"/>
              </a:rPr>
              <a:t> used in agricultural systems. The study highlights that automated livestock monitoring systems can improve farm productivity and reduce manual labour while addressing challenges like dataset variability, lighting conditions, and deployment in rural environments.</a:t>
            </a:r>
          </a:p>
          <a:p>
            <a:pPr algn="just"/>
            <a:endParaRPr lang="en-IN" sz="2000" dirty="0">
              <a:latin typeface="Times New Roman"/>
              <a:ea typeface="+mn-lt"/>
              <a:cs typeface="Times New Roman"/>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8DB509CD-A689-0499-318C-1362060C241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0" name="Slide Number Placeholder 5">
            <a:extLst>
              <a:ext uri="{FF2B5EF4-FFF2-40B4-BE49-F238E27FC236}">
                <a16:creationId xmlns:a16="http://schemas.microsoft.com/office/drawing/2014/main" id="{5634F082-9B88-A4CA-80B1-ABE01DEED8F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11</a:t>
            </a:fld>
            <a:endParaRPr lang="en-US"/>
          </a:p>
        </p:txBody>
      </p:sp>
      <p:sp>
        <p:nvSpPr>
          <p:cNvPr id="11" name="Rectangle 10">
            <a:extLst>
              <a:ext uri="{FF2B5EF4-FFF2-40B4-BE49-F238E27FC236}">
                <a16:creationId xmlns:a16="http://schemas.microsoft.com/office/drawing/2014/main" id="{FF2BDAF9-77A2-C801-3BAA-122482138118}"/>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297520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99E82-40F5-7772-8352-8752CF03C6E9}"/>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FE1152C-3CD9-8734-7F1C-3F93C671D764}"/>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71BE289A-883F-4EAF-9F4B-E2B7A598000F}"/>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04E0F29F-9E9F-674A-D1DE-586234D3DD84}"/>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6" name="Title 1">
            <a:extLst>
              <a:ext uri="{FF2B5EF4-FFF2-40B4-BE49-F238E27FC236}">
                <a16:creationId xmlns:a16="http://schemas.microsoft.com/office/drawing/2014/main" id="{862DB711-D66E-6FE7-36FF-4B035BF7DEF6}"/>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a:cs typeface="Times New Roman"/>
              </a:rPr>
              <a:t>LITERATURE SURVEY 7</a:t>
            </a:r>
            <a:endParaRPr lang="en-IN" sz="2800" b="1" dirty="0"/>
          </a:p>
        </p:txBody>
      </p:sp>
      <p:sp>
        <p:nvSpPr>
          <p:cNvPr id="7" name="Content Placeholder 2">
            <a:extLst>
              <a:ext uri="{FF2B5EF4-FFF2-40B4-BE49-F238E27FC236}">
                <a16:creationId xmlns:a16="http://schemas.microsoft.com/office/drawing/2014/main" id="{E8782B1A-6ECD-59A1-B1B6-66AB1449DB44}"/>
              </a:ext>
            </a:extLst>
          </p:cNvPr>
          <p:cNvSpPr txBox="1">
            <a:spLocks/>
          </p:cNvSpPr>
          <p:nvPr/>
        </p:nvSpPr>
        <p:spPr>
          <a:xfrm>
            <a:off x="1351935" y="1422554"/>
            <a:ext cx="7315200" cy="4424055"/>
          </a:xfrm>
          <a:prstGeom prst="rect">
            <a:avLst/>
          </a:prstGeom>
        </p:spPr>
        <p:txBody>
          <a:bodyPr lIns="91440" tIns="45720" rIns="91440" bIns="45720" anchor="t">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a:ea typeface="+mn-lt"/>
                <a:cs typeface="Times New Roman"/>
              </a:rPr>
              <a:t>Application of Deep Convolutional Neural Networks for Fine-Grained Animal Breed Classification</a:t>
            </a:r>
            <a:r>
              <a:rPr lang="en-IN" sz="2000" b="1">
                <a:latin typeface="Times New Roman"/>
                <a:cs typeface="Times New Roman"/>
              </a:rPr>
              <a:t> (Year: 2019)</a:t>
            </a:r>
            <a:br>
              <a:rPr lang="en-IN" sz="2000" dirty="0">
                <a:latin typeface="Times New Roman" panose="02020603050405020304" pitchFamily="18" charset="0"/>
                <a:cs typeface="Times New Roman" panose="02020603050405020304" pitchFamily="18" charset="0"/>
              </a:rPr>
            </a:br>
            <a:r>
              <a:rPr lang="en-IN" sz="2000" b="1">
                <a:latin typeface="Times New Roman"/>
                <a:cs typeface="Times New Roman"/>
              </a:rPr>
              <a:t>Authors:</a:t>
            </a:r>
            <a:r>
              <a:rPr lang="en-IN" sz="2000" dirty="0">
                <a:latin typeface="Times New Roman"/>
                <a:cs typeface="Times New Roman"/>
              </a:rPr>
              <a:t> </a:t>
            </a:r>
            <a:r>
              <a:rPr lang="en-IN" sz="2000">
                <a:latin typeface="Times New Roman"/>
                <a:ea typeface="+mn-lt"/>
                <a:cs typeface="Times New Roman"/>
              </a:rPr>
              <a:t>Y. Liu, H. Zhang</a:t>
            </a:r>
            <a:endParaRPr lang="en-IN" sz="2000">
              <a:latin typeface="Times New Roman"/>
              <a:ea typeface="Calibri"/>
              <a:cs typeface="Times New Roman"/>
            </a:endParaRPr>
          </a:p>
          <a:p>
            <a:pPr marL="0" indent="0">
              <a:buNone/>
            </a:pPr>
            <a:endParaRPr lang="en-IN" sz="2000" dirty="0">
              <a:latin typeface="Times New Roman"/>
              <a:ea typeface="+mn-lt"/>
              <a:cs typeface="Times New Roman"/>
            </a:endParaRPr>
          </a:p>
          <a:p>
            <a:pPr algn="just"/>
            <a:r>
              <a:rPr lang="en-IN" sz="2000" dirty="0">
                <a:latin typeface="Times New Roman"/>
                <a:ea typeface="+mn-lt"/>
                <a:cs typeface="Times New Roman"/>
              </a:rPr>
              <a:t>The study applies</a:t>
            </a:r>
            <a:r>
              <a:rPr lang="en-IN" sz="2000" b="1" dirty="0">
                <a:latin typeface="Times New Roman"/>
                <a:ea typeface="+mn-lt"/>
                <a:cs typeface="Times New Roman"/>
              </a:rPr>
              <a:t> deep convolutional neural networks (CNNs) </a:t>
            </a:r>
            <a:r>
              <a:rPr lang="en-IN" sz="2000" dirty="0">
                <a:latin typeface="Times New Roman"/>
                <a:ea typeface="+mn-lt"/>
                <a:cs typeface="Times New Roman"/>
              </a:rPr>
              <a:t>for fine-grained animal breed classification, where categories have very subtle visual differences. The proposed model extracts hierarchical features from images, focusing on regions such as head shape, ear position, horn curvature, and coat texture. </a:t>
            </a:r>
            <a:r>
              <a:rPr lang="en-IN" sz="2000" b="1" dirty="0">
                <a:latin typeface="Times New Roman"/>
                <a:ea typeface="+mn-lt"/>
                <a:cs typeface="Times New Roman"/>
              </a:rPr>
              <a:t>Attention mechanisms and deeper networks </a:t>
            </a:r>
            <a:r>
              <a:rPr lang="en-IN" sz="2000" dirty="0">
                <a:latin typeface="Times New Roman"/>
                <a:ea typeface="+mn-lt"/>
                <a:cs typeface="Times New Roman"/>
              </a:rPr>
              <a:t>with residual connections improve classification performance by capturing subtle variations between breeds. The research highlights that advanced CNN architectures and feature localization techniques are effective for accurate livestock breed identification systems.</a:t>
            </a:r>
          </a:p>
          <a:p>
            <a:pPr algn="just"/>
            <a:endParaRPr lang="en-IN" sz="2000" dirty="0">
              <a:latin typeface="Times New Roman"/>
              <a:ea typeface="+mn-lt"/>
              <a:cs typeface="Times New Roman"/>
            </a:endParaRPr>
          </a:p>
          <a:p>
            <a:pPr algn="just"/>
            <a:endParaRPr lang="en-IN" sz="2000" dirty="0">
              <a:latin typeface="Times New Roman"/>
              <a:ea typeface="+mn-lt"/>
              <a:cs typeface="Times New Roman"/>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7805CE7E-870B-F5BF-6794-AA5657AD18B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0" name="Slide Number Placeholder 5">
            <a:extLst>
              <a:ext uri="{FF2B5EF4-FFF2-40B4-BE49-F238E27FC236}">
                <a16:creationId xmlns:a16="http://schemas.microsoft.com/office/drawing/2014/main" id="{0F264410-A0C4-605D-BEDB-46B92B100C1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12</a:t>
            </a:fld>
            <a:endParaRPr lang="en-US"/>
          </a:p>
        </p:txBody>
      </p:sp>
      <p:sp>
        <p:nvSpPr>
          <p:cNvPr id="11" name="Rectangle 10">
            <a:extLst>
              <a:ext uri="{FF2B5EF4-FFF2-40B4-BE49-F238E27FC236}">
                <a16:creationId xmlns:a16="http://schemas.microsoft.com/office/drawing/2014/main" id="{BF0F8BCD-85E3-4502-9F64-BB0808DC831F}"/>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461941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4D229F-F547-BB13-668E-8E2F4DF3082F}"/>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1F912597-2116-EAFE-42BE-5C256AC3168E}"/>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D8EB2944-5D36-DC8B-AD81-3A11B77EC1A5}"/>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6" name="Date Placeholder 2">
            <a:extLst>
              <a:ext uri="{FF2B5EF4-FFF2-40B4-BE49-F238E27FC236}">
                <a16:creationId xmlns:a16="http://schemas.microsoft.com/office/drawing/2014/main" id="{C4EEDC47-D2A1-1A1B-BCE8-B943272D72F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7" name="Footer Placeholder 3">
            <a:extLst>
              <a:ext uri="{FF2B5EF4-FFF2-40B4-BE49-F238E27FC236}">
                <a16:creationId xmlns:a16="http://schemas.microsoft.com/office/drawing/2014/main" id="{6A596175-EF69-A12F-4B57-DFC2157CF6A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8" name="Slide Number Placeholder 4">
            <a:extLst>
              <a:ext uri="{FF2B5EF4-FFF2-40B4-BE49-F238E27FC236}">
                <a16:creationId xmlns:a16="http://schemas.microsoft.com/office/drawing/2014/main" id="{02E438BD-EF3B-D55C-3293-8357622D174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a:t>
            </a:fld>
            <a:endParaRPr lang="en-US"/>
          </a:p>
        </p:txBody>
      </p:sp>
      <p:sp>
        <p:nvSpPr>
          <p:cNvPr id="9" name="Title 1">
            <a:extLst>
              <a:ext uri="{FF2B5EF4-FFF2-40B4-BE49-F238E27FC236}">
                <a16:creationId xmlns:a16="http://schemas.microsoft.com/office/drawing/2014/main" id="{DEC243F9-7847-613F-CAF2-A6D0B303FBCB}"/>
              </a:ext>
            </a:extLst>
          </p:cNvPr>
          <p:cNvSpPr txBox="1">
            <a:spLocks/>
          </p:cNvSpPr>
          <p:nvPr/>
        </p:nvSpPr>
        <p:spPr>
          <a:xfrm>
            <a:off x="685800" y="13652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Existing System</a:t>
            </a:r>
            <a:endParaRPr lang="en-IN" sz="2800" b="1" dirty="0">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8B37FEAD-90AA-5E92-553B-7D9CD7F00F57}"/>
              </a:ext>
            </a:extLst>
          </p:cNvPr>
          <p:cNvSpPr txBox="1">
            <a:spLocks/>
          </p:cNvSpPr>
          <p:nvPr/>
        </p:nvSpPr>
        <p:spPr>
          <a:xfrm>
            <a:off x="1408471" y="1207140"/>
            <a:ext cx="7315200" cy="44240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11" name="Date Placeholder 3">
            <a:extLst>
              <a:ext uri="{FF2B5EF4-FFF2-40B4-BE49-F238E27FC236}">
                <a16:creationId xmlns:a16="http://schemas.microsoft.com/office/drawing/2014/main" id="{33040A5E-E057-4612-2BE4-0CB7BD57ABC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2" name="Slide Number Placeholder 5">
            <a:extLst>
              <a:ext uri="{FF2B5EF4-FFF2-40B4-BE49-F238E27FC236}">
                <a16:creationId xmlns:a16="http://schemas.microsoft.com/office/drawing/2014/main" id="{C4E95F40-6452-3BF1-D384-09126483F8F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a:t>
            </a:fld>
            <a:endParaRPr lang="en-US"/>
          </a:p>
        </p:txBody>
      </p:sp>
      <p:sp>
        <p:nvSpPr>
          <p:cNvPr id="13" name="Rectangle 12">
            <a:extLst>
              <a:ext uri="{FF2B5EF4-FFF2-40B4-BE49-F238E27FC236}">
                <a16:creationId xmlns:a16="http://schemas.microsoft.com/office/drawing/2014/main" id="{033E568C-8C6B-1853-662D-81DFFEC54046}"/>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4" name="Rectangle 2">
            <a:extLst>
              <a:ext uri="{FF2B5EF4-FFF2-40B4-BE49-F238E27FC236}">
                <a16:creationId xmlns:a16="http://schemas.microsoft.com/office/drawing/2014/main" id="{3935E8E6-46DB-9274-E564-A018B61FD00B}"/>
              </a:ext>
            </a:extLst>
          </p:cNvPr>
          <p:cNvSpPr>
            <a:spLocks noChangeArrowheads="1"/>
          </p:cNvSpPr>
          <p:nvPr/>
        </p:nvSpPr>
        <p:spPr bwMode="auto">
          <a:xfrm>
            <a:off x="1732936" y="1279264"/>
            <a:ext cx="7002354" cy="4664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a:buChar char="•"/>
              <a:tabLst/>
            </a:pPr>
            <a:r>
              <a:rPr kumimoji="0" lang="en-US" altLang="en-US" sz="2000" b="0" i="0" u="none" strike="noStrike" cap="none" normalizeH="0" baseline="0" dirty="0">
                <a:ln>
                  <a:noFill/>
                </a:ln>
                <a:effectLst/>
                <a:latin typeface="Times New Roman"/>
                <a:cs typeface="Times New Roman"/>
              </a:rPr>
              <a:t>In India, cattle and buffalo breed identification is mostly carried out through </a:t>
            </a:r>
            <a:r>
              <a:rPr kumimoji="0" lang="en-US" altLang="en-US" sz="2000" b="1" i="0" u="none" strike="noStrike" cap="none" normalizeH="0" baseline="0" dirty="0">
                <a:ln>
                  <a:noFill/>
                </a:ln>
                <a:effectLst/>
                <a:latin typeface="Times New Roman"/>
                <a:cs typeface="Times New Roman"/>
              </a:rPr>
              <a:t>manual visual inspection</a:t>
            </a:r>
            <a:r>
              <a:rPr kumimoji="0" lang="en-US" altLang="en-US" sz="2000" b="0" i="0" u="none" strike="noStrike" cap="none" normalizeH="0" baseline="0" dirty="0">
                <a:ln>
                  <a:noFill/>
                </a:ln>
                <a:effectLst/>
                <a:latin typeface="Times New Roman"/>
                <a:cs typeface="Times New Roman"/>
              </a:rPr>
              <a:t> by Field Level Workers (FLWs).</a:t>
            </a:r>
            <a:endParaRPr lang="en-US">
              <a:ea typeface="Calibri"/>
              <a:cs typeface="Calibri"/>
            </a:endParaRPr>
          </a:p>
          <a:p>
            <a:pPr marL="342900" marR="0" lvl="0" indent="-342900" algn="just" defTabSz="914400" rtl="0" eaLnBrk="0" fontAlgn="base" latinLnBrk="0" hangingPunct="0">
              <a:lnSpc>
                <a:spcPct val="150000"/>
              </a:lnSpc>
              <a:spcBef>
                <a:spcPct val="0"/>
              </a:spcBef>
              <a:spcAft>
                <a:spcPct val="0"/>
              </a:spcAft>
              <a:buClrTx/>
              <a:buSzTx/>
              <a:buFont typeface="Arial"/>
              <a:buChar char="•"/>
              <a:tabLst/>
            </a:pPr>
            <a:r>
              <a:rPr kumimoji="0" lang="en-US" altLang="en-US" sz="2000" b="0" i="0" u="none" strike="noStrike" cap="none" normalizeH="0" baseline="0" dirty="0">
                <a:ln>
                  <a:noFill/>
                </a:ln>
                <a:effectLst/>
                <a:latin typeface="Times New Roman"/>
                <a:cs typeface="Times New Roman"/>
              </a:rPr>
              <a:t>Breed identification is based on physical characteristics such as </a:t>
            </a:r>
            <a:r>
              <a:rPr kumimoji="0" lang="en-US" altLang="en-US" sz="2000" b="1" i="0" u="none" strike="noStrike" cap="none" normalizeH="0" baseline="0" dirty="0">
                <a:ln>
                  <a:noFill/>
                </a:ln>
                <a:effectLst/>
                <a:latin typeface="Times New Roman"/>
                <a:cs typeface="Times New Roman"/>
              </a:rPr>
              <a:t>coat color, body structure, horn shape, and size</a:t>
            </a:r>
            <a:r>
              <a:rPr kumimoji="0" lang="en-US" altLang="en-US" sz="2000" b="0" i="0" u="none" strike="noStrike" cap="none" normalizeH="0" baseline="0" dirty="0">
                <a:ln>
                  <a:noFill/>
                </a:ln>
                <a:effectLst/>
                <a:latin typeface="Times New Roman"/>
                <a:cs typeface="Times New Roman"/>
              </a:rPr>
              <a:t>.</a:t>
            </a:r>
            <a:endParaRPr lang="en-US" altLang="en-US" sz="2000" b="0" i="0" u="none" strike="noStrike" cap="none" normalizeH="0" baseline="0" dirty="0">
              <a:ln>
                <a:noFill/>
              </a:ln>
              <a:effectLst/>
              <a:latin typeface="Times New Roman"/>
              <a:cs typeface="Times New Roman"/>
            </a:endParaRPr>
          </a:p>
          <a:p>
            <a:pPr marL="342900" marR="0" lvl="0" indent="-342900" algn="just" defTabSz="914400" rtl="0" eaLnBrk="0" fontAlgn="base" latinLnBrk="0" hangingPunct="0">
              <a:lnSpc>
                <a:spcPct val="150000"/>
              </a:lnSpc>
              <a:spcBef>
                <a:spcPct val="0"/>
              </a:spcBef>
              <a:spcAft>
                <a:spcPct val="0"/>
              </a:spcAft>
              <a:buClrTx/>
              <a:buSzTx/>
              <a:buFont typeface="Arial"/>
              <a:buChar char="•"/>
              <a:tabLst/>
            </a:pPr>
            <a:r>
              <a:rPr kumimoji="0" lang="en-US" altLang="en-US" sz="2000" b="0" i="0" u="none" strike="noStrike" cap="none" normalizeH="0" baseline="0" dirty="0">
                <a:ln>
                  <a:noFill/>
                </a:ln>
                <a:effectLst/>
                <a:latin typeface="Times New Roman"/>
                <a:cs typeface="Times New Roman"/>
              </a:rPr>
              <a:t>The process depends heavily on </a:t>
            </a:r>
            <a:r>
              <a:rPr kumimoji="0" lang="en-US" altLang="en-US" sz="2000" b="1" i="0" u="none" strike="noStrike" cap="none" normalizeH="0" baseline="0" dirty="0">
                <a:ln>
                  <a:noFill/>
                </a:ln>
                <a:effectLst/>
                <a:latin typeface="Times New Roman"/>
                <a:cs typeface="Times New Roman"/>
              </a:rPr>
              <a:t>human expertise and experience</a:t>
            </a:r>
            <a:r>
              <a:rPr kumimoji="0" lang="en-US" altLang="en-US" sz="2000" b="0" i="0" u="none" strike="noStrike" cap="none" normalizeH="0" baseline="0" dirty="0">
                <a:ln>
                  <a:noFill/>
                </a:ln>
                <a:effectLst/>
                <a:latin typeface="Times New Roman"/>
                <a:cs typeface="Times New Roman"/>
              </a:rPr>
              <a:t>, making it inconsistent across regions.</a:t>
            </a:r>
            <a:endParaRPr lang="en-US" altLang="en-US" sz="2000" b="0" i="0" u="none" strike="noStrike" cap="none" normalizeH="0" baseline="0" dirty="0">
              <a:ln>
                <a:noFill/>
              </a:ln>
              <a:effectLst/>
              <a:latin typeface="Times New Roman"/>
              <a:cs typeface="Times New Roman"/>
            </a:endParaRPr>
          </a:p>
          <a:p>
            <a:pPr marL="342900" marR="0" lvl="0" indent="-342900" algn="just" defTabSz="914400" rtl="0" eaLnBrk="0" fontAlgn="base" latinLnBrk="0" hangingPunct="0">
              <a:lnSpc>
                <a:spcPct val="150000"/>
              </a:lnSpc>
              <a:spcBef>
                <a:spcPct val="0"/>
              </a:spcBef>
              <a:spcAft>
                <a:spcPct val="0"/>
              </a:spcAft>
              <a:buClrTx/>
              <a:buSzTx/>
              <a:buFont typeface="Arial"/>
              <a:buChar char="•"/>
              <a:tabLst/>
            </a:pPr>
            <a:r>
              <a:rPr kumimoji="0" lang="en-US" altLang="en-US" sz="2000" b="0" i="0" u="none" strike="noStrike" cap="none" normalizeH="0" baseline="0" dirty="0">
                <a:ln>
                  <a:noFill/>
                </a:ln>
                <a:effectLst/>
                <a:latin typeface="Times New Roman"/>
                <a:cs typeface="Times New Roman"/>
              </a:rPr>
              <a:t>Some </a:t>
            </a:r>
            <a:r>
              <a:rPr kumimoji="0" lang="en-US" altLang="en-US" sz="2000" b="1" i="0" u="none" strike="noStrike" cap="none" normalizeH="0" baseline="0" dirty="0">
                <a:ln>
                  <a:noFill/>
                </a:ln>
                <a:effectLst/>
                <a:latin typeface="Times New Roman"/>
                <a:cs typeface="Times New Roman"/>
              </a:rPr>
              <a:t>AI-based research systems and online breed classifier applications</a:t>
            </a:r>
            <a:r>
              <a:rPr kumimoji="0" lang="en-US" altLang="en-US" sz="2000" b="0" i="0" u="none" strike="noStrike" cap="none" normalizeH="0" baseline="0" dirty="0">
                <a:ln>
                  <a:noFill/>
                </a:ln>
                <a:effectLst/>
                <a:latin typeface="Times New Roman"/>
                <a:cs typeface="Times New Roman"/>
              </a:rPr>
              <a:t> have been developed, but they are mostly limited to experimental or small-scale usage.</a:t>
            </a:r>
            <a:endParaRPr lang="en-US" altLang="en-US" sz="2000" b="0" i="0" u="none" strike="noStrike" cap="none" normalizeH="0" baseline="0" dirty="0">
              <a:ln>
                <a:noFill/>
              </a:ln>
              <a:effectLst/>
              <a:latin typeface="Times New Roman"/>
              <a:cs typeface="Times New Roman"/>
            </a:endParaRPr>
          </a:p>
        </p:txBody>
      </p:sp>
    </p:spTree>
    <p:extLst>
      <p:ext uri="{BB962C8B-B14F-4D97-AF65-F5344CB8AC3E}">
        <p14:creationId xmlns:p14="http://schemas.microsoft.com/office/powerpoint/2010/main" val="3936369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EF357-09DB-4BBD-EB53-94777F45994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F9EDEBE-5847-6ECD-97AD-627DF6D736C1}"/>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89279599-D837-40B5-FDE9-1F6F17CF0502}"/>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7D258065-754C-3A57-37A0-1E2C9492C632}"/>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Date Placeholder 2">
            <a:extLst>
              <a:ext uri="{FF2B5EF4-FFF2-40B4-BE49-F238E27FC236}">
                <a16:creationId xmlns:a16="http://schemas.microsoft.com/office/drawing/2014/main" id="{89AD7A9D-3FE0-B70C-00C2-2A03F28331E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7" name="Footer Placeholder 3">
            <a:extLst>
              <a:ext uri="{FF2B5EF4-FFF2-40B4-BE49-F238E27FC236}">
                <a16:creationId xmlns:a16="http://schemas.microsoft.com/office/drawing/2014/main" id="{B171EEDA-B243-98B2-E79A-90B81235FCA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8" name="Slide Number Placeholder 4">
            <a:extLst>
              <a:ext uri="{FF2B5EF4-FFF2-40B4-BE49-F238E27FC236}">
                <a16:creationId xmlns:a16="http://schemas.microsoft.com/office/drawing/2014/main" id="{EAA13856-F9D6-D2FB-7A58-2B0AC5ADB93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sp>
        <p:nvSpPr>
          <p:cNvPr id="9" name="Title 1">
            <a:extLst>
              <a:ext uri="{FF2B5EF4-FFF2-40B4-BE49-F238E27FC236}">
                <a16:creationId xmlns:a16="http://schemas.microsoft.com/office/drawing/2014/main" id="{C1240931-4D85-7CFD-14AF-B70A95ED9CCF}"/>
              </a:ext>
            </a:extLst>
          </p:cNvPr>
          <p:cNvSpPr txBox="1">
            <a:spLocks/>
          </p:cNvSpPr>
          <p:nvPr/>
        </p:nvSpPr>
        <p:spPr>
          <a:xfrm>
            <a:off x="685800" y="13652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Existing System</a:t>
            </a:r>
            <a:endParaRPr lang="en-IN" sz="2800" b="1" dirty="0">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2310C367-2130-C522-2A1B-D1FD9743E37E}"/>
              </a:ext>
            </a:extLst>
          </p:cNvPr>
          <p:cNvSpPr txBox="1">
            <a:spLocks/>
          </p:cNvSpPr>
          <p:nvPr/>
        </p:nvSpPr>
        <p:spPr>
          <a:xfrm>
            <a:off x="1408471" y="1207140"/>
            <a:ext cx="7315200" cy="44240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11" name="Date Placeholder 3">
            <a:extLst>
              <a:ext uri="{FF2B5EF4-FFF2-40B4-BE49-F238E27FC236}">
                <a16:creationId xmlns:a16="http://schemas.microsoft.com/office/drawing/2014/main" id="{AC284D4A-814E-55BE-09C3-4F307107CB5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2" name="Slide Number Placeholder 5">
            <a:extLst>
              <a:ext uri="{FF2B5EF4-FFF2-40B4-BE49-F238E27FC236}">
                <a16:creationId xmlns:a16="http://schemas.microsoft.com/office/drawing/2014/main" id="{8F4255C2-1A4F-3E13-4918-F1E654EE047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sp>
        <p:nvSpPr>
          <p:cNvPr id="13" name="Rectangle 12">
            <a:extLst>
              <a:ext uri="{FF2B5EF4-FFF2-40B4-BE49-F238E27FC236}">
                <a16:creationId xmlns:a16="http://schemas.microsoft.com/office/drawing/2014/main" id="{877E638A-C2F6-A8A1-3C0A-2AAA51C92E28}"/>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4" name="Rectangle 2">
            <a:extLst>
              <a:ext uri="{FF2B5EF4-FFF2-40B4-BE49-F238E27FC236}">
                <a16:creationId xmlns:a16="http://schemas.microsoft.com/office/drawing/2014/main" id="{32E70FBB-C5EA-20D7-BB97-7BFB80E393B2}"/>
              </a:ext>
            </a:extLst>
          </p:cNvPr>
          <p:cNvSpPr>
            <a:spLocks noChangeArrowheads="1"/>
          </p:cNvSpPr>
          <p:nvPr/>
        </p:nvSpPr>
        <p:spPr bwMode="auto">
          <a:xfrm>
            <a:off x="1410818" y="1422504"/>
            <a:ext cx="6877664"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a:buChar char="•"/>
            </a:pPr>
            <a:r>
              <a:rPr lang="en-US" sz="2000" b="1">
                <a:latin typeface="Times New Roman"/>
                <a:ea typeface="+mn-lt"/>
                <a:cs typeface="Times New Roman"/>
              </a:rPr>
              <a:t>Manual </a:t>
            </a:r>
            <a:r>
              <a:rPr kumimoji="0" lang="en-US" sz="2000" b="1" i="0" u="none" strike="noStrike" cap="none" normalizeH="0" baseline="0">
                <a:ln>
                  <a:noFill/>
                </a:ln>
                <a:effectLst/>
                <a:latin typeface="Times New Roman"/>
                <a:ea typeface="+mn-lt"/>
                <a:cs typeface="Times New Roman"/>
              </a:rPr>
              <a:t>identification </a:t>
            </a:r>
            <a:r>
              <a:rPr lang="en-US" sz="2000" b="1">
                <a:latin typeface="Times New Roman"/>
                <a:ea typeface="+mn-lt"/>
                <a:cs typeface="Times New Roman"/>
              </a:rPr>
              <a:t>errors:</a:t>
            </a:r>
            <a:r>
              <a:rPr lang="en-US" sz="2000">
                <a:latin typeface="Times New Roman"/>
                <a:ea typeface="+mn-lt"/>
                <a:cs typeface="Times New Roman"/>
              </a:rPr>
              <a:t> </a:t>
            </a:r>
            <a:r>
              <a:rPr kumimoji="0" lang="en-US" sz="2000" b="0" i="0" u="none" strike="noStrike" cap="none" normalizeH="0" baseline="0">
                <a:ln>
                  <a:noFill/>
                </a:ln>
                <a:effectLst/>
                <a:latin typeface="Times New Roman"/>
                <a:ea typeface="+mn-lt"/>
                <a:cs typeface="Times New Roman"/>
              </a:rPr>
              <a:t>Breed </a:t>
            </a:r>
            <a:r>
              <a:rPr lang="en-US" sz="2000">
                <a:latin typeface="Times New Roman"/>
                <a:ea typeface="+mn-lt"/>
                <a:cs typeface="Times New Roman"/>
              </a:rPr>
              <a:t>classification depends </a:t>
            </a:r>
            <a:r>
              <a:rPr kumimoji="0" lang="en-US" sz="2000" b="0" i="0" u="none" strike="noStrike" cap="none" normalizeH="0" baseline="0">
                <a:ln>
                  <a:noFill/>
                </a:ln>
                <a:effectLst/>
                <a:latin typeface="Times New Roman"/>
                <a:ea typeface="+mn-lt"/>
                <a:cs typeface="Times New Roman"/>
              </a:rPr>
              <a:t>on </a:t>
            </a:r>
            <a:r>
              <a:rPr lang="en-US" sz="2000">
                <a:latin typeface="Times New Roman"/>
                <a:ea typeface="+mn-lt"/>
                <a:cs typeface="Times New Roman"/>
              </a:rPr>
              <a:t>worker experience </a:t>
            </a:r>
            <a:r>
              <a:rPr kumimoji="0" lang="en-US" sz="2000" i="0" u="none" strike="noStrike" cap="none" normalizeH="0" baseline="0">
                <a:ln>
                  <a:noFill/>
                </a:ln>
                <a:effectLst/>
                <a:latin typeface="Times New Roman"/>
                <a:ea typeface="+mn-lt"/>
                <a:cs typeface="Times New Roman"/>
              </a:rPr>
              <a:t>and </a:t>
            </a:r>
            <a:r>
              <a:rPr lang="en-US" sz="2000">
                <a:latin typeface="Times New Roman"/>
                <a:ea typeface="+mn-lt"/>
                <a:cs typeface="Times New Roman"/>
              </a:rPr>
              <a:t>training</a:t>
            </a:r>
            <a:r>
              <a:rPr kumimoji="0" lang="en-US" sz="2000" b="0" i="0" u="none" strike="noStrike" cap="none" normalizeH="0" baseline="0">
                <a:ln>
                  <a:noFill/>
                </a:ln>
                <a:effectLst/>
                <a:latin typeface="Times New Roman"/>
                <a:ea typeface="+mn-lt"/>
                <a:cs typeface="Times New Roman"/>
              </a:rPr>
              <a:t>.</a:t>
            </a:r>
            <a:endParaRPr lang="en-US" sz="2000" dirty="0">
              <a:latin typeface="Times New Roman"/>
              <a:ea typeface="+mn-lt"/>
              <a:cs typeface="Times New Roman"/>
            </a:endParaRPr>
          </a:p>
          <a:p>
            <a:pPr marL="342900" indent="-342900" algn="just">
              <a:buFont typeface="Arial"/>
              <a:buChar char="•"/>
            </a:pPr>
            <a:endParaRPr lang="en-US" sz="2000" dirty="0">
              <a:latin typeface="Times New Roman"/>
              <a:ea typeface="Calibri"/>
              <a:cs typeface="Times New Roman"/>
            </a:endParaRPr>
          </a:p>
          <a:p>
            <a:pPr marL="342900" indent="-342900" algn="just">
              <a:buFont typeface="Arial"/>
              <a:buChar char="•"/>
            </a:pPr>
            <a:r>
              <a:rPr lang="en-US" sz="2000" b="1" dirty="0">
                <a:latin typeface="Times New Roman"/>
                <a:ea typeface="+mn-lt"/>
                <a:cs typeface="Times New Roman"/>
              </a:rPr>
              <a:t>Difficulty identifying similar breeds:</a:t>
            </a:r>
            <a:r>
              <a:rPr lang="en-US" sz="2000" dirty="0">
                <a:latin typeface="Times New Roman"/>
                <a:ea typeface="+mn-lt"/>
                <a:cs typeface="Times New Roman"/>
              </a:rPr>
              <a:t> Many cattle </a:t>
            </a:r>
            <a:r>
              <a:rPr kumimoji="0" lang="en-US" sz="2000" i="0" u="none" strike="noStrike" cap="none" normalizeH="0" baseline="0" dirty="0">
                <a:ln>
                  <a:noFill/>
                </a:ln>
                <a:effectLst/>
                <a:latin typeface="Times New Roman"/>
                <a:ea typeface="+mn-lt"/>
                <a:cs typeface="Times New Roman"/>
              </a:rPr>
              <a:t>and </a:t>
            </a:r>
            <a:r>
              <a:rPr lang="en-US" sz="2000" dirty="0">
                <a:latin typeface="Times New Roman"/>
                <a:ea typeface="+mn-lt"/>
                <a:cs typeface="Times New Roman"/>
              </a:rPr>
              <a:t>buffalo breeds have very similar physical features</a:t>
            </a:r>
            <a:r>
              <a:rPr kumimoji="0" lang="en-US" sz="2000" b="0" i="0" u="none" strike="noStrike" cap="none" normalizeH="0" baseline="0" dirty="0">
                <a:ln>
                  <a:noFill/>
                </a:ln>
                <a:effectLst/>
                <a:latin typeface="Times New Roman"/>
                <a:ea typeface="+mn-lt"/>
                <a:cs typeface="Times New Roman"/>
              </a:rPr>
              <a:t>.</a:t>
            </a:r>
            <a:endParaRPr lang="en-US" sz="2000" dirty="0">
              <a:latin typeface="Times New Roman"/>
              <a:ea typeface="+mn-lt"/>
              <a:cs typeface="Times New Roman"/>
            </a:endParaRPr>
          </a:p>
          <a:p>
            <a:pPr marL="342900" indent="-342900" algn="just">
              <a:buFont typeface="Arial"/>
              <a:buChar char="•"/>
            </a:pPr>
            <a:endParaRPr lang="en-US" sz="2000" dirty="0">
              <a:latin typeface="Times New Roman"/>
              <a:ea typeface="Calibri"/>
              <a:cs typeface="Times New Roman"/>
            </a:endParaRPr>
          </a:p>
          <a:p>
            <a:pPr marL="342900" indent="-342900" algn="just">
              <a:buFont typeface="Arial"/>
              <a:buChar char="•"/>
            </a:pPr>
            <a:r>
              <a:rPr lang="en-US" sz="2000" b="1">
                <a:latin typeface="Times New Roman"/>
                <a:ea typeface="+mn-lt"/>
                <a:cs typeface="Times New Roman"/>
              </a:rPr>
              <a:t>Lack of </a:t>
            </a:r>
            <a:r>
              <a:rPr kumimoji="0" lang="en-US" sz="2000" b="1" i="0" u="none" strike="noStrike" cap="none" normalizeH="0" baseline="0">
                <a:ln>
                  <a:noFill/>
                </a:ln>
                <a:effectLst/>
                <a:latin typeface="Times New Roman"/>
                <a:ea typeface="+mn-lt"/>
                <a:cs typeface="Times New Roman"/>
              </a:rPr>
              <a:t>AI-based </a:t>
            </a:r>
            <a:r>
              <a:rPr lang="en-US" sz="2000" b="1">
                <a:latin typeface="Times New Roman"/>
                <a:ea typeface="+mn-lt"/>
                <a:cs typeface="Times New Roman"/>
              </a:rPr>
              <a:t>validation:</a:t>
            </a:r>
            <a:r>
              <a:rPr lang="en-US" sz="2000">
                <a:latin typeface="Times New Roman"/>
                <a:ea typeface="+mn-lt"/>
                <a:cs typeface="Times New Roman"/>
              </a:rPr>
              <a:t> No automated system to verify breed information during registration.</a:t>
            </a:r>
            <a:endParaRPr lang="en-US" sz="2000">
              <a:latin typeface="Times New Roman"/>
              <a:ea typeface="Calibri"/>
              <a:cs typeface="Times New Roman"/>
            </a:endParaRPr>
          </a:p>
          <a:p>
            <a:pPr marL="342900" indent="-342900" algn="just">
              <a:buFont typeface="Arial"/>
              <a:buChar char="•"/>
            </a:pPr>
            <a:endParaRPr lang="en-US" sz="2000" dirty="0">
              <a:latin typeface="Times New Roman"/>
              <a:ea typeface="Calibri"/>
              <a:cs typeface="Times New Roman"/>
            </a:endParaRPr>
          </a:p>
          <a:p>
            <a:pPr marL="342900" indent="-342900" algn="just">
              <a:buFont typeface="Arial"/>
              <a:buChar char="•"/>
            </a:pPr>
            <a:r>
              <a:rPr lang="en-US" sz="2000" b="1">
                <a:latin typeface="Times New Roman"/>
                <a:ea typeface="+mn-lt"/>
                <a:cs typeface="Times New Roman"/>
              </a:rPr>
              <a:t>Limited AI solutions and datasets:</a:t>
            </a:r>
            <a:r>
              <a:rPr lang="en-US" sz="2000">
                <a:latin typeface="Times New Roman"/>
                <a:ea typeface="+mn-lt"/>
                <a:cs typeface="Times New Roman"/>
              </a:rPr>
              <a:t> Existing </a:t>
            </a:r>
            <a:r>
              <a:rPr kumimoji="0" lang="en-US" sz="2000" i="0" u="none" strike="noStrike" cap="none" normalizeH="0" baseline="0">
                <a:ln>
                  <a:noFill/>
                </a:ln>
                <a:effectLst/>
                <a:latin typeface="Times New Roman"/>
                <a:ea typeface="+mn-lt"/>
                <a:cs typeface="Times New Roman"/>
              </a:rPr>
              <a:t>research </a:t>
            </a:r>
            <a:r>
              <a:rPr lang="en-US" sz="2000">
                <a:latin typeface="Times New Roman"/>
                <a:ea typeface="+mn-lt"/>
                <a:cs typeface="Times New Roman"/>
              </a:rPr>
              <a:t>models have small datasets and poor real-world generalization.</a:t>
            </a:r>
            <a:endParaRPr lang="en-US" sz="2000">
              <a:latin typeface="Times New Roman"/>
              <a:ea typeface="Calibri"/>
              <a:cs typeface="Times New Roman"/>
            </a:endParaRPr>
          </a:p>
          <a:p>
            <a:pPr marL="342900" indent="-342900" algn="just">
              <a:buFont typeface="Arial"/>
              <a:buChar char="•"/>
            </a:pPr>
            <a:endParaRPr lang="en-US" sz="2000" dirty="0">
              <a:latin typeface="Times New Roman"/>
              <a:ea typeface="Calibri"/>
              <a:cs typeface="Times New Roman"/>
            </a:endParaRPr>
          </a:p>
          <a:p>
            <a:pPr marL="342900" indent="-342900" algn="just">
              <a:buFont typeface="Arial"/>
              <a:buChar char="•"/>
            </a:pPr>
            <a:r>
              <a:rPr lang="en-US" sz="2000" b="1">
                <a:latin typeface="Times New Roman"/>
                <a:ea typeface="+mn-lt"/>
                <a:cs typeface="Times New Roman"/>
              </a:rPr>
              <a:t>Scalability and environmental challenges: </a:t>
            </a:r>
            <a:r>
              <a:rPr lang="en-US" sz="2000">
                <a:latin typeface="Times New Roman"/>
                <a:ea typeface="+mn-lt"/>
                <a:cs typeface="Times New Roman"/>
              </a:rPr>
              <a:t>Variations in lighting, background, </a:t>
            </a:r>
            <a:r>
              <a:rPr kumimoji="0" lang="en-US" sz="2000" i="0" u="none" strike="noStrike" cap="none" normalizeH="0" baseline="0">
                <a:ln>
                  <a:noFill/>
                </a:ln>
                <a:effectLst/>
                <a:latin typeface="Times New Roman"/>
                <a:ea typeface="+mn-lt"/>
                <a:cs typeface="Times New Roman"/>
              </a:rPr>
              <a:t>and </a:t>
            </a:r>
            <a:r>
              <a:rPr lang="en-US" sz="2000">
                <a:latin typeface="Times New Roman"/>
                <a:ea typeface="+mn-lt"/>
                <a:cs typeface="Times New Roman"/>
              </a:rPr>
              <a:t>camera angles affect accuracy</a:t>
            </a:r>
            <a:r>
              <a:rPr kumimoji="0" lang="en-US" sz="2000" b="0" i="0" u="none" strike="noStrike" cap="none" normalizeH="0" baseline="0">
                <a:ln>
                  <a:noFill/>
                </a:ln>
                <a:effectLst/>
                <a:latin typeface="Times New Roman"/>
                <a:ea typeface="+mn-lt"/>
                <a:cs typeface="Times New Roman"/>
              </a:rPr>
              <a:t>, </a:t>
            </a:r>
            <a:r>
              <a:rPr lang="en-US" sz="2000">
                <a:latin typeface="Times New Roman"/>
                <a:ea typeface="+mn-lt"/>
                <a:cs typeface="Times New Roman"/>
              </a:rPr>
              <a:t>and systems </a:t>
            </a:r>
            <a:r>
              <a:rPr kumimoji="0" lang="en-US" sz="2000" b="0" i="0" u="none" strike="noStrike" cap="none" normalizeH="0" baseline="0">
                <a:ln>
                  <a:noFill/>
                </a:ln>
                <a:effectLst/>
                <a:latin typeface="Times New Roman"/>
                <a:ea typeface="+mn-lt"/>
                <a:cs typeface="Times New Roman"/>
              </a:rPr>
              <a:t>are </a:t>
            </a:r>
            <a:r>
              <a:rPr lang="en-US" sz="2000">
                <a:latin typeface="Times New Roman"/>
                <a:ea typeface="+mn-lt"/>
                <a:cs typeface="Times New Roman"/>
              </a:rPr>
              <a:t>not easily scalable for nationwide use</a:t>
            </a:r>
            <a:r>
              <a:rPr kumimoji="0" lang="en-US" sz="2000" b="0" i="0" u="none" strike="noStrike" cap="none" normalizeH="0" baseline="0">
                <a:ln>
                  <a:noFill/>
                </a:ln>
                <a:effectLst/>
                <a:latin typeface="Times New Roman"/>
                <a:ea typeface="+mn-lt"/>
                <a:cs typeface="Times New Roman"/>
              </a:rPr>
              <a:t>.</a:t>
            </a:r>
            <a:endParaRPr lang="en-US" sz="2000" dirty="0">
              <a:latin typeface="Times New Roman"/>
              <a:ea typeface="+mn-lt"/>
              <a:cs typeface="Times New Roman"/>
            </a:endParaRPr>
          </a:p>
          <a:p>
            <a:pPr marL="342900" marR="0" lvl="0" indent="-342900" algn="just" defTabSz="914400">
              <a:lnSpc>
                <a:spcPct val="150000"/>
              </a:lnSpc>
              <a:spcBef>
                <a:spcPct val="0"/>
              </a:spcBef>
              <a:spcAft>
                <a:spcPct val="0"/>
              </a:spcAft>
              <a:buClrTx/>
              <a:buSzTx/>
              <a:buFont typeface="Arial"/>
              <a:buChar char="•"/>
              <a:tabLst/>
            </a:pPr>
            <a:endParaRPr lang="en-US" altLang="en-US" sz="2000" b="0" i="0" u="none" strike="noStrike" cap="none" normalizeH="0" baseline="0" dirty="0">
              <a:ln>
                <a:noFill/>
              </a:ln>
              <a:effectLst/>
              <a:latin typeface="Times New Roman"/>
              <a:cs typeface="Times New Roman"/>
            </a:endParaRPr>
          </a:p>
        </p:txBody>
      </p:sp>
    </p:spTree>
    <p:extLst>
      <p:ext uri="{BB962C8B-B14F-4D97-AF65-F5344CB8AC3E}">
        <p14:creationId xmlns:p14="http://schemas.microsoft.com/office/powerpoint/2010/main" val="3304979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32B1C5A-5F2B-D30D-169C-7A01A2B532F8}"/>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ECA3F7AC-70CB-4721-8BB8-6A2D303F222E}"/>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8F01869A-5F78-A497-AE53-B5661BAFF1E6}"/>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6" name="Date Placeholder 2">
            <a:extLst>
              <a:ext uri="{FF2B5EF4-FFF2-40B4-BE49-F238E27FC236}">
                <a16:creationId xmlns:a16="http://schemas.microsoft.com/office/drawing/2014/main" id="{37ED2BBA-1F35-031F-E47F-EEDD850EB7B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7" name="Footer Placeholder 3">
            <a:extLst>
              <a:ext uri="{FF2B5EF4-FFF2-40B4-BE49-F238E27FC236}">
                <a16:creationId xmlns:a16="http://schemas.microsoft.com/office/drawing/2014/main" id="{18E7A5A2-4847-42D9-475E-E03B6A4D010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8" name="Slide Number Placeholder 4">
            <a:extLst>
              <a:ext uri="{FF2B5EF4-FFF2-40B4-BE49-F238E27FC236}">
                <a16:creationId xmlns:a16="http://schemas.microsoft.com/office/drawing/2014/main" id="{2875F2D3-7666-08C6-95BE-5FD83770950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sp>
        <p:nvSpPr>
          <p:cNvPr id="9" name="Date Placeholder 2">
            <a:extLst>
              <a:ext uri="{FF2B5EF4-FFF2-40B4-BE49-F238E27FC236}">
                <a16:creationId xmlns:a16="http://schemas.microsoft.com/office/drawing/2014/main" id="{42650B93-20FB-D010-2167-790478281F5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10" name="Footer Placeholder 3">
            <a:extLst>
              <a:ext uri="{FF2B5EF4-FFF2-40B4-BE49-F238E27FC236}">
                <a16:creationId xmlns:a16="http://schemas.microsoft.com/office/drawing/2014/main" id="{0E805A27-1BFA-C873-CB03-86EED17C96C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1" name="Slide Number Placeholder 4">
            <a:extLst>
              <a:ext uri="{FF2B5EF4-FFF2-40B4-BE49-F238E27FC236}">
                <a16:creationId xmlns:a16="http://schemas.microsoft.com/office/drawing/2014/main" id="{CD8B4F50-70D6-8759-DBBA-37BE14586BE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sp>
        <p:nvSpPr>
          <p:cNvPr id="12" name="Title 1">
            <a:extLst>
              <a:ext uri="{FF2B5EF4-FFF2-40B4-BE49-F238E27FC236}">
                <a16:creationId xmlns:a16="http://schemas.microsoft.com/office/drawing/2014/main" id="{13468FF6-9751-A876-A2B1-F675820B9E52}"/>
              </a:ext>
            </a:extLst>
          </p:cNvPr>
          <p:cNvSpPr txBox="1">
            <a:spLocks/>
          </p:cNvSpPr>
          <p:nvPr/>
        </p:nvSpPr>
        <p:spPr>
          <a:xfrm>
            <a:off x="685800" y="13652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Proposed System</a:t>
            </a:r>
            <a:endParaRPr lang="en-IN" sz="2800" b="1"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F0035C4E-B1BB-B808-9EE3-517F18895591}"/>
              </a:ext>
            </a:extLst>
          </p:cNvPr>
          <p:cNvSpPr txBox="1">
            <a:spLocks/>
          </p:cNvSpPr>
          <p:nvPr/>
        </p:nvSpPr>
        <p:spPr>
          <a:xfrm>
            <a:off x="1408471" y="1207140"/>
            <a:ext cx="7315200" cy="44240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dirty="0">
                <a:latin typeface="Times New Roman" panose="02020603050405020304" pitchFamily="18" charset="0"/>
                <a:cs typeface="Times New Roman" panose="02020603050405020304" pitchFamily="18" charset="0"/>
              </a:rPr>
              <a:t>The proposed system is an </a:t>
            </a:r>
            <a:r>
              <a:rPr lang="en-US" sz="2000" b="1" dirty="0">
                <a:latin typeface="Times New Roman" panose="02020603050405020304" pitchFamily="18" charset="0"/>
                <a:cs typeface="Times New Roman" panose="02020603050405020304" pitchFamily="18" charset="0"/>
              </a:rPr>
              <a:t>AI-powered breed identification system for dairy cattle and buffaloes</a:t>
            </a:r>
            <a:r>
              <a:rPr lang="en-US" sz="2000" dirty="0">
                <a:latin typeface="Times New Roman" panose="02020603050405020304" pitchFamily="18" charset="0"/>
                <a:cs typeface="Times New Roman" panose="02020603050405020304" pitchFamily="18" charset="0"/>
              </a:rPr>
              <a:t> that uses a deep learning–based image classification model for breed identification</a:t>
            </a:r>
          </a:p>
          <a:p>
            <a:pPr algn="just"/>
            <a:r>
              <a:rPr lang="en-US" sz="2000" b="1" dirty="0">
                <a:latin typeface="Times New Roman" panose="02020603050405020304" pitchFamily="18" charset="0"/>
                <a:cs typeface="Times New Roman" panose="02020603050405020304" pitchFamily="18" charset="0"/>
              </a:rPr>
              <a:t>Key Features / Improvements: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Utilizes deep learning techniques for automatic feature extraction and breed classification for deep feature learning and better discrimination between visually similar breeds.</a:t>
            </a:r>
          </a:p>
          <a:p>
            <a:pPr algn="just"/>
            <a:r>
              <a:rPr lang="en-US" sz="2000" dirty="0">
                <a:latin typeface="Times New Roman" panose="02020603050405020304" pitchFamily="18" charset="0"/>
                <a:cs typeface="Times New Roman" panose="02020603050405020304" pitchFamily="18" charset="0"/>
              </a:rPr>
              <a:t>Focuses on </a:t>
            </a:r>
            <a:r>
              <a:rPr lang="en-US" sz="2000" b="1" dirty="0">
                <a:latin typeface="Times New Roman" panose="02020603050405020304" pitchFamily="18" charset="0"/>
                <a:cs typeface="Times New Roman" panose="02020603050405020304" pitchFamily="18" charset="0"/>
              </a:rPr>
              <a:t>classification-oriented modeling</a:t>
            </a:r>
            <a:r>
              <a:rPr lang="en-US" sz="2000" dirty="0">
                <a:latin typeface="Times New Roman" panose="02020603050405020304" pitchFamily="18" charset="0"/>
                <a:cs typeface="Times New Roman" panose="02020603050405020304" pitchFamily="18" charset="0"/>
              </a:rPr>
              <a:t> rather than detection-first approaches.</a:t>
            </a:r>
          </a:p>
          <a:p>
            <a:pPr algn="just"/>
            <a:r>
              <a:rPr lang="en-US" sz="2000" dirty="0">
                <a:latin typeface="Times New Roman" panose="02020603050405020304" pitchFamily="18" charset="0"/>
                <a:cs typeface="Times New Roman" panose="02020603050405020304" pitchFamily="18" charset="0"/>
              </a:rPr>
              <a:t>Robust performance under </a:t>
            </a:r>
            <a:r>
              <a:rPr lang="en-US" sz="2000" b="1" dirty="0">
                <a:latin typeface="Times New Roman" panose="02020603050405020304" pitchFamily="18" charset="0"/>
                <a:cs typeface="Times New Roman" panose="02020603050405020304" pitchFamily="18" charset="0"/>
              </a:rPr>
              <a:t>real-world farm conditions</a:t>
            </a:r>
            <a:r>
              <a:rPr lang="en-US" sz="2000" dirty="0">
                <a:latin typeface="Times New Roman" panose="02020603050405020304" pitchFamily="18" charset="0"/>
                <a:cs typeface="Times New Roman" panose="02020603050405020304" pitchFamily="18" charset="0"/>
              </a:rPr>
              <a:t>, including variations in lighting and background.</a:t>
            </a:r>
          </a:p>
          <a:p>
            <a:pPr algn="just"/>
            <a:r>
              <a:rPr lang="en-US" sz="2000" dirty="0">
                <a:latin typeface="Times New Roman" panose="02020603050405020304" pitchFamily="18" charset="0"/>
                <a:cs typeface="Times New Roman" panose="02020603050405020304" pitchFamily="18" charset="0"/>
              </a:rPr>
              <a:t>Designed for </a:t>
            </a:r>
            <a:r>
              <a:rPr lang="en-US" sz="2000" b="1" dirty="0">
                <a:latin typeface="Times New Roman" panose="02020603050405020304" pitchFamily="18" charset="0"/>
                <a:cs typeface="Times New Roman" panose="02020603050405020304" pitchFamily="18" charset="0"/>
              </a:rPr>
              <a:t>scalable deployment</a:t>
            </a:r>
            <a:r>
              <a:rPr lang="en-US" sz="2000" dirty="0">
                <a:latin typeface="Times New Roman" panose="02020603050405020304" pitchFamily="18" charset="0"/>
                <a:cs typeface="Times New Roman" panose="02020603050405020304" pitchFamily="18" charset="0"/>
              </a:rPr>
              <a:t>, with future support for offline and edge inference.</a:t>
            </a:r>
          </a:p>
          <a:p>
            <a:pPr algn="just"/>
            <a:r>
              <a:rPr lang="en-US" sz="2000" dirty="0">
                <a:latin typeface="Times New Roman" panose="02020603050405020304" pitchFamily="18" charset="0"/>
                <a:cs typeface="Times New Roman" panose="02020603050405020304" pitchFamily="18" charset="0"/>
              </a:rPr>
              <a:t>Can be integrated with </a:t>
            </a:r>
            <a:r>
              <a:rPr lang="en-US" sz="2000" b="1" dirty="0">
                <a:latin typeface="Times New Roman" panose="02020603050405020304" pitchFamily="18" charset="0"/>
                <a:cs typeface="Times New Roman" panose="02020603050405020304" pitchFamily="18" charset="0"/>
              </a:rPr>
              <a:t>livestock management and government breed databases</a:t>
            </a:r>
            <a:r>
              <a:rPr lang="en-US" sz="2000" dirty="0">
                <a:latin typeface="Times New Roman" panose="02020603050405020304" pitchFamily="18" charset="0"/>
                <a:cs typeface="Times New Roman" panose="02020603050405020304" pitchFamily="18" charset="0"/>
              </a:rPr>
              <a:t> for practical use.</a:t>
            </a:r>
          </a:p>
          <a:p>
            <a:pPr algn="just"/>
            <a:endParaRPr lang="en-IN" sz="2000" dirty="0">
              <a:latin typeface="Times New Roman" panose="02020603050405020304" pitchFamily="18" charset="0"/>
              <a:cs typeface="Times New Roman" panose="02020603050405020304" pitchFamily="18" charset="0"/>
            </a:endParaRPr>
          </a:p>
        </p:txBody>
      </p:sp>
      <p:sp>
        <p:nvSpPr>
          <p:cNvPr id="14" name="Date Placeholder 3">
            <a:extLst>
              <a:ext uri="{FF2B5EF4-FFF2-40B4-BE49-F238E27FC236}">
                <a16:creationId xmlns:a16="http://schemas.microsoft.com/office/drawing/2014/main" id="{439DCF5C-F3F1-7033-BAB5-D1089EE5338B}"/>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5" name="Slide Number Placeholder 5">
            <a:extLst>
              <a:ext uri="{FF2B5EF4-FFF2-40B4-BE49-F238E27FC236}">
                <a16:creationId xmlns:a16="http://schemas.microsoft.com/office/drawing/2014/main" id="{731129A4-2564-658F-C5E7-AC0C0BAFC7A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sp>
        <p:nvSpPr>
          <p:cNvPr id="16" name="Rectangle 15">
            <a:extLst>
              <a:ext uri="{FF2B5EF4-FFF2-40B4-BE49-F238E27FC236}">
                <a16:creationId xmlns:a16="http://schemas.microsoft.com/office/drawing/2014/main" id="{7EDC1669-BF0F-122F-8B0E-4A6996D61450}"/>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428885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7658E-5670-DB6A-F1E3-240B4932AC1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0485BAE6-03FD-491D-0E73-B450419B1D0C}"/>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37577DE3-017D-EE45-9BF1-6B1FE864382A}"/>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CAEF9A31-E789-F947-B2B5-FF64F9CF90F2}"/>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Date Placeholder 2">
            <a:extLst>
              <a:ext uri="{FF2B5EF4-FFF2-40B4-BE49-F238E27FC236}">
                <a16:creationId xmlns:a16="http://schemas.microsoft.com/office/drawing/2014/main" id="{29F67C8A-32F4-B8EE-31E8-1AC958E8A0D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7" name="Footer Placeholder 3">
            <a:extLst>
              <a:ext uri="{FF2B5EF4-FFF2-40B4-BE49-F238E27FC236}">
                <a16:creationId xmlns:a16="http://schemas.microsoft.com/office/drawing/2014/main" id="{DEDAD67D-118C-A4CD-CD8F-1BC97C28E2A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8" name="Slide Number Placeholder 4">
            <a:extLst>
              <a:ext uri="{FF2B5EF4-FFF2-40B4-BE49-F238E27FC236}">
                <a16:creationId xmlns:a16="http://schemas.microsoft.com/office/drawing/2014/main" id="{A1C9A704-A0E9-311C-F764-9CFD27D6083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9" name="Date Placeholder 2">
            <a:extLst>
              <a:ext uri="{FF2B5EF4-FFF2-40B4-BE49-F238E27FC236}">
                <a16:creationId xmlns:a16="http://schemas.microsoft.com/office/drawing/2014/main" id="{6F3269B2-EDF6-DD58-C5E7-6518D9DA7EE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8-Mar-26</a:t>
            </a:fld>
            <a:endParaRPr lang="en-US"/>
          </a:p>
        </p:txBody>
      </p:sp>
      <p:sp>
        <p:nvSpPr>
          <p:cNvPr id="10" name="Footer Placeholder 3">
            <a:extLst>
              <a:ext uri="{FF2B5EF4-FFF2-40B4-BE49-F238E27FC236}">
                <a16:creationId xmlns:a16="http://schemas.microsoft.com/office/drawing/2014/main" id="{79DE04B4-68E5-4F09-40C7-587C22653E92}"/>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1" name="Slide Number Placeholder 4">
            <a:extLst>
              <a:ext uri="{FF2B5EF4-FFF2-40B4-BE49-F238E27FC236}">
                <a16:creationId xmlns:a16="http://schemas.microsoft.com/office/drawing/2014/main" id="{0618E7D2-0201-AB8E-8E36-B18598E3A64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12" name="Title 1">
            <a:extLst>
              <a:ext uri="{FF2B5EF4-FFF2-40B4-BE49-F238E27FC236}">
                <a16:creationId xmlns:a16="http://schemas.microsoft.com/office/drawing/2014/main" id="{ECA4549F-2FF1-B451-DC4B-07BD1950AC0C}"/>
              </a:ext>
            </a:extLst>
          </p:cNvPr>
          <p:cNvSpPr txBox="1">
            <a:spLocks/>
          </p:cNvSpPr>
          <p:nvPr/>
        </p:nvSpPr>
        <p:spPr>
          <a:xfrm>
            <a:off x="685800" y="13652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a:cs typeface="Times New Roman"/>
              </a:rPr>
              <a:t>Proposed System: </a:t>
            </a:r>
            <a:r>
              <a:rPr lang="en-US" sz="2800" b="1">
                <a:latin typeface="Times New Roman"/>
                <a:ea typeface="+mj-lt"/>
                <a:cs typeface="Times New Roman"/>
              </a:rPr>
              <a:t>Workflow &amp; Architecture</a:t>
            </a:r>
            <a:endParaRPr lang="en-IN" sz="2800" b="1">
              <a:latin typeface="Times New Roman"/>
              <a:ea typeface="+mj-lt"/>
              <a:cs typeface="Times New Roman"/>
            </a:endParaRPr>
          </a:p>
        </p:txBody>
      </p:sp>
      <p:sp>
        <p:nvSpPr>
          <p:cNvPr id="13" name="Content Placeholder 2">
            <a:extLst>
              <a:ext uri="{FF2B5EF4-FFF2-40B4-BE49-F238E27FC236}">
                <a16:creationId xmlns:a16="http://schemas.microsoft.com/office/drawing/2014/main" id="{25592026-B39F-7F88-90CA-A1DFB64A83FC}"/>
              </a:ext>
            </a:extLst>
          </p:cNvPr>
          <p:cNvSpPr txBox="1">
            <a:spLocks/>
          </p:cNvSpPr>
          <p:nvPr/>
        </p:nvSpPr>
        <p:spPr>
          <a:xfrm>
            <a:off x="1366907" y="1529258"/>
            <a:ext cx="7325590" cy="4704609"/>
          </a:xfrm>
          <a:prstGeom prst="rect">
            <a:avLst/>
          </a:prstGeom>
        </p:spPr>
        <p:txBody>
          <a:bodyPr lIns="91440" tIns="45720" rIns="91440" bIns="4572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b="1">
                <a:latin typeface="Times New Roman"/>
                <a:ea typeface="+mn-lt"/>
                <a:cs typeface="Times New Roman"/>
              </a:rPr>
              <a:t>Image Upload:</a:t>
            </a:r>
            <a:r>
              <a:rPr lang="en-US" sz="2000">
                <a:latin typeface="Times New Roman"/>
                <a:ea typeface="+mn-lt"/>
                <a:cs typeface="Times New Roman"/>
              </a:rPr>
              <a:t> Users upload cattle or buffalo images through a web-based interface.</a:t>
            </a:r>
            <a:endParaRPr lang="en-US" sz="2000">
              <a:latin typeface="Times New Roman"/>
              <a:cs typeface="Times New Roman"/>
            </a:endParaRPr>
          </a:p>
          <a:p>
            <a:pPr algn="just"/>
            <a:r>
              <a:rPr lang="en-US" sz="2000" b="1" dirty="0">
                <a:latin typeface="Times New Roman"/>
                <a:ea typeface="+mn-lt"/>
                <a:cs typeface="Times New Roman"/>
              </a:rPr>
              <a:t>Image Preprocessing: </a:t>
            </a:r>
            <a:r>
              <a:rPr lang="en-US" sz="2000" dirty="0">
                <a:latin typeface="Times New Roman"/>
                <a:ea typeface="+mn-lt"/>
                <a:cs typeface="Times New Roman"/>
              </a:rPr>
              <a:t>The system performs image </a:t>
            </a:r>
            <a:r>
              <a:rPr lang="en-US" sz="2000">
                <a:latin typeface="Times New Roman"/>
                <a:ea typeface="+mn-lt"/>
                <a:cs typeface="Times New Roman"/>
              </a:rPr>
              <a:t>resizing, normalization, and format validation to prepare the image for model processing.</a:t>
            </a:r>
            <a:endParaRPr lang="en-US" sz="2000" dirty="0">
              <a:latin typeface="Times New Roman"/>
              <a:ea typeface="+mn-lt"/>
              <a:cs typeface="Times New Roman"/>
            </a:endParaRPr>
          </a:p>
          <a:p>
            <a:pPr algn="just"/>
            <a:r>
              <a:rPr lang="en-US" sz="2000" b="1">
                <a:latin typeface="Times New Roman"/>
                <a:ea typeface="+mn-lt"/>
                <a:cs typeface="Times New Roman"/>
              </a:rPr>
              <a:t>Deep Learning Model (YOLO): </a:t>
            </a:r>
            <a:r>
              <a:rPr lang="en-US" sz="2000">
                <a:latin typeface="Times New Roman"/>
                <a:ea typeface="+mn-lt"/>
                <a:cs typeface="Times New Roman"/>
              </a:rPr>
              <a:t>The trained model analyzes visual features such as coat pattern, horn shape, body structure, and facial characteristics to classify the breed.</a:t>
            </a:r>
            <a:endParaRPr lang="en-US" sz="2000" dirty="0">
              <a:latin typeface="Times New Roman"/>
              <a:ea typeface="Calibri"/>
              <a:cs typeface="Times New Roman"/>
            </a:endParaRPr>
          </a:p>
          <a:p>
            <a:pPr algn="just"/>
            <a:r>
              <a:rPr lang="en-US" sz="2000" b="1">
                <a:latin typeface="Times New Roman"/>
                <a:ea typeface="+mn-lt"/>
                <a:cs typeface="Times New Roman"/>
              </a:rPr>
              <a:t>Prediction Output:</a:t>
            </a:r>
            <a:r>
              <a:rPr lang="en-US" sz="2000">
                <a:latin typeface="Times New Roman"/>
                <a:ea typeface="+mn-lt"/>
                <a:cs typeface="Times New Roman"/>
              </a:rPr>
              <a:t> The system displays the predicted breed along with a confidence score.</a:t>
            </a:r>
            <a:endParaRPr lang="en-US" sz="2000" dirty="0">
              <a:latin typeface="Times New Roman"/>
              <a:ea typeface="+mn-lt"/>
              <a:cs typeface="Times New Roman"/>
            </a:endParaRPr>
          </a:p>
          <a:p>
            <a:pPr algn="just"/>
            <a:r>
              <a:rPr lang="en-US" sz="2000" b="1" dirty="0">
                <a:latin typeface="Times New Roman"/>
                <a:ea typeface="+mn-lt"/>
                <a:cs typeface="Times New Roman"/>
              </a:rPr>
              <a:t>Future Integration:</a:t>
            </a:r>
            <a:r>
              <a:rPr lang="en-US" sz="2000" dirty="0">
                <a:latin typeface="Times New Roman"/>
                <a:ea typeface="+mn-lt"/>
                <a:cs typeface="Times New Roman"/>
              </a:rPr>
              <a:t> The system can be integrated with the Bharat </a:t>
            </a:r>
            <a:r>
              <a:rPr lang="en-US" sz="2000" dirty="0" err="1">
                <a:latin typeface="Times New Roman"/>
                <a:ea typeface="+mn-lt"/>
                <a:cs typeface="Times New Roman"/>
              </a:rPr>
              <a:t>Pashudhan</a:t>
            </a:r>
            <a:r>
              <a:rPr lang="en-US" sz="2000" dirty="0">
                <a:latin typeface="Times New Roman"/>
                <a:ea typeface="+mn-lt"/>
                <a:cs typeface="Times New Roman"/>
              </a:rPr>
              <a:t> App for real-time breed validation during livestock registration.</a:t>
            </a:r>
            <a:endParaRPr lang="en-US" sz="2000" dirty="0">
              <a:latin typeface="Times New Roman"/>
              <a:ea typeface="Calibri"/>
              <a:cs typeface="Times New Roman"/>
            </a:endParaRPr>
          </a:p>
          <a:p>
            <a:pPr algn="just"/>
            <a:endParaRPr lang="en-US" sz="2000" dirty="0">
              <a:latin typeface="Times New Roman" panose="02020603050405020304" pitchFamily="18" charset="0"/>
              <a:cs typeface="Times New Roman" panose="02020603050405020304" pitchFamily="18" charset="0"/>
            </a:endParaRPr>
          </a:p>
        </p:txBody>
      </p:sp>
      <p:sp>
        <p:nvSpPr>
          <p:cNvPr id="14" name="Date Placeholder 3">
            <a:extLst>
              <a:ext uri="{FF2B5EF4-FFF2-40B4-BE49-F238E27FC236}">
                <a16:creationId xmlns:a16="http://schemas.microsoft.com/office/drawing/2014/main" id="{6C1B0F92-2B74-17F3-1C09-0FDF58ED24E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8-Mar-26</a:t>
            </a:fld>
            <a:endParaRPr lang="en-US"/>
          </a:p>
        </p:txBody>
      </p:sp>
      <p:sp>
        <p:nvSpPr>
          <p:cNvPr id="15" name="Slide Number Placeholder 5">
            <a:extLst>
              <a:ext uri="{FF2B5EF4-FFF2-40B4-BE49-F238E27FC236}">
                <a16:creationId xmlns:a16="http://schemas.microsoft.com/office/drawing/2014/main" id="{F090B8CC-3B70-5D6E-BF17-F59F267158B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16" name="Rectangle 15">
            <a:extLst>
              <a:ext uri="{FF2B5EF4-FFF2-40B4-BE49-F238E27FC236}">
                <a16:creationId xmlns:a16="http://schemas.microsoft.com/office/drawing/2014/main" id="{FFA0EEAF-18B1-C225-6C1A-F5044D4735B6}"/>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690674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B68A2B-31FE-1415-6263-5875105331EF}"/>
              </a:ext>
            </a:extLst>
          </p:cNvPr>
          <p:cNvSpPr>
            <a:spLocks noGrp="1"/>
          </p:cNvSpPr>
          <p:nvPr>
            <p:ph type="dt" sz="half" idx="10"/>
          </p:nvPr>
        </p:nvSpPr>
        <p:spPr/>
        <p:txBody>
          <a:bodyPr/>
          <a:lstStyle/>
          <a:p>
            <a:fld id="{0BB3B52F-2362-48C5-A10E-D31030FED84D}" type="datetime5">
              <a:rPr lang="en-US" smtClean="0"/>
              <a:t>8-Mar-26</a:t>
            </a:fld>
            <a:endParaRPr lang="en-US"/>
          </a:p>
        </p:txBody>
      </p:sp>
      <p:sp>
        <p:nvSpPr>
          <p:cNvPr id="4" name="Footer Placeholder 3">
            <a:extLst>
              <a:ext uri="{FF2B5EF4-FFF2-40B4-BE49-F238E27FC236}">
                <a16:creationId xmlns:a16="http://schemas.microsoft.com/office/drawing/2014/main" id="{C8C74D94-EF52-B56C-EC12-E68657295147}"/>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27BDFD78-5E0A-7D8E-EBF2-3D5E3D4730B8}"/>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6" name="Date Placeholder 3">
            <a:extLst>
              <a:ext uri="{FF2B5EF4-FFF2-40B4-BE49-F238E27FC236}">
                <a16:creationId xmlns:a16="http://schemas.microsoft.com/office/drawing/2014/main" id="{DA327CA4-1898-5FA2-A864-0C688EC20F8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E138B8-740D-4C3D-A99B-11C6F9206D6A}" type="datetime5">
              <a:rPr lang="en-US" smtClean="0"/>
              <a:pPr/>
              <a:t>8-Mar-26</a:t>
            </a:fld>
            <a:endParaRPr lang="en-US"/>
          </a:p>
        </p:txBody>
      </p:sp>
      <p:sp>
        <p:nvSpPr>
          <p:cNvPr id="7" name="Footer Placeholder 4">
            <a:extLst>
              <a:ext uri="{FF2B5EF4-FFF2-40B4-BE49-F238E27FC236}">
                <a16:creationId xmlns:a16="http://schemas.microsoft.com/office/drawing/2014/main" id="{D8159039-05C4-8392-17D7-2E789CB45A9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Department of AI&amp;DS</a:t>
            </a:r>
          </a:p>
        </p:txBody>
      </p:sp>
      <p:sp>
        <p:nvSpPr>
          <p:cNvPr id="8" name="Slide Number Placeholder 5">
            <a:extLst>
              <a:ext uri="{FF2B5EF4-FFF2-40B4-BE49-F238E27FC236}">
                <a16:creationId xmlns:a16="http://schemas.microsoft.com/office/drawing/2014/main" id="{3319A897-C119-8A31-D65D-C7D019172A2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17</a:t>
            </a:fld>
            <a:endParaRPr lang="en-US"/>
          </a:p>
        </p:txBody>
      </p:sp>
      <p:sp>
        <p:nvSpPr>
          <p:cNvPr id="9" name="Title 8">
            <a:extLst>
              <a:ext uri="{FF2B5EF4-FFF2-40B4-BE49-F238E27FC236}">
                <a16:creationId xmlns:a16="http://schemas.microsoft.com/office/drawing/2014/main" id="{5F4EB17A-ACB1-80BB-C813-3E360B2692EE}"/>
              </a:ext>
            </a:extLst>
          </p:cNvPr>
          <p:cNvSpPr txBox="1">
            <a:spLocks/>
          </p:cNvSpPr>
          <p:nvPr/>
        </p:nvSpPr>
        <p:spPr>
          <a:xfrm>
            <a:off x="1376317" y="506259"/>
            <a:ext cx="7543800" cy="9906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Architecture Block diagram </a:t>
            </a: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Rectangle 9">
            <a:extLst>
              <a:ext uri="{FF2B5EF4-FFF2-40B4-BE49-F238E27FC236}">
                <a16:creationId xmlns:a16="http://schemas.microsoft.com/office/drawing/2014/main" id="{2ED337C2-914E-BB24-3466-5D9B50F4E7E3}"/>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pic>
        <p:nvPicPr>
          <p:cNvPr id="19" name="Picture 18">
            <a:extLst>
              <a:ext uri="{FF2B5EF4-FFF2-40B4-BE49-F238E27FC236}">
                <a16:creationId xmlns:a16="http://schemas.microsoft.com/office/drawing/2014/main" id="{6E9CB048-797E-E42E-6709-9608547E2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187451"/>
            <a:ext cx="7239000" cy="2714625"/>
          </a:xfrm>
          <a:prstGeom prst="rect">
            <a:avLst/>
          </a:prstGeom>
        </p:spPr>
      </p:pic>
      <p:pic>
        <p:nvPicPr>
          <p:cNvPr id="12" name="Picture 11">
            <a:extLst>
              <a:ext uri="{FF2B5EF4-FFF2-40B4-BE49-F238E27FC236}">
                <a16:creationId xmlns:a16="http://schemas.microsoft.com/office/drawing/2014/main" id="{FC058606-F8ED-C11E-DB57-F0A0D9FCA0E9}"/>
              </a:ext>
            </a:extLst>
          </p:cNvPr>
          <p:cNvPicPr>
            <a:picLocks noChangeAspect="1"/>
          </p:cNvPicPr>
          <p:nvPr/>
        </p:nvPicPr>
        <p:blipFill>
          <a:blip r:embed="rId3"/>
          <a:stretch>
            <a:fillRect/>
          </a:stretch>
        </p:blipFill>
        <p:spPr>
          <a:xfrm>
            <a:off x="5029200" y="3886200"/>
            <a:ext cx="3310653" cy="2183710"/>
          </a:xfrm>
          <a:prstGeom prst="rect">
            <a:avLst/>
          </a:prstGeom>
        </p:spPr>
      </p:pic>
    </p:spTree>
    <p:extLst>
      <p:ext uri="{BB962C8B-B14F-4D97-AF65-F5344CB8AC3E}">
        <p14:creationId xmlns:p14="http://schemas.microsoft.com/office/powerpoint/2010/main" val="44160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E138B8-740D-4C3D-A99B-11C6F9206D6A}" type="datetime5">
              <a:rPr lang="en-US" smtClean="0"/>
              <a:t>8-Mar-26</a:t>
            </a:fld>
            <a:endParaRPr lang="en-US"/>
          </a:p>
        </p:txBody>
      </p:sp>
      <p:sp>
        <p:nvSpPr>
          <p:cNvPr id="3" name="Footer Placeholder 4">
            <a:extLst>
              <a:ext uri="{FF2B5EF4-FFF2-40B4-BE49-F238E27FC236}">
                <a16:creationId xmlns:a16="http://schemas.microsoft.com/office/drawing/2014/main" id="{F7C1D5A8-0C25-C5A9-CF29-3900F40CB5AE}"/>
              </a:ext>
            </a:extLst>
          </p:cNvPr>
          <p:cNvSpPr>
            <a:spLocks noGrp="1"/>
          </p:cNvSpPr>
          <p:nvPr>
            <p:ph type="ftr" sz="quarter" idx="11"/>
          </p:nvPr>
        </p:nvSpPr>
        <p:spPr/>
        <p:txBody>
          <a:bodyPr/>
          <a:lstStyle/>
          <a:p>
            <a:r>
              <a:rPr lang="en-US"/>
              <a:t>Department of AI&amp;DS</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8"/>
          <p:cNvSpPr txBox="1">
            <a:spLocks/>
          </p:cNvSpPr>
          <p:nvPr/>
        </p:nvSpPr>
        <p:spPr>
          <a:xfrm>
            <a:off x="1219200" y="533400"/>
            <a:ext cx="7543800" cy="9906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a:t>
            </a:r>
            <a:r>
              <a:rPr lang="en-IN" sz="3600" dirty="0">
                <a:latin typeface="Times New Roman" pitchFamily="18" charset="0"/>
                <a:ea typeface="+mj-ea"/>
                <a:cs typeface="Times New Roman" pitchFamily="18" charset="0"/>
              </a:rPr>
              <a:t>s</a:t>
            </a: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 name="Rectangle 1">
            <a:extLst>
              <a:ext uri="{FF2B5EF4-FFF2-40B4-BE49-F238E27FC236}">
                <a16:creationId xmlns:a16="http://schemas.microsoft.com/office/drawing/2014/main" id="{E57FFE89-C4BB-9488-F8B0-AC72FC9977BA}"/>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3" name="Rectangle 3">
            <a:extLst>
              <a:ext uri="{FF2B5EF4-FFF2-40B4-BE49-F238E27FC236}">
                <a16:creationId xmlns:a16="http://schemas.microsoft.com/office/drawing/2014/main" id="{48D685E2-E2B9-5714-2C6B-3BCD026148D4}"/>
              </a:ext>
            </a:extLst>
          </p:cNvPr>
          <p:cNvSpPr>
            <a:spLocks noGrp="1" noChangeArrowheads="1"/>
          </p:cNvSpPr>
          <p:nvPr>
            <p:ph idx="1"/>
          </p:nvPr>
        </p:nvSpPr>
        <p:spPr bwMode="auto">
          <a:xfrm>
            <a:off x="1981200" y="1567186"/>
            <a:ext cx="6705600"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i="0" u="none" strike="noStrike" cap="none" normalizeH="0" baseline="0" dirty="0">
                <a:ln>
                  <a:noFill/>
                </a:ln>
                <a:effectLst/>
                <a:latin typeface="Times New Roman"/>
                <a:cs typeface="Times New Roman"/>
              </a:rPr>
              <a:t>Image Acquisition Module</a:t>
            </a:r>
            <a:endParaRPr lang="en-US"/>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i="0" u="none" strike="noStrike" cap="none" normalizeH="0" baseline="0" dirty="0">
                <a:ln>
                  <a:noFill/>
                </a:ln>
                <a:effectLst/>
                <a:latin typeface="Times New Roman"/>
                <a:cs typeface="Times New Roman"/>
              </a:rPr>
              <a:t>Image Preprocessing Module</a:t>
            </a:r>
            <a:endParaRPr lang="en-US" altLang="en-US" sz="2000" i="0" u="none" strike="noStrike" cap="none" normalizeH="0" baseline="0" dirty="0">
              <a:ln>
                <a:noFill/>
              </a:ln>
              <a:effectLst/>
              <a:latin typeface="Times New Roman"/>
              <a:cs typeface="Times New Roman"/>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i="0" u="none" strike="noStrike" cap="none" normalizeH="0" baseline="0" dirty="0">
                <a:ln>
                  <a:noFill/>
                </a:ln>
                <a:effectLst/>
                <a:latin typeface="Times New Roman"/>
                <a:cs typeface="Times New Roman"/>
              </a:rPr>
              <a:t>Feature Extraction Module (</a:t>
            </a:r>
            <a:r>
              <a:rPr lang="en-US" altLang="en-US" sz="2000" dirty="0">
                <a:latin typeface="Times New Roman"/>
                <a:cs typeface="Times New Roman"/>
              </a:rPr>
              <a:t>Deep Learning Model</a:t>
            </a:r>
            <a:r>
              <a:rPr kumimoji="0" lang="en-US" altLang="en-US" sz="2000" i="0" u="none" strike="noStrike" cap="none" normalizeH="0" baseline="0" dirty="0">
                <a:ln>
                  <a:noFill/>
                </a:ln>
                <a:effectLst/>
                <a:latin typeface="Times New Roman"/>
                <a:cs typeface="Times New Roman"/>
              </a:rPr>
              <a:t>)</a:t>
            </a:r>
            <a:endParaRPr lang="en-US" altLang="en-US" sz="2000" i="0" u="none" strike="noStrike" cap="none" normalizeH="0" baseline="0" dirty="0">
              <a:ln>
                <a:noFill/>
              </a:ln>
              <a:effectLst/>
              <a:latin typeface="Times New Roman"/>
              <a:cs typeface="Times New Roman"/>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i="0" u="none" strike="noStrike" cap="none" normalizeH="0" baseline="0" dirty="0">
                <a:ln>
                  <a:noFill/>
                </a:ln>
                <a:effectLst/>
                <a:latin typeface="Times New Roman"/>
                <a:cs typeface="Times New Roman"/>
              </a:rPr>
              <a:t>Breed Classification Module (Image-based Classifier)</a:t>
            </a:r>
            <a:endParaRPr lang="en-US" altLang="en-US" sz="2000" i="0" u="none" strike="noStrike" cap="none" normalizeH="0" baseline="0" dirty="0">
              <a:ln>
                <a:noFill/>
              </a:ln>
              <a:effectLst/>
              <a:latin typeface="Times New Roman"/>
              <a:cs typeface="Times New Roman"/>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i="0" u="none" strike="noStrike" cap="none" normalizeH="0" baseline="0" dirty="0">
                <a:ln>
                  <a:noFill/>
                </a:ln>
                <a:effectLst/>
                <a:latin typeface="Times New Roman"/>
                <a:cs typeface="Times New Roman"/>
              </a:rPr>
              <a:t>Prediction &amp; Result Analysis Module</a:t>
            </a:r>
            <a:endParaRPr lang="en-US" altLang="en-US" sz="2000" i="0" u="none" strike="noStrike" cap="none" normalizeH="0" baseline="0" dirty="0">
              <a:ln>
                <a:noFill/>
              </a:ln>
              <a:effectLst/>
              <a:latin typeface="Times New Roman"/>
              <a:cs typeface="Times New Roman"/>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i="0" u="none" strike="noStrike" cap="none" normalizeH="0" baseline="0" dirty="0">
                <a:ln>
                  <a:noFill/>
                </a:ln>
                <a:effectLst/>
                <a:latin typeface="Times New Roman"/>
                <a:cs typeface="Times New Roman"/>
              </a:rPr>
              <a:t>User Interface &amp; Deployment Module</a:t>
            </a:r>
            <a:endParaRPr lang="en-US" altLang="en-US" sz="2000" i="0" u="none" strike="noStrike" cap="none" normalizeH="0" baseline="0" dirty="0">
              <a:ln>
                <a:noFill/>
              </a:ln>
              <a:effectLst/>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F068B-92A2-AD79-ACFA-1EEDCF40ADF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F38B40B-94D0-DF6B-40FE-8999E3FDCCDC}"/>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D9DE96CF-3C22-C8DB-1029-D2360A0DEA45}"/>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8" name="Title 8">
            <a:extLst>
              <a:ext uri="{FF2B5EF4-FFF2-40B4-BE49-F238E27FC236}">
                <a16:creationId xmlns:a16="http://schemas.microsoft.com/office/drawing/2014/main" id="{8B38034B-D5B0-8628-DF20-23277B0EE3AE}"/>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B0E68DC8-3859-DD41-058A-335A3AE5428E}"/>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E7EF041E-7287-CA6C-6DAF-C0525A4CC4F4}"/>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2CBE55C-750E-3A0D-039D-1427756D703B}"/>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5D300A7E-9783-B822-FD5F-3B25AB7BAFD6}"/>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DAAC3DFB-4407-6BEC-0654-020AD5C65066}"/>
              </a:ext>
            </a:extLst>
          </p:cNvPr>
          <p:cNvSpPr>
            <a:spLocks noChangeArrowheads="1"/>
          </p:cNvSpPr>
          <p:nvPr/>
        </p:nvSpPr>
        <p:spPr bwMode="auto">
          <a:xfrm>
            <a:off x="1392458" y="1427390"/>
            <a:ext cx="7294342"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a:latin typeface="Times New Roman"/>
                <a:cs typeface="Times New Roman"/>
              </a:rPr>
              <a:t>MODULE 1:  Image Acquisition Module</a:t>
            </a:r>
          </a:p>
          <a:p>
            <a:endParaRPr lang="en-US" sz="2000" b="1" dirty="0">
              <a:latin typeface="Times New Roman"/>
              <a:ea typeface="+mn-lt"/>
              <a:cs typeface="Times New Roman"/>
            </a:endParaRPr>
          </a:p>
          <a:p>
            <a:r>
              <a:rPr lang="en-US" sz="2000" b="1">
                <a:latin typeface="Times New Roman"/>
                <a:ea typeface="+mn-lt"/>
                <a:cs typeface="Times New Roman"/>
              </a:rPr>
              <a:t>Purpose:    </a:t>
            </a:r>
            <a:endParaRPr lang="en-US" sz="2000">
              <a:latin typeface="Times New Roman"/>
              <a:ea typeface="+mn-lt"/>
              <a:cs typeface="Times New Roman"/>
            </a:endParaRPr>
          </a:p>
          <a:p>
            <a:r>
              <a:rPr lang="en-US" sz="2000">
                <a:latin typeface="Times New Roman"/>
                <a:ea typeface="+mn-lt"/>
                <a:cs typeface="Times New Roman"/>
              </a:rPr>
              <a:t>  Manages the capture or upload of cattle and buffalo images from mobile devices or cameras under real-time farm conditions.</a:t>
            </a:r>
            <a:endParaRPr lang="en-US" sz="2000">
              <a:latin typeface="Times New Roman"/>
              <a:cs typeface="Times New Roman"/>
            </a:endParaRPr>
          </a:p>
          <a:p>
            <a:endParaRPr lang="en-US" sz="2000" dirty="0">
              <a:latin typeface="Times New Roman"/>
              <a:ea typeface="+mn-lt"/>
              <a:cs typeface="Times New Roman"/>
            </a:endParaRPr>
          </a:p>
          <a:p>
            <a:r>
              <a:rPr lang="en-US" sz="2000" b="1">
                <a:latin typeface="Times New Roman"/>
                <a:ea typeface="+mn-lt"/>
                <a:cs typeface="Times New Roman"/>
              </a:rPr>
              <a:t>Key Functions : </a:t>
            </a:r>
            <a:endParaRPr lang="en-US" sz="2000">
              <a:latin typeface="Times New Roman"/>
              <a:ea typeface="+mn-lt"/>
              <a:cs typeface="Times New Roman"/>
            </a:endParaRPr>
          </a:p>
          <a:p>
            <a:endParaRPr lang="en-US" sz="2000" dirty="0">
              <a:latin typeface="Times New Roman"/>
              <a:ea typeface="+mn-lt"/>
              <a:cs typeface="Times New Roman"/>
            </a:endParaRPr>
          </a:p>
          <a:p>
            <a:pPr marL="342900" indent="-342900">
              <a:lnSpc>
                <a:spcPct val="150000"/>
              </a:lnSpc>
              <a:buFont typeface="Arial"/>
              <a:buChar char="•"/>
            </a:pPr>
            <a:r>
              <a:rPr lang="en-US" sz="2000">
                <a:latin typeface="Times New Roman"/>
                <a:ea typeface="+mn-lt"/>
                <a:cs typeface="Times New Roman"/>
              </a:rPr>
              <a:t>Allows users to upload images through a </a:t>
            </a:r>
            <a:r>
              <a:rPr lang="en-US" sz="2000" b="1">
                <a:latin typeface="Times New Roman"/>
                <a:ea typeface="+mn-lt"/>
                <a:cs typeface="Times New Roman"/>
              </a:rPr>
              <a:t>web interface</a:t>
            </a:r>
            <a:r>
              <a:rPr lang="en-US" sz="2000">
                <a:latin typeface="Times New Roman"/>
                <a:ea typeface="+mn-lt"/>
                <a:cs typeface="Times New Roman"/>
              </a:rPr>
              <a:t>.</a:t>
            </a:r>
          </a:p>
          <a:p>
            <a:pPr marL="342900" indent="-342900">
              <a:lnSpc>
                <a:spcPct val="150000"/>
              </a:lnSpc>
              <a:buFont typeface="Arial"/>
              <a:buChar char="•"/>
            </a:pPr>
            <a:r>
              <a:rPr lang="en-US" sz="2000" dirty="0">
                <a:latin typeface="Times New Roman"/>
                <a:ea typeface="+mn-lt"/>
                <a:cs typeface="Times New Roman"/>
              </a:rPr>
              <a:t>Images can be captured using </a:t>
            </a:r>
            <a:r>
              <a:rPr lang="en-US" sz="2000" b="1" dirty="0">
                <a:latin typeface="Times New Roman"/>
                <a:ea typeface="+mn-lt"/>
                <a:cs typeface="Times New Roman"/>
              </a:rPr>
              <a:t>mobile phones or digital cameras</a:t>
            </a:r>
            <a:r>
              <a:rPr lang="en-US" sz="2000" dirty="0">
                <a:latin typeface="Times New Roman"/>
                <a:ea typeface="+mn-lt"/>
                <a:cs typeface="Times New Roman"/>
              </a:rPr>
              <a:t>.</a:t>
            </a:r>
          </a:p>
          <a:p>
            <a:pPr marL="342900" indent="-342900">
              <a:lnSpc>
                <a:spcPct val="150000"/>
              </a:lnSpc>
              <a:buFont typeface="Arial"/>
              <a:buChar char="•"/>
            </a:pPr>
            <a:r>
              <a:rPr lang="en-US" sz="2000">
                <a:latin typeface="Times New Roman"/>
                <a:ea typeface="+mn-lt"/>
                <a:cs typeface="Times New Roman"/>
              </a:rPr>
              <a:t>Supports common image formats such as </a:t>
            </a:r>
            <a:r>
              <a:rPr lang="en-US" sz="2000" b="1">
                <a:latin typeface="Times New Roman"/>
                <a:ea typeface="+mn-lt"/>
                <a:cs typeface="Times New Roman"/>
              </a:rPr>
              <a:t>JPEG and PNG</a:t>
            </a:r>
            <a:r>
              <a:rPr lang="en-US" sz="2000">
                <a:latin typeface="Times New Roman"/>
                <a:ea typeface="+mn-lt"/>
                <a:cs typeface="Times New Roman"/>
              </a:rPr>
              <a:t>.</a:t>
            </a:r>
            <a:endParaRPr lang="en-US">
              <a:ea typeface="Calibri"/>
              <a:cs typeface="Calibri"/>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5067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ACFB-721F-D596-836A-A346CC3F2DE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E0820BF-AD58-5666-73D4-A355F10160E2}"/>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2ED1894C-FD47-30AD-129C-BFD375BC56A6}"/>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8" name="Title 8">
            <a:extLst>
              <a:ext uri="{FF2B5EF4-FFF2-40B4-BE49-F238E27FC236}">
                <a16:creationId xmlns:a16="http://schemas.microsoft.com/office/drawing/2014/main" id="{D94F7039-13F7-788B-EFA3-D8AFFC8726D0}"/>
              </a:ext>
            </a:extLst>
          </p:cNvPr>
          <p:cNvSpPr txBox="1">
            <a:spLocks/>
          </p:cNvSpPr>
          <p:nvPr/>
        </p:nvSpPr>
        <p:spPr>
          <a:xfrm>
            <a:off x="1295400" y="41564"/>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84831F32-2E76-7920-FF6D-C09291774B4F}"/>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59182735-3687-3FF6-7C12-30484EDEEE07}"/>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8D6509E-94EF-C34E-FF1E-14EC8CE8DC86}"/>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C9594EE7-A660-435C-6DA2-13EFD6884C56}"/>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9F77AEA7-033A-CC19-C677-B7D242839DFC}"/>
              </a:ext>
            </a:extLst>
          </p:cNvPr>
          <p:cNvSpPr>
            <a:spLocks noChangeArrowheads="1"/>
          </p:cNvSpPr>
          <p:nvPr/>
        </p:nvSpPr>
        <p:spPr bwMode="auto">
          <a:xfrm>
            <a:off x="1392458" y="1255683"/>
            <a:ext cx="6961833"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a:latin typeface="Times New Roman"/>
                <a:cs typeface="Times New Roman"/>
              </a:rPr>
              <a:t>MODULE 1:  Image Acquisition Module</a:t>
            </a:r>
          </a:p>
          <a:p>
            <a:endParaRPr lang="en-US" sz="2000" b="1" dirty="0">
              <a:latin typeface="Times New Roman"/>
              <a:ea typeface="+mn-lt"/>
              <a:cs typeface="Times New Roman"/>
            </a:endParaRPr>
          </a:p>
          <a:p>
            <a:pPr>
              <a:lnSpc>
                <a:spcPct val="150000"/>
              </a:lnSpc>
            </a:pPr>
            <a:r>
              <a:rPr lang="en-US" sz="2000" b="1">
                <a:latin typeface="Times New Roman"/>
                <a:ea typeface="+mn-lt"/>
                <a:cs typeface="Times New Roman"/>
              </a:rPr>
              <a:t>Working:  </a:t>
            </a:r>
            <a:endParaRPr lang="en-US" sz="2000">
              <a:latin typeface="Times New Roman"/>
              <a:ea typeface="+mn-lt"/>
              <a:cs typeface="Times New Roman"/>
            </a:endParaRPr>
          </a:p>
          <a:p>
            <a:pPr marL="342900" indent="-342900">
              <a:lnSpc>
                <a:spcPct val="150000"/>
              </a:lnSpc>
              <a:buFont typeface="Arial"/>
              <a:buChar char="•"/>
            </a:pPr>
            <a:r>
              <a:rPr lang="en-US" sz="2000" dirty="0">
                <a:latin typeface="Times New Roman"/>
                <a:ea typeface="+mn-lt"/>
                <a:cs typeface="Times New Roman"/>
              </a:rPr>
              <a:t>The module validates uploaded images before processing.</a:t>
            </a:r>
          </a:p>
          <a:p>
            <a:pPr marL="342900" indent="-342900">
              <a:lnSpc>
                <a:spcPct val="150000"/>
              </a:lnSpc>
              <a:buFont typeface="Arial"/>
              <a:buChar char="•"/>
            </a:pPr>
            <a:r>
              <a:rPr lang="en-US" sz="2000">
                <a:latin typeface="Times New Roman"/>
                <a:ea typeface="+mn-lt"/>
                <a:cs typeface="Times New Roman"/>
              </a:rPr>
              <a:t>Ensures that the image is not corrupted</a:t>
            </a:r>
          </a:p>
          <a:p>
            <a:pPr marL="342900" indent="-342900">
              <a:lnSpc>
                <a:spcPct val="150000"/>
              </a:lnSpc>
              <a:buFont typeface="Arial"/>
              <a:buChar char="•"/>
            </a:pPr>
            <a:r>
              <a:rPr lang="en-US" sz="2000">
                <a:latin typeface="Times New Roman"/>
                <a:ea typeface="+mn-lt"/>
                <a:cs typeface="Times New Roman"/>
              </a:rPr>
              <a:t>Meets minimum resolution requirements</a:t>
            </a:r>
            <a:endParaRPr lang="en-US">
              <a:ea typeface="Calibri"/>
              <a:cs typeface="Calibri"/>
            </a:endParaRPr>
          </a:p>
          <a:p>
            <a:pPr marL="342900" indent="-342900">
              <a:lnSpc>
                <a:spcPct val="150000"/>
              </a:lnSpc>
              <a:buFont typeface="Arial"/>
              <a:buChar char="•"/>
            </a:pPr>
            <a:r>
              <a:rPr lang="en-US" sz="2000" dirty="0">
                <a:latin typeface="Times New Roman"/>
                <a:ea typeface="+mn-lt"/>
                <a:cs typeface="Times New Roman"/>
              </a:rPr>
              <a:t>Simulates real farm conditions where </a:t>
            </a:r>
            <a:r>
              <a:rPr lang="en-US" sz="2000" b="1" dirty="0">
                <a:latin typeface="Times New Roman"/>
                <a:ea typeface="+mn-lt"/>
                <a:cs typeface="Times New Roman"/>
              </a:rPr>
              <a:t>lighting, posture, and background may </a:t>
            </a:r>
            <a:r>
              <a:rPr lang="en-US" sz="2000" b="1">
                <a:latin typeface="Times New Roman"/>
                <a:ea typeface="+mn-lt"/>
                <a:cs typeface="Times New Roman"/>
              </a:rPr>
              <a:t>vary</a:t>
            </a:r>
            <a:r>
              <a:rPr lang="en-US" sz="2000">
                <a:latin typeface="Times New Roman"/>
                <a:ea typeface="+mn-lt"/>
                <a:cs typeface="Times New Roman"/>
              </a:rPr>
              <a:t>.</a:t>
            </a:r>
          </a:p>
          <a:p>
            <a:pPr marL="342900" indent="-342900">
              <a:lnSpc>
                <a:spcPct val="150000"/>
              </a:lnSpc>
              <a:buFont typeface="Arial"/>
              <a:buChar char="•"/>
            </a:pPr>
            <a:r>
              <a:rPr lang="en-US" sz="2000">
                <a:latin typeface="Times New Roman"/>
                <a:ea typeface="+mn-lt"/>
                <a:cs typeface="Times New Roman"/>
              </a:rPr>
              <a:t>Provides</a:t>
            </a:r>
            <a:r>
              <a:rPr lang="en-US" sz="2000" dirty="0">
                <a:latin typeface="Times New Roman"/>
                <a:ea typeface="+mn-lt"/>
                <a:cs typeface="Times New Roman"/>
              </a:rPr>
              <a:t> structured input for the AI pipeline.</a:t>
            </a:r>
            <a:endParaRPr lang="en-US" sz="2000" dirty="0">
              <a:latin typeface="Times New Roman"/>
              <a:cs typeface="Times New Roman"/>
            </a:endParaRPr>
          </a:p>
          <a:p>
            <a:endParaRPr lang="en-US" sz="2000" dirty="0">
              <a:latin typeface="Times New Roman"/>
              <a:ea typeface="Calibri"/>
              <a:cs typeface="Times New Roman"/>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6337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E88A-9D54-8A2A-D2A5-E75672AD0A8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AED0D3D-7FBE-5BBC-19C4-223AC96CB35B}"/>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AC4A9D30-1C69-90E2-94C2-D122B056FE8B}"/>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8" name="Title 8">
            <a:extLst>
              <a:ext uri="{FF2B5EF4-FFF2-40B4-BE49-F238E27FC236}">
                <a16:creationId xmlns:a16="http://schemas.microsoft.com/office/drawing/2014/main" id="{D7D67118-E74E-98D8-24D3-8CCBCAE64900}"/>
              </a:ext>
            </a:extLst>
          </p:cNvPr>
          <p:cNvSpPr txBox="1">
            <a:spLocks/>
          </p:cNvSpPr>
          <p:nvPr/>
        </p:nvSpPr>
        <p:spPr>
          <a:xfrm>
            <a:off x="1264227" y="83127"/>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4D58744C-AB82-3923-655C-6ABB69079683}"/>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F2A5A25B-38E7-8EBC-815D-FD48307F00D0}"/>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0CB3CCA-5521-E443-8FDF-C6DF97F3D619}"/>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FC8CD295-9375-3936-3587-976FCEE140C7}"/>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68F34000-D66E-8272-98D0-7197E95CBA64}"/>
              </a:ext>
            </a:extLst>
          </p:cNvPr>
          <p:cNvSpPr>
            <a:spLocks noChangeArrowheads="1"/>
          </p:cNvSpPr>
          <p:nvPr/>
        </p:nvSpPr>
        <p:spPr bwMode="auto">
          <a:xfrm>
            <a:off x="1392458" y="990459"/>
            <a:ext cx="7294342"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a:latin typeface="Times New Roman"/>
                <a:cs typeface="Times New Roman"/>
              </a:rPr>
              <a:t>MODULE 2:  </a:t>
            </a:r>
            <a:r>
              <a:rPr lang="en-US" sz="2000" b="1">
                <a:latin typeface="Times New Roman"/>
                <a:ea typeface="+mn-lt"/>
                <a:cs typeface="Times New Roman"/>
              </a:rPr>
              <a:t>Image Preprocessing Module</a:t>
            </a:r>
          </a:p>
          <a:p>
            <a:pPr>
              <a:lnSpc>
                <a:spcPct val="150000"/>
              </a:lnSpc>
            </a:pPr>
            <a:r>
              <a:rPr lang="en-US" sz="2000" b="1">
                <a:latin typeface="Times New Roman"/>
                <a:ea typeface="+mn-lt"/>
                <a:cs typeface="Times New Roman"/>
              </a:rPr>
              <a:t>Purpose:    </a:t>
            </a:r>
            <a:endParaRPr lang="en-US" sz="2000">
              <a:latin typeface="Times New Roman"/>
              <a:ea typeface="+mn-lt"/>
              <a:cs typeface="Times New Roman"/>
            </a:endParaRPr>
          </a:p>
          <a:p>
            <a:pPr>
              <a:lnSpc>
                <a:spcPct val="150000"/>
              </a:lnSpc>
            </a:pPr>
            <a:r>
              <a:rPr lang="en-US" sz="2000">
                <a:latin typeface="Times New Roman"/>
                <a:ea typeface="+mn-lt"/>
                <a:cs typeface="Times New Roman"/>
              </a:rPr>
              <a:t>  Enhances and standardizes the captured images to make them suitable for deep learning model input.</a:t>
            </a:r>
            <a:endParaRPr lang="en-US" sz="2000" dirty="0">
              <a:latin typeface="Times New Roman"/>
              <a:ea typeface="+mn-lt"/>
              <a:cs typeface="Times New Roman"/>
            </a:endParaRPr>
          </a:p>
          <a:p>
            <a:endParaRPr lang="en-US" sz="2000" dirty="0">
              <a:latin typeface="Times New Roman"/>
              <a:ea typeface="+mn-lt"/>
              <a:cs typeface="Times New Roman"/>
            </a:endParaRPr>
          </a:p>
          <a:p>
            <a:pPr>
              <a:lnSpc>
                <a:spcPct val="150000"/>
              </a:lnSpc>
            </a:pPr>
            <a:r>
              <a:rPr lang="en-US" sz="2000" b="1">
                <a:latin typeface="Times New Roman"/>
                <a:ea typeface="+mn-lt"/>
                <a:cs typeface="Times New Roman"/>
              </a:rPr>
              <a:t>Why preprocessing is needed</a:t>
            </a:r>
            <a:endParaRPr lang="en-US" sz="2000">
              <a:latin typeface="Times New Roman"/>
              <a:ea typeface="+mn-lt"/>
              <a:cs typeface="Times New Roman"/>
            </a:endParaRPr>
          </a:p>
          <a:p>
            <a:pPr marL="342900" indent="-342900">
              <a:lnSpc>
                <a:spcPct val="150000"/>
              </a:lnSpc>
              <a:buFont typeface="Arial"/>
              <a:buChar char="•"/>
            </a:pPr>
            <a:r>
              <a:rPr lang="en-US" sz="2000" dirty="0">
                <a:latin typeface="Times New Roman"/>
                <a:ea typeface="+mn-lt"/>
                <a:cs typeface="Times New Roman"/>
              </a:rPr>
              <a:t>Farm images may contain: </a:t>
            </a:r>
            <a:endParaRPr lang="en-US" sz="2000">
              <a:latin typeface="Times New Roman"/>
              <a:ea typeface="+mn-lt"/>
              <a:cs typeface="Times New Roman"/>
            </a:endParaRPr>
          </a:p>
          <a:p>
            <a:pPr marL="800100" lvl="1" indent="-342900">
              <a:buFont typeface="Courier New"/>
              <a:buChar char="o"/>
            </a:pPr>
            <a:r>
              <a:rPr lang="en-US" sz="2000">
                <a:latin typeface="Times New Roman"/>
                <a:ea typeface="+mn-lt"/>
                <a:cs typeface="Times New Roman"/>
              </a:rPr>
              <a:t>Uneven lighting</a:t>
            </a:r>
          </a:p>
          <a:p>
            <a:pPr marL="800100" lvl="1" indent="-342900">
              <a:buFont typeface="Courier New"/>
              <a:buChar char="o"/>
            </a:pPr>
            <a:r>
              <a:rPr lang="en-US" sz="2000">
                <a:latin typeface="Times New Roman"/>
                <a:ea typeface="+mn-lt"/>
                <a:cs typeface="Times New Roman"/>
              </a:rPr>
              <a:t>Shadows</a:t>
            </a:r>
          </a:p>
          <a:p>
            <a:pPr marL="800100" lvl="1" indent="-342900">
              <a:buFont typeface="Courier New"/>
              <a:buChar char="o"/>
            </a:pPr>
            <a:r>
              <a:rPr lang="en-US" sz="2000" dirty="0">
                <a:latin typeface="Times New Roman"/>
                <a:ea typeface="+mn-lt"/>
                <a:cs typeface="Times New Roman"/>
              </a:rPr>
              <a:t>Background </a:t>
            </a:r>
            <a:r>
              <a:rPr lang="en-US" sz="2000">
                <a:latin typeface="Times New Roman"/>
                <a:ea typeface="+mn-lt"/>
                <a:cs typeface="Times New Roman"/>
              </a:rPr>
              <a:t>noise</a:t>
            </a:r>
          </a:p>
          <a:p>
            <a:pPr marL="800100" lvl="1" indent="-342900">
              <a:buFont typeface="Courier New"/>
              <a:buChar char="o"/>
            </a:pPr>
            <a:r>
              <a:rPr lang="en-US" sz="2000">
                <a:latin typeface="Times New Roman"/>
                <a:ea typeface="+mn-lt"/>
                <a:cs typeface="Times New Roman"/>
              </a:rPr>
              <a:t>Resolution</a:t>
            </a:r>
            <a:r>
              <a:rPr lang="en-US" sz="2000" dirty="0">
                <a:latin typeface="Times New Roman"/>
                <a:ea typeface="+mn-lt"/>
                <a:cs typeface="Times New Roman"/>
              </a:rPr>
              <a:t> variations</a:t>
            </a:r>
            <a:endParaRPr lang="en-US" dirty="0">
              <a:ea typeface="Calibri"/>
              <a:cs typeface="Calibri"/>
            </a:endParaRPr>
          </a:p>
          <a:p>
            <a:pPr marL="342900" indent="-342900">
              <a:buFont typeface="Arial"/>
              <a:buChar char="•"/>
            </a:pPr>
            <a:endParaRPr lang="en-US" sz="2000">
              <a:latin typeface="Times New Roman"/>
              <a:ea typeface="+mn-lt"/>
              <a:cs typeface="Times New Roman"/>
            </a:endParaRPr>
          </a:p>
          <a:p>
            <a:pPr marL="342900" indent="-342900">
              <a:buFont typeface="Arial"/>
              <a:buChar char="•"/>
            </a:pPr>
            <a:r>
              <a:rPr lang="en-US" sz="2000">
                <a:latin typeface="Times New Roman"/>
                <a:ea typeface="+mn-lt"/>
                <a:cs typeface="Times New Roman"/>
              </a:rPr>
              <a:t>Preprocessing helps improve </a:t>
            </a:r>
            <a:r>
              <a:rPr lang="en-US" sz="2000" b="1">
                <a:latin typeface="Times New Roman"/>
                <a:ea typeface="+mn-lt"/>
                <a:cs typeface="Times New Roman"/>
              </a:rPr>
              <a:t>model accuracy and reliability</a:t>
            </a:r>
            <a:r>
              <a:rPr lang="en-US" sz="2000">
                <a:latin typeface="Times New Roman"/>
                <a:ea typeface="+mn-lt"/>
                <a:cs typeface="Times New Roman"/>
              </a:rPr>
              <a:t>.</a:t>
            </a:r>
            <a:endParaRPr lang="en-US" sz="2000" dirty="0">
              <a:latin typeface="Times New Roman"/>
              <a:ea typeface="Calibri"/>
              <a:cs typeface="Times New Roman"/>
            </a:endParaRPr>
          </a:p>
          <a:p>
            <a:pPr marL="342900" indent="-342900">
              <a:buFont typeface="Arial"/>
              <a:buChar char="•"/>
            </a:pPr>
            <a:endParaRPr lang="en-US" sz="2000" dirty="0">
              <a:latin typeface="Times New Roman" panose="02020603050405020304" pitchFamily="18" charset="0"/>
              <a:ea typeface="Calibri"/>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454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EE0E6-E611-3AF8-8DE0-34FB4CAB6B0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AECDA95-4141-41AB-877E-D6119C0B59B2}"/>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0602F9CB-EBB8-4726-FBE7-03C5AC8A8CF4}"/>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8" name="Title 8">
            <a:extLst>
              <a:ext uri="{FF2B5EF4-FFF2-40B4-BE49-F238E27FC236}">
                <a16:creationId xmlns:a16="http://schemas.microsoft.com/office/drawing/2014/main" id="{CC331002-5817-5BDF-FD96-191668B59C8F}"/>
              </a:ext>
            </a:extLst>
          </p:cNvPr>
          <p:cNvSpPr txBox="1">
            <a:spLocks/>
          </p:cNvSpPr>
          <p:nvPr/>
        </p:nvSpPr>
        <p:spPr>
          <a:xfrm>
            <a:off x="1295400" y="41564"/>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BF260F14-5352-1EE8-1FBF-CE0AF088C4E4}"/>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561F5135-0EC6-7088-DD1F-BF5B916DE09C}"/>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5BBFD11-A149-439E-C824-4A4B03C8A43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92981684-44F7-F743-5229-1A5F86D18D97}"/>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B8E62028-34E4-F639-C127-FFD901117D72}"/>
              </a:ext>
            </a:extLst>
          </p:cNvPr>
          <p:cNvSpPr>
            <a:spLocks noChangeArrowheads="1"/>
          </p:cNvSpPr>
          <p:nvPr/>
        </p:nvSpPr>
        <p:spPr bwMode="auto">
          <a:xfrm>
            <a:off x="1589885" y="1184597"/>
            <a:ext cx="7252778"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2:  </a:t>
            </a:r>
            <a:r>
              <a:rPr lang="en-US" sz="2000" b="1">
                <a:latin typeface="Times New Roman"/>
                <a:ea typeface="Calibri"/>
                <a:cs typeface="Times New Roman"/>
              </a:rPr>
              <a:t>Image Preprocessing Module</a:t>
            </a:r>
            <a:endParaRPr lang="en-US" sz="2000">
              <a:latin typeface="Times New Roman"/>
              <a:ea typeface="Calibri"/>
              <a:cs typeface="Times New Roman"/>
            </a:endParaRPr>
          </a:p>
          <a:p>
            <a:pPr>
              <a:lnSpc>
                <a:spcPct val="150000"/>
              </a:lnSpc>
            </a:pPr>
            <a:r>
              <a:rPr lang="en-US" sz="2000" b="1">
                <a:latin typeface="Times New Roman"/>
                <a:ea typeface="+mn-lt"/>
                <a:cs typeface="Times New Roman"/>
              </a:rPr>
              <a:t>Working:  </a:t>
            </a:r>
            <a:endParaRPr lang="en-US" sz="2000">
              <a:latin typeface="Times New Roman"/>
              <a:ea typeface="+mn-lt"/>
              <a:cs typeface="Times New Roman"/>
            </a:endParaRPr>
          </a:p>
          <a:p>
            <a:pPr>
              <a:lnSpc>
                <a:spcPct val="150000"/>
              </a:lnSpc>
            </a:pPr>
            <a:r>
              <a:rPr lang="en-US" sz="2000">
                <a:latin typeface="Times New Roman"/>
                <a:ea typeface="+mn-lt"/>
                <a:cs typeface="Times New Roman"/>
              </a:rPr>
              <a:t>Preprocessing steps include:</a:t>
            </a:r>
            <a:endParaRPr lang="en-US" sz="2000">
              <a:latin typeface="Times New Roman"/>
              <a:cs typeface="Times New Roman"/>
            </a:endParaRPr>
          </a:p>
          <a:p>
            <a:pPr marL="342900" indent="-342900">
              <a:lnSpc>
                <a:spcPct val="150000"/>
              </a:lnSpc>
              <a:buFont typeface="Arial"/>
              <a:buChar char="•"/>
            </a:pPr>
            <a:r>
              <a:rPr lang="en-US" sz="2000">
                <a:latin typeface="Times New Roman"/>
                <a:ea typeface="Calibri"/>
                <a:cs typeface="Times New Roman"/>
              </a:rPr>
              <a:t>Image resizing to match YOLO model input size</a:t>
            </a:r>
          </a:p>
          <a:p>
            <a:pPr marL="342900" indent="-342900">
              <a:lnSpc>
                <a:spcPct val="150000"/>
              </a:lnSpc>
              <a:buFont typeface="Arial"/>
              <a:buChar char="•"/>
            </a:pPr>
            <a:r>
              <a:rPr lang="en-US" sz="2000">
                <a:latin typeface="Times New Roman"/>
                <a:ea typeface="Calibri"/>
                <a:cs typeface="Times New Roman"/>
              </a:rPr>
              <a:t>Pixel normalization</a:t>
            </a:r>
          </a:p>
          <a:p>
            <a:pPr marL="342900" indent="-342900">
              <a:lnSpc>
                <a:spcPct val="150000"/>
              </a:lnSpc>
              <a:buFont typeface="Arial"/>
              <a:buChar char="•"/>
            </a:pPr>
            <a:r>
              <a:rPr lang="en-US" sz="2000">
                <a:latin typeface="Times New Roman"/>
                <a:ea typeface="Calibri"/>
                <a:cs typeface="Times New Roman"/>
              </a:rPr>
              <a:t>Conversion to tensor format for </a:t>
            </a:r>
          </a:p>
          <a:p>
            <a:pPr marL="342900" indent="-342900">
              <a:lnSpc>
                <a:spcPct val="150000"/>
              </a:lnSpc>
              <a:buFont typeface="Arial"/>
              <a:buChar char="•"/>
            </a:pPr>
            <a:r>
              <a:rPr lang="en-US" sz="2000">
                <a:latin typeface="Times New Roman"/>
                <a:ea typeface="Calibri"/>
                <a:cs typeface="Times New Roman"/>
              </a:rPr>
              <a:t>Ensuring proper </a:t>
            </a:r>
            <a:r>
              <a:rPr lang="en-US" sz="2000" b="1">
                <a:latin typeface="Times New Roman"/>
                <a:ea typeface="Calibri"/>
                <a:cs typeface="Times New Roman"/>
              </a:rPr>
              <a:t>RGB channel ordering</a:t>
            </a:r>
            <a:endParaRPr lang="en-US" sz="2000">
              <a:latin typeface="Times New Roman"/>
              <a:ea typeface="Calibri"/>
              <a:cs typeface="Times New Roman"/>
            </a:endParaRPr>
          </a:p>
          <a:p>
            <a:pPr>
              <a:lnSpc>
                <a:spcPct val="150000"/>
              </a:lnSpc>
            </a:pPr>
            <a:r>
              <a:rPr lang="en-US" sz="2000" b="1">
                <a:latin typeface="Times New Roman"/>
                <a:ea typeface="+mn-lt"/>
                <a:cs typeface="Times New Roman"/>
              </a:rPr>
              <a:t>Benefits:</a:t>
            </a:r>
            <a:endParaRPr lang="en-US" sz="2000" b="1">
              <a:latin typeface="Times New Roman"/>
              <a:cs typeface="Times New Roman"/>
            </a:endParaRPr>
          </a:p>
          <a:p>
            <a:pPr marL="342900" indent="-342900">
              <a:lnSpc>
                <a:spcPct val="150000"/>
              </a:lnSpc>
              <a:buFont typeface="Arial"/>
              <a:buChar char="•"/>
            </a:pPr>
            <a:r>
              <a:rPr lang="en-US" sz="2000">
                <a:latin typeface="Times New Roman"/>
                <a:ea typeface="+mn-lt"/>
                <a:cs typeface="Times New Roman"/>
              </a:rPr>
              <a:t>Standardized input data</a:t>
            </a:r>
            <a:endParaRPr lang="en-US" sz="2000">
              <a:latin typeface="Times New Roman"/>
              <a:cs typeface="Times New Roman"/>
            </a:endParaRPr>
          </a:p>
          <a:p>
            <a:pPr marL="342900" indent="-342900">
              <a:lnSpc>
                <a:spcPct val="150000"/>
              </a:lnSpc>
              <a:buFont typeface="Arial"/>
              <a:buChar char="•"/>
            </a:pPr>
            <a:r>
              <a:rPr lang="en-US" sz="2000">
                <a:latin typeface="Times New Roman"/>
                <a:ea typeface="+mn-lt"/>
                <a:cs typeface="Times New Roman"/>
              </a:rPr>
              <a:t>Reduced environmental noise</a:t>
            </a:r>
            <a:endParaRPr lang="en-US" sz="2000">
              <a:latin typeface="Times New Roman"/>
              <a:cs typeface="Times New Roman"/>
            </a:endParaRPr>
          </a:p>
          <a:p>
            <a:pPr marL="342900" indent="-342900">
              <a:lnSpc>
                <a:spcPct val="150000"/>
              </a:lnSpc>
              <a:buFont typeface="Arial"/>
              <a:buChar char="•"/>
            </a:pPr>
            <a:r>
              <a:rPr lang="en-US" sz="2000">
                <a:latin typeface="Times New Roman"/>
                <a:ea typeface="+mn-lt"/>
                <a:cs typeface="Times New Roman"/>
              </a:rPr>
              <a:t>Improved classification performance</a:t>
            </a:r>
            <a:endParaRPr lang="en-US" sz="2000">
              <a:latin typeface="Times New Roman"/>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3201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93219-B3C4-CE40-1CC0-561FAE5BE79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68528BA-2D78-C7E6-F329-F1B2801B3A1B}"/>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F23F3243-5374-007A-1D82-DE1FDF021BF3}"/>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8">
            <a:extLst>
              <a:ext uri="{FF2B5EF4-FFF2-40B4-BE49-F238E27FC236}">
                <a16:creationId xmlns:a16="http://schemas.microsoft.com/office/drawing/2014/main" id="{BE771932-C2D4-85BC-A745-409C731D6400}"/>
              </a:ext>
            </a:extLst>
          </p:cNvPr>
          <p:cNvSpPr txBox="1">
            <a:spLocks/>
          </p:cNvSpPr>
          <p:nvPr/>
        </p:nvSpPr>
        <p:spPr>
          <a:xfrm>
            <a:off x="1264227" y="83127"/>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407CFDA1-DE43-B7EB-0AD0-15C399C21B12}"/>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 name="Rectangle 1">
            <a:extLst>
              <a:ext uri="{FF2B5EF4-FFF2-40B4-BE49-F238E27FC236}">
                <a16:creationId xmlns:a16="http://schemas.microsoft.com/office/drawing/2014/main" id="{B0FD82DE-E04F-05E4-1226-9CF0C93C867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24FCBA10-FB43-2C13-BF37-290A81F24844}"/>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881476E2-79FF-0715-D31F-2CDC5F2A6F21}"/>
              </a:ext>
            </a:extLst>
          </p:cNvPr>
          <p:cNvSpPr>
            <a:spLocks noChangeArrowheads="1"/>
          </p:cNvSpPr>
          <p:nvPr/>
        </p:nvSpPr>
        <p:spPr bwMode="auto">
          <a:xfrm>
            <a:off x="1298940" y="1376612"/>
            <a:ext cx="7689195"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3:  </a:t>
            </a:r>
            <a:r>
              <a:rPr lang="en-US" sz="2000" b="1">
                <a:latin typeface="Times New Roman"/>
                <a:ea typeface="+mn-lt"/>
                <a:cs typeface="Times New Roman"/>
              </a:rPr>
              <a:t>Feature Extraction Module</a:t>
            </a:r>
            <a:endParaRPr lang="en-US"/>
          </a:p>
          <a:p>
            <a:pPr>
              <a:lnSpc>
                <a:spcPct val="150000"/>
              </a:lnSpc>
            </a:pPr>
            <a:r>
              <a:rPr lang="en-US" sz="2000" b="1">
                <a:latin typeface="Times New Roman"/>
                <a:ea typeface="+mn-lt"/>
                <a:cs typeface="Times New Roman"/>
              </a:rPr>
              <a:t>Purpose:    </a:t>
            </a:r>
            <a:endParaRPr lang="en-US" sz="2000">
              <a:latin typeface="Times New Roman"/>
              <a:ea typeface="+mn-lt"/>
              <a:cs typeface="Times New Roman"/>
            </a:endParaRPr>
          </a:p>
          <a:p>
            <a:pPr>
              <a:lnSpc>
                <a:spcPct val="150000"/>
              </a:lnSpc>
            </a:pPr>
            <a:r>
              <a:rPr lang="en-US" sz="2000">
                <a:latin typeface="Times New Roman"/>
                <a:ea typeface="+mn-lt"/>
                <a:cs typeface="Times New Roman"/>
              </a:rPr>
              <a:t>  Automatically extracts meaningful visual features from images using convolutional neural networks.</a:t>
            </a:r>
          </a:p>
          <a:p>
            <a:pPr>
              <a:lnSpc>
                <a:spcPct val="150000"/>
              </a:lnSpc>
            </a:pPr>
            <a:r>
              <a:rPr lang="en-US" sz="2000" b="1">
                <a:latin typeface="Times New Roman"/>
                <a:ea typeface="+mn-lt"/>
                <a:cs typeface="Times New Roman"/>
              </a:rPr>
              <a:t>Key Features:</a:t>
            </a:r>
            <a:br>
              <a:rPr lang="en-US" sz="2000" b="1" dirty="0">
                <a:latin typeface="Times New Roman"/>
                <a:ea typeface="+mn-lt"/>
                <a:cs typeface="Times New Roman"/>
              </a:rPr>
            </a:br>
            <a:r>
              <a:rPr lang="en-US" sz="2000" b="1">
                <a:latin typeface="Times New Roman"/>
                <a:ea typeface="+mn-lt"/>
                <a:cs typeface="Times New Roman"/>
              </a:rPr>
              <a:t>  </a:t>
            </a:r>
            <a:r>
              <a:rPr lang="en-US" sz="2000">
                <a:latin typeface="Times New Roman"/>
                <a:ea typeface="+mn-lt"/>
                <a:cs typeface="Times New Roman"/>
              </a:rPr>
              <a:t>Automatic feature learning, extraction of texture and shape</a:t>
            </a:r>
            <a:r>
              <a:rPr lang="en-US" sz="2000" b="1" dirty="0">
                <a:latin typeface="Times New Roman"/>
                <a:ea typeface="+mn-lt"/>
                <a:cs typeface="Times New Roman"/>
              </a:rPr>
              <a:t> </a:t>
            </a:r>
            <a:r>
              <a:rPr lang="en-US" sz="2000">
                <a:latin typeface="Times New Roman"/>
                <a:ea typeface="+mn-lt"/>
                <a:cs typeface="Times New Roman"/>
              </a:rPr>
              <a:t>patterns, elimination of manual feature engineering</a:t>
            </a:r>
            <a:endParaRPr lang="en-US"/>
          </a:p>
          <a:p>
            <a:pPr>
              <a:lnSpc>
                <a:spcPct val="150000"/>
              </a:lnSpc>
            </a:pPr>
            <a:r>
              <a:rPr lang="en-US" sz="2000" b="1">
                <a:latin typeface="Times New Roman"/>
                <a:ea typeface="+mn-lt"/>
                <a:cs typeface="Times New Roman"/>
              </a:rPr>
              <a:t>Implementation:</a:t>
            </a:r>
            <a:endParaRPr lang="en-US" sz="2000">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Uses the </a:t>
            </a:r>
            <a:r>
              <a:rPr lang="en-US" sz="2000" b="1">
                <a:latin typeface="Times New Roman"/>
                <a:ea typeface="+mn-lt"/>
                <a:cs typeface="Times New Roman"/>
              </a:rPr>
              <a:t>backbone network of YOLO architecture</a:t>
            </a:r>
            <a:r>
              <a:rPr lang="en-US" sz="2000">
                <a:latin typeface="Times New Roman"/>
                <a:ea typeface="+mn-lt"/>
                <a:cs typeface="Times New Roman"/>
              </a:rPr>
              <a:t>.</a:t>
            </a:r>
            <a:endParaRPr lang="en-US" sz="2000">
              <a:latin typeface="Times New Roman"/>
              <a:ea typeface="Calibri"/>
              <a:cs typeface="Times New Roman"/>
            </a:endParaRPr>
          </a:p>
          <a:p>
            <a:pPr marL="800100" lvl="1" indent="-342900">
              <a:lnSpc>
                <a:spcPct val="150000"/>
              </a:lnSpc>
              <a:buFont typeface="Courier New"/>
              <a:buChar char="o"/>
            </a:pPr>
            <a:r>
              <a:rPr lang="en-US" sz="2000">
                <a:latin typeface="Times New Roman"/>
                <a:ea typeface="+mn-lt"/>
                <a:cs typeface="Times New Roman"/>
              </a:rPr>
              <a:t>Multiple convolution layers analyze visual patterns in the image.</a:t>
            </a:r>
            <a:endParaRPr lang="en-US" sz="2000">
              <a:latin typeface="Times New Roman"/>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marL="342900" indent="-342900">
              <a:lnSpc>
                <a:spcPct val="150000"/>
              </a:lnSpc>
              <a:buFont typeface="Arial"/>
              <a:buChar char="•"/>
            </a:pPr>
            <a:endParaRPr lang="en-US" sz="2000" dirty="0">
              <a:latin typeface="Times New Roman" panose="02020603050405020304" pitchFamily="18" charset="0"/>
              <a:ea typeface="Calibri"/>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833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3D93B-6ABF-D686-CFE1-DFF1353159D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D58C74D-C4B6-8DC4-EBA0-3DB7D241DF54}"/>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5CE5057F-06BF-529C-94E9-65C5CCCBFA0A}"/>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8" name="Title 8">
            <a:extLst>
              <a:ext uri="{FF2B5EF4-FFF2-40B4-BE49-F238E27FC236}">
                <a16:creationId xmlns:a16="http://schemas.microsoft.com/office/drawing/2014/main" id="{67915415-F78D-94BE-0852-C8F6C086592F}"/>
              </a:ext>
            </a:extLst>
          </p:cNvPr>
          <p:cNvSpPr txBox="1">
            <a:spLocks/>
          </p:cNvSpPr>
          <p:nvPr/>
        </p:nvSpPr>
        <p:spPr>
          <a:xfrm>
            <a:off x="1295400" y="41564"/>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62C6CC42-9554-58E7-581D-47426058048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DA775AFF-AA5D-4F23-14B2-E5A9D0BC75BE}"/>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4F28B45-9B03-C5DE-95DD-55B68125F339}"/>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FEF76598-52C8-3D0B-D876-7E2F31739A7D}"/>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D6D150D0-BEFA-DBED-A66F-684F93F57C28}"/>
              </a:ext>
            </a:extLst>
          </p:cNvPr>
          <p:cNvSpPr>
            <a:spLocks noChangeArrowheads="1"/>
          </p:cNvSpPr>
          <p:nvPr/>
        </p:nvSpPr>
        <p:spPr bwMode="auto">
          <a:xfrm>
            <a:off x="1444412" y="1274164"/>
            <a:ext cx="7252778" cy="7115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3:  </a:t>
            </a:r>
            <a:r>
              <a:rPr lang="en-US" sz="2000" b="1">
                <a:latin typeface="Times New Roman"/>
                <a:ea typeface="Calibri"/>
                <a:cs typeface="Times New Roman"/>
              </a:rPr>
              <a:t>Feature Extraction Module</a:t>
            </a:r>
            <a:endParaRPr lang="en-US" sz="2000" b="1">
              <a:latin typeface="Times New Roman"/>
              <a:cs typeface="Times New Roman"/>
            </a:endParaRPr>
          </a:p>
          <a:p>
            <a:pPr marL="342900" indent="-342900">
              <a:lnSpc>
                <a:spcPct val="150000"/>
              </a:lnSpc>
              <a:buFont typeface="Arial"/>
              <a:buChar char="•"/>
            </a:pPr>
            <a:r>
              <a:rPr lang="en-US" sz="2000">
                <a:latin typeface="Times New Roman"/>
                <a:ea typeface="+mn-lt"/>
                <a:cs typeface="Times New Roman"/>
              </a:rPr>
              <a:t>The CNN backbone extracts:</a:t>
            </a:r>
          </a:p>
          <a:p>
            <a:pPr>
              <a:lnSpc>
                <a:spcPct val="150000"/>
              </a:lnSpc>
            </a:pPr>
            <a:r>
              <a:rPr lang="en-US" sz="2000" b="1">
                <a:latin typeface="Times New Roman"/>
                <a:ea typeface="+mn-lt"/>
                <a:cs typeface="Times New Roman"/>
              </a:rPr>
              <a:t>  Low-level features</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Edges</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Color gradients</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Texture patterns</a:t>
            </a:r>
            <a:endParaRPr lang="en-US" sz="2000">
              <a:latin typeface="Times New Roman"/>
              <a:cs typeface="Times New Roman"/>
            </a:endParaRPr>
          </a:p>
          <a:p>
            <a:pPr lvl="2"/>
            <a:endParaRPr lang="en-US" sz="2000" dirty="0">
              <a:latin typeface="Times New Roman"/>
              <a:ea typeface="+mn-lt"/>
              <a:cs typeface="Times New Roman"/>
            </a:endParaRPr>
          </a:p>
          <a:p>
            <a:r>
              <a:rPr lang="en-US" sz="2000" b="1">
                <a:latin typeface="Times New Roman"/>
                <a:ea typeface="+mn-lt"/>
                <a:cs typeface="Times New Roman"/>
              </a:rPr>
              <a:t>  High-level features</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Body contour</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Horn shape</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Facial structure</a:t>
            </a:r>
            <a:endParaRPr lang="en-US" sz="2000">
              <a:latin typeface="Times New Roman"/>
              <a:cs typeface="Times New Roman"/>
            </a:endParaRPr>
          </a:p>
          <a:p>
            <a:pPr marL="1200150" lvl="2" indent="-285750">
              <a:buFont typeface="Wingdings"/>
              <a:buChar char="§"/>
            </a:pPr>
            <a:r>
              <a:rPr lang="en-US" sz="2000">
                <a:latin typeface="Times New Roman"/>
                <a:ea typeface="+mn-lt"/>
                <a:cs typeface="Times New Roman"/>
              </a:rPr>
              <a:t>Coat patterns</a:t>
            </a:r>
            <a:endParaRPr lang="en-US" sz="2000">
              <a:latin typeface="Times New Roman"/>
              <a:cs typeface="Times New Roman"/>
            </a:endParaRPr>
          </a:p>
          <a:p>
            <a:pPr lvl="2"/>
            <a:endParaRPr lang="en-US" sz="20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These features help differentiate </a:t>
            </a:r>
            <a:r>
              <a:rPr lang="en-US" sz="2000" b="1">
                <a:latin typeface="Times New Roman"/>
                <a:ea typeface="+mn-lt"/>
                <a:cs typeface="Times New Roman"/>
              </a:rPr>
              <a:t>visually similar breeds</a:t>
            </a:r>
            <a:r>
              <a:rPr lang="en-US" sz="2000">
                <a:latin typeface="Times New Roman"/>
                <a:ea typeface="+mn-lt"/>
                <a:cs typeface="Times New Roman"/>
              </a:rPr>
              <a:t>.</a:t>
            </a:r>
            <a:endParaRPr lang="en-US" sz="2000">
              <a:latin typeface="Times New Roman"/>
              <a:cs typeface="Times New Roman"/>
            </a:endParaRPr>
          </a:p>
          <a:p>
            <a:pPr>
              <a:lnSpc>
                <a:spcPct val="150000"/>
              </a:lnSpc>
            </a:pPr>
            <a:endParaRPr lang="en-US" sz="2000" b="1" dirty="0">
              <a:latin typeface="Times New Roman"/>
              <a:ea typeface="Calibri"/>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69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26C51-5B56-5129-9C46-CACB7FAAED3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7B3EB1C-DFA6-F716-48C0-06BDDEF6CA4F}"/>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0EA9BE68-E99D-D72C-452B-06A2CA44F008}"/>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8" name="Title 8">
            <a:extLst>
              <a:ext uri="{FF2B5EF4-FFF2-40B4-BE49-F238E27FC236}">
                <a16:creationId xmlns:a16="http://schemas.microsoft.com/office/drawing/2014/main" id="{1EF8B82C-EBFD-3127-EF6D-6B0AD35D215A}"/>
              </a:ext>
            </a:extLst>
          </p:cNvPr>
          <p:cNvSpPr txBox="1">
            <a:spLocks/>
          </p:cNvSpPr>
          <p:nvPr/>
        </p:nvSpPr>
        <p:spPr>
          <a:xfrm>
            <a:off x="1264227" y="83127"/>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396C180F-B719-99C0-3CA9-B5155A3CC216}"/>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A84393B3-78F8-AA47-03CC-CBC8A4410FAA}"/>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2E9AA50-2A81-6208-17F7-A581F34F07A1}"/>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16C27D83-9FE7-343A-54D7-D69FAD309848}"/>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C082440E-ABCE-73D1-1462-4A8AC95D9B04}"/>
              </a:ext>
            </a:extLst>
          </p:cNvPr>
          <p:cNvSpPr>
            <a:spLocks noChangeArrowheads="1"/>
          </p:cNvSpPr>
          <p:nvPr/>
        </p:nvSpPr>
        <p:spPr bwMode="auto">
          <a:xfrm>
            <a:off x="1298940" y="1176953"/>
            <a:ext cx="7543722" cy="7423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4:  </a:t>
            </a:r>
            <a:r>
              <a:rPr lang="en-US" sz="2000" b="1">
                <a:latin typeface="Times New Roman"/>
                <a:ea typeface="+mn-lt"/>
                <a:cs typeface="Times New Roman"/>
              </a:rPr>
              <a:t>Breed Classification Module </a:t>
            </a:r>
            <a:endParaRPr lang="en-US" sz="2000">
              <a:latin typeface="Times New Roman"/>
              <a:ea typeface="+mn-lt"/>
              <a:cs typeface="Times New Roman"/>
            </a:endParaRPr>
          </a:p>
          <a:p>
            <a:pPr>
              <a:lnSpc>
                <a:spcPct val="150000"/>
              </a:lnSpc>
            </a:pPr>
            <a:r>
              <a:rPr lang="en-US" sz="2000" b="1">
                <a:latin typeface="Times New Roman"/>
                <a:ea typeface="+mn-lt"/>
                <a:cs typeface="Times New Roman"/>
              </a:rPr>
              <a:t>Purpose:    </a:t>
            </a:r>
            <a:endParaRPr lang="en-US" sz="2000">
              <a:latin typeface="Times New Roman"/>
              <a:ea typeface="+mn-lt"/>
              <a:cs typeface="Times New Roman"/>
            </a:endParaRPr>
          </a:p>
          <a:p>
            <a:pPr>
              <a:lnSpc>
                <a:spcPct val="150000"/>
              </a:lnSpc>
            </a:pPr>
            <a:r>
              <a:rPr lang="en-US" sz="2000">
                <a:latin typeface="Times New Roman"/>
                <a:ea typeface="+mn-lt"/>
                <a:cs typeface="Times New Roman"/>
              </a:rPr>
              <a:t>  Classifies cattle and buffalo breeds using a deep Residual Neural Network architecture.</a:t>
            </a:r>
          </a:p>
          <a:p>
            <a:pPr>
              <a:lnSpc>
                <a:spcPct val="150000"/>
              </a:lnSpc>
            </a:pPr>
            <a:r>
              <a:rPr lang="en-US" sz="2000" b="1">
                <a:latin typeface="Times New Roman"/>
                <a:ea typeface="+mn-lt"/>
                <a:cs typeface="Times New Roman"/>
              </a:rPr>
              <a:t>Key Features:</a:t>
            </a:r>
            <a:br>
              <a:rPr lang="en-US" sz="2000" b="1" dirty="0">
                <a:latin typeface="Times New Roman"/>
                <a:ea typeface="+mn-lt"/>
                <a:cs typeface="Times New Roman"/>
              </a:rPr>
            </a:br>
            <a:r>
              <a:rPr lang="en-US" sz="2000" b="1">
                <a:latin typeface="Times New Roman"/>
                <a:ea typeface="+mn-lt"/>
                <a:cs typeface="Times New Roman"/>
              </a:rPr>
              <a:t>  </a:t>
            </a:r>
            <a:r>
              <a:rPr lang="en-US" sz="2000">
                <a:latin typeface="Times New Roman"/>
                <a:ea typeface="+mn-lt"/>
                <a:cs typeface="Times New Roman"/>
              </a:rPr>
              <a:t>Residual learning, deep feature refinement, high accuracy for visually similar breeds.</a:t>
            </a:r>
            <a:endParaRPr lang="en-US">
              <a:latin typeface="Calibri"/>
              <a:ea typeface="Calibri"/>
              <a:cs typeface="Calibri"/>
            </a:endParaRPr>
          </a:p>
          <a:p>
            <a:pPr>
              <a:lnSpc>
                <a:spcPct val="150000"/>
              </a:lnSpc>
            </a:pPr>
            <a:r>
              <a:rPr lang="en-US" sz="2000" b="1">
                <a:latin typeface="Times New Roman"/>
                <a:ea typeface="+mn-lt"/>
                <a:cs typeface="Times New Roman"/>
              </a:rPr>
              <a:t>Function:</a:t>
            </a:r>
            <a:endParaRPr lang="en-US" sz="2000">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Uses the </a:t>
            </a:r>
            <a:r>
              <a:rPr lang="en-US" sz="2000" b="1">
                <a:latin typeface="Times New Roman"/>
                <a:ea typeface="+mn-lt"/>
                <a:cs typeface="Times New Roman"/>
              </a:rPr>
              <a:t>detection head of the YOLO model</a:t>
            </a:r>
            <a:r>
              <a:rPr lang="en-US" sz="2000">
                <a:latin typeface="Times New Roman"/>
                <a:ea typeface="+mn-lt"/>
                <a:cs typeface="Times New Roman"/>
              </a:rPr>
              <a:t>.</a:t>
            </a:r>
          </a:p>
          <a:p>
            <a:pPr marL="800100" lvl="1" indent="-342900">
              <a:lnSpc>
                <a:spcPct val="150000"/>
              </a:lnSpc>
              <a:buFont typeface="Courier New"/>
              <a:buChar char="o"/>
            </a:pPr>
            <a:r>
              <a:rPr lang="en-US" sz="2000">
                <a:latin typeface="Times New Roman"/>
                <a:ea typeface="+mn-lt"/>
                <a:cs typeface="Times New Roman"/>
              </a:rPr>
              <a:t>Performs </a:t>
            </a:r>
            <a:r>
              <a:rPr lang="en-US" sz="2000" b="1">
                <a:latin typeface="Times New Roman"/>
                <a:ea typeface="+mn-lt"/>
                <a:cs typeface="Times New Roman"/>
              </a:rPr>
              <a:t>object localization and breed classification simultaneously</a:t>
            </a:r>
            <a:r>
              <a:rPr lang="en-US" sz="2000">
                <a:latin typeface="Times New Roman"/>
                <a:ea typeface="+mn-lt"/>
                <a:cs typeface="Times New Roman"/>
              </a:rPr>
              <a:t>.</a:t>
            </a:r>
          </a:p>
          <a:p>
            <a:pPr marL="342900" indent="-342900">
              <a:lnSpc>
                <a:spcPct val="150000"/>
              </a:lnSpc>
              <a:buFont typeface="Arial"/>
              <a:buChar char="•"/>
            </a:pPr>
            <a:endParaRPr lang="en-US" sz="2000" dirty="0">
              <a:latin typeface="Times New Roman"/>
              <a:ea typeface="Calibri"/>
              <a:cs typeface="Times New Roman"/>
            </a:endParaRPr>
          </a:p>
          <a:p>
            <a:pPr marL="342900" indent="-342900">
              <a:lnSpc>
                <a:spcPct val="150000"/>
              </a:lnSpc>
              <a:buFont typeface="Arial"/>
              <a:buChar char="•"/>
            </a:pPr>
            <a:endParaRPr lang="en-US" sz="2000" dirty="0">
              <a:latin typeface="Times New Roman" panose="02020603050405020304" pitchFamily="18" charset="0"/>
              <a:ea typeface="Calibri"/>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855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CA916-D8B1-3A12-60F7-A5E7E4ECEF2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16F3B10-7DFD-74F5-BDF0-233B4001EFC3}"/>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354373AE-2EBA-4467-1FDB-B35BE3B62837}"/>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8">
            <a:extLst>
              <a:ext uri="{FF2B5EF4-FFF2-40B4-BE49-F238E27FC236}">
                <a16:creationId xmlns:a16="http://schemas.microsoft.com/office/drawing/2014/main" id="{D51F94FF-E9D9-C751-EA77-580E248232DC}"/>
              </a:ext>
            </a:extLst>
          </p:cNvPr>
          <p:cNvSpPr txBox="1">
            <a:spLocks/>
          </p:cNvSpPr>
          <p:nvPr/>
        </p:nvSpPr>
        <p:spPr>
          <a:xfrm>
            <a:off x="1295400" y="41564"/>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9463EB07-0E06-3C64-2245-0C7278671136}"/>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DD60B77F-AD26-567D-73F0-E62013970ECB}"/>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20E5A48-0A12-BB29-1092-19DA30AB653A}"/>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924D60DC-97E3-AACC-82FA-251E2FA687A5}"/>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DFA73D01-3668-8EC1-E21F-45123512EF5D}"/>
              </a:ext>
            </a:extLst>
          </p:cNvPr>
          <p:cNvSpPr>
            <a:spLocks noChangeArrowheads="1"/>
          </p:cNvSpPr>
          <p:nvPr/>
        </p:nvSpPr>
        <p:spPr bwMode="auto">
          <a:xfrm>
            <a:off x="1444412" y="1581941"/>
            <a:ext cx="7252778" cy="6500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4:  </a:t>
            </a:r>
            <a:r>
              <a:rPr lang="en-US" sz="2000" b="1">
                <a:latin typeface="Times New Roman"/>
                <a:ea typeface="+mn-lt"/>
                <a:cs typeface="Times New Roman"/>
              </a:rPr>
              <a:t>Breed Classification Module </a:t>
            </a:r>
            <a:endParaRPr lang="en-US" sz="2000" b="1">
              <a:latin typeface="Times New Roman"/>
              <a:cs typeface="Times New Roman"/>
            </a:endParaRPr>
          </a:p>
          <a:p>
            <a:pPr>
              <a:lnSpc>
                <a:spcPct val="150000"/>
              </a:lnSpc>
            </a:pPr>
            <a:r>
              <a:rPr lang="en-US" sz="2000" b="1">
                <a:latin typeface="Times New Roman"/>
                <a:ea typeface="+mn-lt"/>
                <a:cs typeface="Times New Roman"/>
              </a:rPr>
              <a:t>The module generates:</a:t>
            </a:r>
          </a:p>
          <a:p>
            <a:pPr marL="800100" lvl="1" indent="-342900">
              <a:lnSpc>
                <a:spcPct val="150000"/>
              </a:lnSpc>
              <a:buFont typeface="Courier New"/>
              <a:buChar char="o"/>
            </a:pPr>
            <a:r>
              <a:rPr lang="en-US" sz="2000">
                <a:latin typeface="Times New Roman"/>
                <a:ea typeface="+mn-lt"/>
                <a:cs typeface="Times New Roman"/>
              </a:rPr>
              <a:t>Bounding box around the animal</a:t>
            </a:r>
            <a:endParaRPr lang="en-US" sz="2000">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Predicted breed label</a:t>
            </a:r>
            <a:endParaRPr lang="en-US" sz="2000">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Confidence score</a:t>
            </a:r>
            <a:endParaRPr lang="en-US" sz="2000">
              <a:latin typeface="Times New Roman"/>
              <a:cs typeface="Times New Roman"/>
            </a:endParaRPr>
          </a:p>
          <a:p>
            <a:pPr>
              <a:lnSpc>
                <a:spcPct val="150000"/>
              </a:lnSpc>
            </a:pPr>
            <a:r>
              <a:rPr lang="en-US" sz="2000" b="1">
                <a:latin typeface="Times New Roman"/>
                <a:ea typeface="+mn-lt"/>
                <a:cs typeface="Times New Roman"/>
              </a:rPr>
              <a:t>Advantages:</a:t>
            </a:r>
            <a:endParaRPr lang="en-US" sz="2000" b="1">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Automated classification</a:t>
            </a:r>
            <a:endParaRPr lang="en-US" sz="2000">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Reduced human error</a:t>
            </a:r>
            <a:endParaRPr lang="en-US" sz="2000">
              <a:latin typeface="Times New Roman"/>
              <a:cs typeface="Times New Roman"/>
            </a:endParaRPr>
          </a:p>
          <a:p>
            <a:pPr marL="800100" lvl="1" indent="-342900">
              <a:lnSpc>
                <a:spcPct val="150000"/>
              </a:lnSpc>
              <a:buFont typeface="Courier New"/>
              <a:buChar char="o"/>
            </a:pPr>
            <a:r>
              <a:rPr lang="en-US" sz="2000">
                <a:latin typeface="Times New Roman"/>
                <a:ea typeface="+mn-lt"/>
                <a:cs typeface="Times New Roman"/>
              </a:rPr>
              <a:t>Real-time prediction capability</a:t>
            </a:r>
            <a:endParaRPr lang="en-US" sz="2000">
              <a:latin typeface="Times New Roman"/>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3765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E8EA4-4347-E56F-4CCF-D1E0868E0E1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4D551EF-F0C1-DBDE-218F-53928E995D7E}"/>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4936BD94-5E77-6B49-7F0F-9D5879047860}"/>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8">
            <a:extLst>
              <a:ext uri="{FF2B5EF4-FFF2-40B4-BE49-F238E27FC236}">
                <a16:creationId xmlns:a16="http://schemas.microsoft.com/office/drawing/2014/main" id="{D6AD6376-B6D4-7664-EC8A-ECAD091C5202}"/>
              </a:ext>
            </a:extLst>
          </p:cNvPr>
          <p:cNvSpPr txBox="1">
            <a:spLocks/>
          </p:cNvSpPr>
          <p:nvPr/>
        </p:nvSpPr>
        <p:spPr>
          <a:xfrm>
            <a:off x="1295400" y="41564"/>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920D9C6F-787D-482B-7614-445190FE3CC6}"/>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C125BECB-7D40-39AC-B9AB-244074399B89}"/>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690E10D-6B3C-4DA1-16E0-D398BA432098}"/>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E7AF569D-18F9-C403-933D-38DC8C08391A}"/>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2CD1136D-F4ED-E192-9989-9C59F7D507EC}"/>
              </a:ext>
            </a:extLst>
          </p:cNvPr>
          <p:cNvSpPr>
            <a:spLocks noChangeArrowheads="1"/>
          </p:cNvSpPr>
          <p:nvPr/>
        </p:nvSpPr>
        <p:spPr bwMode="auto">
          <a:xfrm>
            <a:off x="1434021" y="1332559"/>
            <a:ext cx="7252778"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5 :</a:t>
            </a:r>
            <a:r>
              <a:rPr lang="en-US" sz="2000" b="1">
                <a:latin typeface="Times New Roman"/>
                <a:ea typeface="+mn-lt"/>
                <a:cs typeface="Times New Roman"/>
              </a:rPr>
              <a:t>Prediction &amp; Result Analysis Module</a:t>
            </a:r>
            <a:r>
              <a:rPr lang="en-US" sz="2000" b="1" dirty="0">
                <a:latin typeface="Times New Roman"/>
                <a:ea typeface="+mn-lt"/>
                <a:cs typeface="Times New Roman"/>
              </a:rPr>
              <a:t> </a:t>
            </a:r>
            <a:endParaRPr lang="en-US" sz="2000" b="1">
              <a:latin typeface="Times New Roman"/>
              <a:cs typeface="Times New Roman"/>
            </a:endParaRPr>
          </a:p>
          <a:p>
            <a:pPr>
              <a:lnSpc>
                <a:spcPct val="150000"/>
              </a:lnSpc>
            </a:pPr>
            <a:r>
              <a:rPr lang="en-US" sz="2000" b="1">
                <a:latin typeface="Times New Roman"/>
                <a:ea typeface="+mn-lt"/>
                <a:cs typeface="Times New Roman"/>
              </a:rPr>
              <a:t>Purpose:    </a:t>
            </a:r>
            <a:endParaRPr lang="en-US"/>
          </a:p>
          <a:p>
            <a:pPr>
              <a:lnSpc>
                <a:spcPct val="150000"/>
              </a:lnSpc>
            </a:pPr>
            <a:r>
              <a:rPr lang="en-US" sz="2000">
                <a:latin typeface="Times New Roman"/>
                <a:ea typeface="+mn-lt"/>
                <a:cs typeface="Times New Roman"/>
              </a:rPr>
              <a:t>  This module processes the model output and prepares results.</a:t>
            </a:r>
            <a:endParaRPr lang="en-US" sz="2000">
              <a:latin typeface="Times New Roman"/>
              <a:cs typeface="Times New Roman"/>
            </a:endParaRPr>
          </a:p>
          <a:p>
            <a:pPr>
              <a:lnSpc>
                <a:spcPct val="150000"/>
              </a:lnSpc>
            </a:pPr>
            <a:r>
              <a:rPr lang="en-US" sz="2000" b="1">
                <a:latin typeface="Times New Roman"/>
                <a:ea typeface="+mn-lt"/>
                <a:cs typeface="Times New Roman"/>
              </a:rPr>
              <a:t>Functions:</a:t>
            </a:r>
          </a:p>
          <a:p>
            <a:pPr marL="285750" indent="-285750">
              <a:lnSpc>
                <a:spcPct val="150000"/>
              </a:lnSpc>
              <a:buFont typeface="Arial"/>
              <a:buChar char="•"/>
            </a:pPr>
            <a:r>
              <a:rPr lang="en-US" sz="2000">
                <a:latin typeface="Times New Roman"/>
                <a:ea typeface="+mn-lt"/>
                <a:cs typeface="Times New Roman"/>
              </a:rPr>
              <a:t>Extract breed label and confidence score</a:t>
            </a:r>
          </a:p>
          <a:p>
            <a:pPr marL="285750" indent="-285750">
              <a:lnSpc>
                <a:spcPct val="150000"/>
              </a:lnSpc>
              <a:buFont typeface="Arial"/>
              <a:buChar char="•"/>
            </a:pPr>
            <a:r>
              <a:rPr lang="en-US" sz="2000">
                <a:latin typeface="Times New Roman"/>
                <a:ea typeface="+mn-lt"/>
                <a:cs typeface="Times New Roman"/>
              </a:rPr>
              <a:t>Verify prediction reliability using a </a:t>
            </a:r>
            <a:r>
              <a:rPr lang="en-US" sz="2000" b="1">
                <a:latin typeface="Times New Roman"/>
                <a:ea typeface="+mn-lt"/>
                <a:cs typeface="Times New Roman"/>
              </a:rPr>
              <a:t>confidence threshold</a:t>
            </a:r>
            <a:endParaRPr lang="en-US" sz="2000">
              <a:latin typeface="Times New Roman"/>
              <a:cs typeface="Times New Roman"/>
            </a:endParaRPr>
          </a:p>
          <a:p>
            <a:pPr marL="285750" indent="-285750">
              <a:lnSpc>
                <a:spcPct val="150000"/>
              </a:lnSpc>
              <a:buFont typeface="Arial"/>
              <a:buChar char="•"/>
            </a:pPr>
            <a:r>
              <a:rPr lang="en-US" sz="2000">
                <a:latin typeface="Times New Roman"/>
                <a:ea typeface="+mn-lt"/>
                <a:cs typeface="Times New Roman"/>
              </a:rPr>
              <a:t>Display results including: </a:t>
            </a:r>
            <a:endParaRPr lang="en-US" sz="2000">
              <a:latin typeface="Times New Roman"/>
              <a:cs typeface="Times New Roman"/>
            </a:endParaRPr>
          </a:p>
          <a:p>
            <a:pPr marL="742950" lvl="1" indent="-285750">
              <a:lnSpc>
                <a:spcPct val="150000"/>
              </a:lnSpc>
              <a:buFont typeface="Courier New"/>
              <a:buChar char="o"/>
            </a:pPr>
            <a:r>
              <a:rPr lang="en-US" sz="2000">
                <a:latin typeface="Times New Roman"/>
                <a:ea typeface="+mn-lt"/>
                <a:cs typeface="Times New Roman"/>
              </a:rPr>
              <a:t>Predicted breed</a:t>
            </a:r>
            <a:endParaRPr lang="en-US" sz="2000">
              <a:latin typeface="Times New Roman"/>
              <a:cs typeface="Times New Roman"/>
            </a:endParaRPr>
          </a:p>
          <a:p>
            <a:pPr marL="742950" lvl="1" indent="-285750">
              <a:lnSpc>
                <a:spcPct val="150000"/>
              </a:lnSpc>
              <a:buFont typeface="Courier New"/>
              <a:buChar char="o"/>
            </a:pPr>
            <a:r>
              <a:rPr lang="en-US" sz="2000">
                <a:latin typeface="Times New Roman"/>
                <a:ea typeface="+mn-lt"/>
                <a:cs typeface="Times New Roman"/>
              </a:rPr>
              <a:t>Confidence percentage</a:t>
            </a:r>
            <a:endParaRPr lang="en-US" sz="2000">
              <a:latin typeface="Times New Roman"/>
              <a:cs typeface="Times New Roman"/>
            </a:endParaRPr>
          </a:p>
          <a:p>
            <a:pPr marL="742950" lvl="1" indent="-285750">
              <a:lnSpc>
                <a:spcPct val="150000"/>
              </a:lnSpc>
              <a:buFont typeface="Courier New"/>
              <a:buChar char="o"/>
            </a:pPr>
            <a:r>
              <a:rPr lang="en-US" sz="2000">
                <a:latin typeface="Times New Roman"/>
                <a:ea typeface="+mn-lt"/>
                <a:cs typeface="Times New Roman"/>
              </a:rPr>
              <a:t>Annotated image with bounding box</a:t>
            </a:r>
            <a:endParaRPr lang="en-US" sz="2000">
              <a:latin typeface="Times New Roman"/>
              <a:cs typeface="Times New Roman"/>
            </a:endParaRPr>
          </a:p>
          <a:p>
            <a:pPr>
              <a:lnSpc>
                <a:spcPct val="150000"/>
              </a:lnSpc>
            </a:pPr>
            <a:endParaRPr lang="en-US" sz="2000" b="1" dirty="0">
              <a:latin typeface="Times New Roman"/>
              <a:ea typeface="Calibri"/>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0115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D9F08-5A52-26D2-530D-8D0479BC4B5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16E593F-1C6E-FE0B-3436-B9023D5EE093}"/>
              </a:ext>
            </a:extLst>
          </p:cNvPr>
          <p:cNvSpPr>
            <a:spLocks noGrp="1"/>
          </p:cNvSpPr>
          <p:nvPr>
            <p:ph type="dt" sz="half" idx="10"/>
          </p:nvPr>
        </p:nvSpPr>
        <p:spPr/>
        <p:txBody>
          <a:bodyPr/>
          <a:lstStyle/>
          <a:p>
            <a:fld id="{DCC7BF40-18D7-404C-B634-F7BE7FC13666}" type="datetime5">
              <a:rPr lang="en-US" smtClean="0"/>
              <a:t>8-Mar-26</a:t>
            </a:fld>
            <a:endParaRPr lang="en-US"/>
          </a:p>
        </p:txBody>
      </p:sp>
      <p:sp>
        <p:nvSpPr>
          <p:cNvPr id="6" name="Slide Number Placeholder 5">
            <a:extLst>
              <a:ext uri="{FF2B5EF4-FFF2-40B4-BE49-F238E27FC236}">
                <a16:creationId xmlns:a16="http://schemas.microsoft.com/office/drawing/2014/main" id="{8204C291-7806-7672-4876-CDCA1EAA8C86}"/>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8">
            <a:extLst>
              <a:ext uri="{FF2B5EF4-FFF2-40B4-BE49-F238E27FC236}">
                <a16:creationId xmlns:a16="http://schemas.microsoft.com/office/drawing/2014/main" id="{6FAFBE4D-215A-0F1B-9593-5BF05C9C637D}"/>
              </a:ext>
            </a:extLst>
          </p:cNvPr>
          <p:cNvSpPr txBox="1">
            <a:spLocks/>
          </p:cNvSpPr>
          <p:nvPr/>
        </p:nvSpPr>
        <p:spPr>
          <a:xfrm>
            <a:off x="1295400" y="41564"/>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3FE971E8-E129-0D61-2A52-1C94DEAC8700}"/>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a:extLst>
              <a:ext uri="{FF2B5EF4-FFF2-40B4-BE49-F238E27FC236}">
                <a16:creationId xmlns:a16="http://schemas.microsoft.com/office/drawing/2014/main" id="{AF2D2CDC-4D0D-7E87-FA29-C05BA4FDB329}"/>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0CAB0021-1937-2218-FB50-918312A8790A}"/>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037FBEEF-CA07-7292-A489-D77F1D2FC26A}"/>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29824104-26F8-677A-D76F-EDCAF6CED101}"/>
              </a:ext>
            </a:extLst>
          </p:cNvPr>
          <p:cNvSpPr>
            <a:spLocks noChangeArrowheads="1"/>
          </p:cNvSpPr>
          <p:nvPr/>
        </p:nvSpPr>
        <p:spPr bwMode="auto">
          <a:xfrm>
            <a:off x="1434021" y="1180389"/>
            <a:ext cx="7252778" cy="788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b="1">
                <a:latin typeface="Times New Roman"/>
                <a:cs typeface="Times New Roman"/>
              </a:rPr>
              <a:t>MODULE 6 :</a:t>
            </a:r>
            <a:r>
              <a:rPr lang="en-US" sz="2000" b="1">
                <a:latin typeface="Times New Roman"/>
                <a:ea typeface="+mn-lt"/>
                <a:cs typeface="Times New Roman"/>
              </a:rPr>
              <a:t>User Interface &amp; Deployment Module</a:t>
            </a:r>
          </a:p>
          <a:p>
            <a:pPr marL="285750" indent="-285750">
              <a:lnSpc>
                <a:spcPct val="150000"/>
              </a:lnSpc>
              <a:buFont typeface="Arial"/>
              <a:buChar char="•"/>
            </a:pPr>
            <a:r>
              <a:rPr lang="en-US" sz="2000">
                <a:latin typeface="Times New Roman"/>
                <a:ea typeface="+mn-lt"/>
                <a:cs typeface="Times New Roman"/>
              </a:rPr>
              <a:t>Frontend developed using </a:t>
            </a:r>
            <a:r>
              <a:rPr lang="en-US" sz="2000" b="1">
                <a:latin typeface="Times New Roman"/>
                <a:ea typeface="+mn-lt"/>
                <a:cs typeface="Times New Roman"/>
              </a:rPr>
              <a:t>HTML, CSS, and JavaScript</a:t>
            </a:r>
            <a:r>
              <a:rPr lang="en-US" sz="2000">
                <a:latin typeface="Times New Roman"/>
                <a:ea typeface="+mn-lt"/>
                <a:cs typeface="Times New Roman"/>
              </a:rPr>
              <a:t>.</a:t>
            </a:r>
            <a:endParaRPr lang="en-US" sz="2000">
              <a:latin typeface="Times New Roman"/>
              <a:cs typeface="Times New Roman"/>
            </a:endParaRPr>
          </a:p>
          <a:p>
            <a:pPr marL="285750" indent="-285750">
              <a:lnSpc>
                <a:spcPct val="150000"/>
              </a:lnSpc>
              <a:buFont typeface="Arial"/>
              <a:buChar char="•"/>
            </a:pPr>
            <a:r>
              <a:rPr lang="en-US" sz="2000" dirty="0">
                <a:latin typeface="Times New Roman"/>
                <a:ea typeface="+mn-lt"/>
                <a:cs typeface="Times New Roman"/>
              </a:rPr>
              <a:t>Backend implemented using </a:t>
            </a:r>
            <a:r>
              <a:rPr lang="en-US" sz="2000" b="1" dirty="0" err="1">
                <a:latin typeface="Times New Roman"/>
                <a:ea typeface="+mn-lt"/>
                <a:cs typeface="Times New Roman"/>
              </a:rPr>
              <a:t>FastAPI</a:t>
            </a:r>
            <a:r>
              <a:rPr lang="en-US" sz="2000" dirty="0">
                <a:latin typeface="Times New Roman"/>
                <a:ea typeface="+mn-lt"/>
                <a:cs typeface="Times New Roman"/>
              </a:rPr>
              <a:t>.</a:t>
            </a:r>
            <a:endParaRPr lang="en-US" sz="2000">
              <a:latin typeface="Times New Roman"/>
              <a:ea typeface="+mn-lt"/>
              <a:cs typeface="Times New Roman"/>
            </a:endParaRPr>
          </a:p>
          <a:p>
            <a:pPr marL="285750" indent="-285750">
              <a:lnSpc>
                <a:spcPct val="150000"/>
              </a:lnSpc>
              <a:buFont typeface="Arial"/>
              <a:buChar char="•"/>
            </a:pPr>
            <a:r>
              <a:rPr lang="en-US" sz="2000">
                <a:latin typeface="Times New Roman"/>
                <a:ea typeface="+mn-lt"/>
                <a:cs typeface="Times New Roman"/>
              </a:rPr>
              <a:t>Handles: </a:t>
            </a:r>
            <a:endParaRPr lang="en-US" sz="2000">
              <a:latin typeface="Times New Roman"/>
              <a:cs typeface="Times New Roman"/>
            </a:endParaRPr>
          </a:p>
          <a:p>
            <a:pPr marL="742950" lvl="1" indent="-285750">
              <a:lnSpc>
                <a:spcPct val="150000"/>
              </a:lnSpc>
              <a:buFont typeface="Arial"/>
              <a:buChar char="•"/>
            </a:pPr>
            <a:r>
              <a:rPr lang="en-US" sz="2000">
                <a:latin typeface="Times New Roman"/>
                <a:ea typeface="+mn-lt"/>
                <a:cs typeface="Times New Roman"/>
              </a:rPr>
              <a:t>Image upload</a:t>
            </a:r>
            <a:endParaRPr lang="en-US" sz="2000">
              <a:latin typeface="Times New Roman"/>
              <a:cs typeface="Times New Roman"/>
            </a:endParaRPr>
          </a:p>
          <a:p>
            <a:pPr marL="742950" lvl="1" indent="-285750">
              <a:lnSpc>
                <a:spcPct val="150000"/>
              </a:lnSpc>
              <a:buFont typeface="Arial"/>
              <a:buChar char="•"/>
            </a:pPr>
            <a:r>
              <a:rPr lang="en-US" sz="2000">
                <a:latin typeface="Times New Roman"/>
                <a:ea typeface="+mn-lt"/>
                <a:cs typeface="Times New Roman"/>
              </a:rPr>
              <a:t>Model inference</a:t>
            </a:r>
            <a:endParaRPr lang="en-US" sz="2000">
              <a:latin typeface="Times New Roman"/>
              <a:cs typeface="Times New Roman"/>
            </a:endParaRPr>
          </a:p>
          <a:p>
            <a:pPr marL="742950" lvl="1" indent="-285750">
              <a:lnSpc>
                <a:spcPct val="150000"/>
              </a:lnSpc>
              <a:buFont typeface="Arial"/>
              <a:buChar char="•"/>
            </a:pPr>
            <a:r>
              <a:rPr lang="en-US" sz="2000">
                <a:latin typeface="Times New Roman"/>
                <a:ea typeface="+mn-lt"/>
                <a:cs typeface="Times New Roman"/>
              </a:rPr>
              <a:t>Result display</a:t>
            </a:r>
            <a:endParaRPr lang="en-US" sz="2000">
              <a:latin typeface="Times New Roman"/>
              <a:cs typeface="Times New Roman"/>
            </a:endParaRPr>
          </a:p>
          <a:p>
            <a:pPr>
              <a:lnSpc>
                <a:spcPct val="150000"/>
              </a:lnSpc>
            </a:pPr>
            <a:r>
              <a:rPr lang="en-US" sz="2000" b="1">
                <a:latin typeface="Times New Roman"/>
                <a:ea typeface="+mn-lt"/>
                <a:cs typeface="Times New Roman"/>
              </a:rPr>
              <a:t>Benefits:</a:t>
            </a:r>
          </a:p>
          <a:p>
            <a:pPr marL="285750" indent="-285750">
              <a:lnSpc>
                <a:spcPct val="150000"/>
              </a:lnSpc>
              <a:buFont typeface="Arial"/>
              <a:buChar char="•"/>
            </a:pPr>
            <a:r>
              <a:rPr lang="en-US" sz="2000">
                <a:latin typeface="Times New Roman"/>
                <a:ea typeface="+mn-lt"/>
                <a:cs typeface="Times New Roman"/>
              </a:rPr>
              <a:t>Easy access through web browser</a:t>
            </a:r>
            <a:endParaRPr lang="en-US" sz="2000">
              <a:latin typeface="Times New Roman"/>
              <a:cs typeface="Times New Roman"/>
            </a:endParaRPr>
          </a:p>
          <a:p>
            <a:pPr marL="285750" indent="-285750">
              <a:lnSpc>
                <a:spcPct val="150000"/>
              </a:lnSpc>
              <a:buFont typeface="Arial"/>
              <a:buChar char="•"/>
            </a:pPr>
            <a:r>
              <a:rPr lang="en-US" sz="2000">
                <a:latin typeface="Times New Roman"/>
                <a:ea typeface="+mn-lt"/>
                <a:cs typeface="Times New Roman"/>
              </a:rPr>
              <a:t>Scalable architecture</a:t>
            </a:r>
            <a:endParaRPr lang="en-US" sz="2000">
              <a:latin typeface="Times New Roman"/>
              <a:cs typeface="Times New Roman"/>
            </a:endParaRPr>
          </a:p>
          <a:p>
            <a:pPr marL="285750" indent="-285750">
              <a:lnSpc>
                <a:spcPct val="150000"/>
              </a:lnSpc>
              <a:buFont typeface="Arial"/>
              <a:buChar char="•"/>
            </a:pPr>
            <a:r>
              <a:rPr lang="en-US" sz="2000">
                <a:latin typeface="Times New Roman"/>
                <a:ea typeface="+mn-lt"/>
                <a:cs typeface="Times New Roman"/>
              </a:rPr>
              <a:t>Future integration</a:t>
            </a:r>
            <a:endParaRPr lang="en-US" sz="2000">
              <a:latin typeface="Times New Roman"/>
              <a:cs typeface="Times New Roman"/>
            </a:endParaRPr>
          </a:p>
          <a:p>
            <a:pPr>
              <a:lnSpc>
                <a:spcPct val="150000"/>
              </a:lnSpc>
            </a:pPr>
            <a:endParaRPr lang="en-US" sz="2000" b="1" dirty="0">
              <a:latin typeface="Times New Roman"/>
              <a:ea typeface="Calibri"/>
              <a:cs typeface="Times New Roman"/>
            </a:endParaRPr>
          </a:p>
          <a:p>
            <a:pPr>
              <a:lnSpc>
                <a:spcPct val="150000"/>
              </a:lnSpc>
            </a:pPr>
            <a:endParaRPr lang="en-US" sz="2000" b="1" dirty="0">
              <a:latin typeface="Times New Roman"/>
              <a:ea typeface="Calibri"/>
              <a:cs typeface="Times New Roman"/>
            </a:endParaRPr>
          </a:p>
          <a:p>
            <a:pPr marL="342900" indent="-342900">
              <a:lnSpc>
                <a:spcPct val="150000"/>
              </a:lnSpc>
              <a:buFont typeface="Arial"/>
              <a:buChar char="•"/>
            </a:pPr>
            <a:endParaRPr lang="en-US" sz="2000" dirty="0">
              <a:latin typeface="Times New Roman"/>
              <a:ea typeface="Calibri"/>
              <a:cs typeface="Times New Roman"/>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Arial"/>
              <a:buChar char="•"/>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64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03AAD-02C9-3942-B810-400D8AE659E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6D45B6F-0006-BF89-639D-CD3423A7D06C}"/>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7CE3DA5E-D860-77BB-088A-A804B61F16F6}"/>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9A402A6F-65D1-AD45-CE2A-5288C8A2744C}"/>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5" name="Date Placeholder 1">
            <a:extLst>
              <a:ext uri="{FF2B5EF4-FFF2-40B4-BE49-F238E27FC236}">
                <a16:creationId xmlns:a16="http://schemas.microsoft.com/office/drawing/2014/main" id="{DA246184-3A28-EE1A-823E-0807B0C7C11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2D0D3CD8-92A1-AB9F-5536-DE6AC995A092}"/>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2AC8C3D8-2384-454B-DFF5-873F140510FF}"/>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29</a:t>
            </a:fld>
            <a:endParaRPr lang="en-US"/>
          </a:p>
        </p:txBody>
      </p:sp>
      <p:sp>
        <p:nvSpPr>
          <p:cNvPr id="8" name="Date Placeholder 1">
            <a:extLst>
              <a:ext uri="{FF2B5EF4-FFF2-40B4-BE49-F238E27FC236}">
                <a16:creationId xmlns:a16="http://schemas.microsoft.com/office/drawing/2014/main" id="{09A3689A-AA80-6FAB-432D-2E99B56BE4A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EBA01795-699C-0671-7300-B75F025903D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4B172838-A0E1-60E5-762A-9F0BBD77874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29</a:t>
            </a:fld>
            <a:endParaRPr lang="en-US"/>
          </a:p>
        </p:txBody>
      </p:sp>
      <p:sp>
        <p:nvSpPr>
          <p:cNvPr id="11" name="Date Placeholder 3">
            <a:extLst>
              <a:ext uri="{FF2B5EF4-FFF2-40B4-BE49-F238E27FC236}">
                <a16:creationId xmlns:a16="http://schemas.microsoft.com/office/drawing/2014/main" id="{867F3A10-A8BE-1383-73B7-6815EEFE06C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A3AC5406-769F-94AF-F5A4-0844ACECA00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29</a:t>
            </a:fld>
            <a:endParaRPr lang="en-US"/>
          </a:p>
        </p:txBody>
      </p:sp>
      <p:sp>
        <p:nvSpPr>
          <p:cNvPr id="13" name="Title 8">
            <a:extLst>
              <a:ext uri="{FF2B5EF4-FFF2-40B4-BE49-F238E27FC236}">
                <a16:creationId xmlns:a16="http://schemas.microsoft.com/office/drawing/2014/main" id="{3F94261C-907A-4E90-D1DB-730556DC6906}"/>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454D690C-CDD2-6AD3-F06A-B5D0EF62311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38C2F47B-FCFD-E503-F5E4-5887E6EEB94C}"/>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342D0C1-71CA-6305-064F-6CD874F7411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74FDC1F7-4390-0C72-0FE9-AF22BB5213B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D2AA9BA3-9996-2C7E-62D1-DCF596084D93}"/>
              </a:ext>
            </a:extLst>
          </p:cNvPr>
          <p:cNvSpPr txBox="1"/>
          <p:nvPr/>
        </p:nvSpPr>
        <p:spPr>
          <a:xfrm>
            <a:off x="1295400" y="1397987"/>
            <a:ext cx="7467600" cy="5324535"/>
          </a:xfrm>
          <a:prstGeom prst="rect">
            <a:avLst/>
          </a:prstGeom>
          <a:noFill/>
        </p:spPr>
        <p:txBody>
          <a:bodyPr wrap="square" lIns="91440" tIns="45720" rIns="91440" bIns="45720" rtlCol="0" anchor="t">
            <a:spAutoFit/>
          </a:bodyPr>
          <a:lstStyle/>
          <a:p>
            <a:pPr eaLnBrk="0" fontAlgn="base" hangingPunct="0"/>
            <a:r>
              <a:rPr lang="en-US" altLang="en-US" sz="2000" b="1">
                <a:latin typeface="Times New Roman"/>
                <a:cs typeface="Times New Roman"/>
              </a:rPr>
              <a:t>YOLO-Based Deep Learning Model (CNN Architecture)</a:t>
            </a:r>
            <a:endParaRPr lang="en-US" altLang="en-US" sz="2000">
              <a:latin typeface="Times New Roman"/>
              <a:cs typeface="Times New Roman"/>
            </a:endParaRPr>
          </a:p>
          <a:p>
            <a:endParaRPr lang="en-US" altLang="en-US" sz="2000" b="1" dirty="0">
              <a:latin typeface="Times New Roman"/>
              <a:ea typeface="Calibri"/>
              <a:cs typeface="Times New Roman"/>
            </a:endParaRPr>
          </a:p>
          <a:p>
            <a:pPr marL="342900" indent="-342900">
              <a:buFont typeface="Arial"/>
              <a:buChar char="•"/>
            </a:pPr>
            <a:r>
              <a:rPr lang="en-US" sz="2000">
                <a:latin typeface="Times New Roman"/>
                <a:ea typeface="Calibri"/>
                <a:cs typeface="Times New Roman"/>
              </a:rPr>
              <a:t>Uses YOLO architecture for real-time image detection and classification.</a:t>
            </a:r>
            <a:endParaRPr lang="en-US" altLang="en-US" sz="2000">
              <a:latin typeface="Times New Roman"/>
              <a:cs typeface="Times New Roman"/>
            </a:endParaRPr>
          </a:p>
          <a:p>
            <a:pPr marL="342900" indent="-342900">
              <a:buFont typeface="Arial"/>
              <a:buChar char="•"/>
            </a:pPr>
            <a:endParaRPr lang="en-US" sz="2000" dirty="0">
              <a:latin typeface="Times New Roman"/>
              <a:ea typeface="+mn-lt"/>
              <a:cs typeface="Times New Roman"/>
            </a:endParaRPr>
          </a:p>
          <a:p>
            <a:pPr marL="342900" indent="-342900">
              <a:buFont typeface="Arial"/>
              <a:buChar char="•"/>
            </a:pPr>
            <a:r>
              <a:rPr lang="en-US" sz="2000">
                <a:latin typeface="Times New Roman"/>
                <a:ea typeface="Calibri"/>
                <a:cs typeface="Times New Roman"/>
              </a:rPr>
              <a:t>Extracts spatial features using convolutional neural networks (CNN).</a:t>
            </a:r>
          </a:p>
          <a:p>
            <a:pPr marL="342900" indent="-342900">
              <a:buFont typeface="Arial"/>
              <a:buChar char="•"/>
            </a:pPr>
            <a:endParaRPr lang="en-US" sz="20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Detects cattle or buffalo in the image and classifies the breed category.</a:t>
            </a:r>
          </a:p>
          <a:p>
            <a:pPr marL="342900" indent="-342900">
              <a:buFont typeface="Arial"/>
              <a:buChar char="•"/>
            </a:pPr>
            <a:endParaRPr lang="en-US" sz="20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Generates breed label with confidence score in a single forward pass.</a:t>
            </a:r>
          </a:p>
          <a:p>
            <a:pPr marL="342900" indent="-342900">
              <a:buFont typeface="Arial"/>
              <a:buChar char="•"/>
            </a:pPr>
            <a:endParaRPr lang="en-US" sz="20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Enables fast and efficient breed identification.</a:t>
            </a:r>
          </a:p>
          <a:p>
            <a:pPr marL="342900" indent="-342900">
              <a:buFont typeface="Arial"/>
              <a:buChar char="•"/>
            </a:pPr>
            <a:endParaRPr lang="en-US" sz="2000" dirty="0">
              <a:latin typeface="Times New Roman"/>
              <a:ea typeface="+mn-lt"/>
              <a:cs typeface="Times New Roman"/>
            </a:endParaRPr>
          </a:p>
          <a:p>
            <a:pPr marL="457200" indent="-457200">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534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F1C97-02EA-CEAB-9573-BDB9FC7DA95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AE5335D-2153-E705-EDDA-CAB25952CF23}"/>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6E5BFA20-0AAF-EE62-C298-6F857D6206C5}"/>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F402D11C-6ADD-38F9-4F91-8275254A4D17}"/>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5" name="Date Placeholder 1">
            <a:extLst>
              <a:ext uri="{FF2B5EF4-FFF2-40B4-BE49-F238E27FC236}">
                <a16:creationId xmlns:a16="http://schemas.microsoft.com/office/drawing/2014/main" id="{6BDE7033-6F05-AA2F-62E5-D5058E0DBF4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21341A53-4A9F-BA52-ADDC-4791BA3C477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8017A170-8820-CC21-6937-3DE66DBF4E4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30</a:t>
            </a:fld>
            <a:endParaRPr lang="en-US"/>
          </a:p>
        </p:txBody>
      </p:sp>
      <p:sp>
        <p:nvSpPr>
          <p:cNvPr id="8" name="Date Placeholder 1">
            <a:extLst>
              <a:ext uri="{FF2B5EF4-FFF2-40B4-BE49-F238E27FC236}">
                <a16:creationId xmlns:a16="http://schemas.microsoft.com/office/drawing/2014/main" id="{D7D1FE14-66C6-D705-73D4-3C42492C172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2E9C6AB1-C289-5932-B7E6-665B30BA5AA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CABB38C7-F6B1-730E-8E65-1132A61EA6F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30</a:t>
            </a:fld>
            <a:endParaRPr lang="en-US"/>
          </a:p>
        </p:txBody>
      </p:sp>
      <p:sp>
        <p:nvSpPr>
          <p:cNvPr id="11" name="Date Placeholder 3">
            <a:extLst>
              <a:ext uri="{FF2B5EF4-FFF2-40B4-BE49-F238E27FC236}">
                <a16:creationId xmlns:a16="http://schemas.microsoft.com/office/drawing/2014/main" id="{4841B5A5-E565-A5F2-C7FA-D756BB7D947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1D40F6EB-CFD8-DC6F-8691-84275EA6ACA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30</a:t>
            </a:fld>
            <a:endParaRPr lang="en-US"/>
          </a:p>
        </p:txBody>
      </p:sp>
      <p:sp>
        <p:nvSpPr>
          <p:cNvPr id="13" name="Title 8">
            <a:extLst>
              <a:ext uri="{FF2B5EF4-FFF2-40B4-BE49-F238E27FC236}">
                <a16:creationId xmlns:a16="http://schemas.microsoft.com/office/drawing/2014/main" id="{D86E81D6-6390-4EF3-A8E5-B0CC57FE0AB4}"/>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8E4C4B55-3288-ADB8-B620-21A70B0CD743}"/>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D0565D4E-C9CB-279B-A193-93716FC6F3E7}"/>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A52D1061-B456-084B-2B38-563236E10CF0}"/>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102C37C4-29FF-7D95-258A-9231F4BBE4B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B14C7152-C3D6-53C3-5898-923B6804A5CB}"/>
              </a:ext>
            </a:extLst>
          </p:cNvPr>
          <p:cNvSpPr txBox="1"/>
          <p:nvPr/>
        </p:nvSpPr>
        <p:spPr>
          <a:xfrm>
            <a:off x="1295400" y="1397987"/>
            <a:ext cx="7467600" cy="5632311"/>
          </a:xfrm>
          <a:prstGeom prst="rect">
            <a:avLst/>
          </a:prstGeom>
          <a:noFill/>
        </p:spPr>
        <p:txBody>
          <a:bodyPr wrap="square" lIns="91440" tIns="45720" rIns="91440" bIns="45720" rtlCol="0" anchor="t">
            <a:spAutoFit/>
          </a:bodyPr>
          <a:lstStyle/>
          <a:p>
            <a:r>
              <a:rPr lang="en-US" sz="2000" b="1">
                <a:latin typeface="Times New Roman"/>
                <a:ea typeface="+mn-lt"/>
                <a:cs typeface="Times New Roman"/>
              </a:rPr>
              <a:t>Multiclass Image Classification Algorithm</a:t>
            </a:r>
            <a:endParaRPr lang="en-US" sz="2000" b="1" dirty="0">
              <a:latin typeface="Times New Roman"/>
              <a:cs typeface="Times New Roman"/>
            </a:endParaRPr>
          </a:p>
          <a:p>
            <a:pPr marL="342900" indent="-342900">
              <a:buFont typeface="Arial"/>
              <a:buChar char="•"/>
            </a:pPr>
            <a:endParaRPr lang="en-US" altLang="en-US" sz="2000" b="1" dirty="0">
              <a:latin typeface="Times New Roman"/>
              <a:ea typeface="+mn-lt"/>
              <a:cs typeface="Times New Roman"/>
            </a:endParaRPr>
          </a:p>
          <a:p>
            <a:pPr marL="342900" indent="-342900">
              <a:buFont typeface="Arial"/>
              <a:buChar char="•"/>
            </a:pPr>
            <a:r>
              <a:rPr lang="en-US" sz="2000">
                <a:latin typeface="Times New Roman"/>
                <a:ea typeface="+mn-lt"/>
                <a:cs typeface="Times New Roman"/>
              </a:rPr>
              <a:t>Designed to classify multiple Indian cattle and buffalo breeds.</a:t>
            </a:r>
            <a:endParaRPr lang="en-US" altLang="en-US" sz="2000">
              <a:latin typeface="Times New Roman"/>
              <a:ea typeface="+mn-lt"/>
              <a:cs typeface="Times New Roman"/>
            </a:endParaRP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Learns visual features from labeled bovine image datasets.</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Handles variations in:</a:t>
            </a:r>
            <a:endParaRPr lang="en-US" sz="200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800100" lvl="1" indent="-342900">
              <a:buFont typeface="Courier New"/>
              <a:buChar char="o"/>
            </a:pPr>
            <a:r>
              <a:rPr lang="en-US" sz="2000">
                <a:latin typeface="Times New Roman"/>
                <a:ea typeface="+mn-lt"/>
                <a:cs typeface="Times New Roman"/>
              </a:rPr>
              <a:t>Orientation</a:t>
            </a:r>
            <a:endParaRPr lang="en-US" sz="2000">
              <a:latin typeface="Times New Roman"/>
              <a:ea typeface="Calibri"/>
              <a:cs typeface="Times New Roman"/>
            </a:endParaRPr>
          </a:p>
          <a:p>
            <a:pPr marL="800100" lvl="1" indent="-342900">
              <a:buFont typeface="Courier New"/>
              <a:buChar char="o"/>
            </a:pPr>
            <a:endParaRPr lang="en-US" sz="2000" dirty="0">
              <a:latin typeface="Times New Roman"/>
              <a:cs typeface="Times New Roman"/>
            </a:endParaRPr>
          </a:p>
          <a:p>
            <a:pPr marL="800100" lvl="1" indent="-342900">
              <a:buFont typeface="Courier New"/>
              <a:buChar char="o"/>
            </a:pPr>
            <a:r>
              <a:rPr lang="en-US" sz="2000">
                <a:latin typeface="Times New Roman"/>
                <a:ea typeface="+mn-lt"/>
                <a:cs typeface="Times New Roman"/>
              </a:rPr>
              <a:t>Lighting conditions</a:t>
            </a:r>
            <a:endParaRPr lang="en-US" sz="2000">
              <a:latin typeface="Times New Roman"/>
              <a:ea typeface="Calibri"/>
              <a:cs typeface="Times New Roman"/>
            </a:endParaRPr>
          </a:p>
          <a:p>
            <a:pPr marL="800100" lvl="1" indent="-342900">
              <a:buFont typeface="Courier New"/>
              <a:buChar char="o"/>
            </a:pPr>
            <a:endParaRPr lang="en-US" sz="2000" dirty="0">
              <a:latin typeface="Times New Roman"/>
              <a:cs typeface="Times New Roman"/>
            </a:endParaRPr>
          </a:p>
          <a:p>
            <a:pPr marL="800100" lvl="1" indent="-342900">
              <a:buFont typeface="Courier New"/>
              <a:buChar char="o"/>
            </a:pPr>
            <a:r>
              <a:rPr lang="en-US" sz="2000">
                <a:latin typeface="Times New Roman"/>
                <a:ea typeface="+mn-lt"/>
                <a:cs typeface="Times New Roman"/>
              </a:rPr>
              <a:t>Background environment</a:t>
            </a:r>
            <a:endParaRPr lang="en-US" sz="200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dirty="0">
                <a:latin typeface="Times New Roman"/>
                <a:ea typeface="+mn-lt"/>
                <a:cs typeface="Times New Roman"/>
              </a:rPr>
              <a:t>Provides accurate breed prediction under real farm conditions.</a:t>
            </a:r>
          </a:p>
          <a:p>
            <a:pPr marL="342900" indent="-342900">
              <a:buFont typeface="Arial"/>
              <a:buChar char="•"/>
            </a:pPr>
            <a:endParaRPr lang="en-US" sz="2000" dirty="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457200" lvl="0" indent="-457200">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4205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169B-2747-B38D-A27B-2FE5F86564B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3D4F4E0-8785-4D98-049D-BCDEABC0E38F}"/>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CBAD037F-B078-B600-BD06-220F2C0D477C}"/>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ED5ACA0F-DFE8-DAFB-CD10-E6C9722C2BF4}"/>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5" name="Date Placeholder 1">
            <a:extLst>
              <a:ext uri="{FF2B5EF4-FFF2-40B4-BE49-F238E27FC236}">
                <a16:creationId xmlns:a16="http://schemas.microsoft.com/office/drawing/2014/main" id="{F3B68DF3-CCFF-DC66-4AA5-6544C94A6F5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3C794696-BFFE-9F33-1C17-ED581ED5B7A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4C937789-5E16-069D-AE29-DDE28D39AB9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31</a:t>
            </a:fld>
            <a:endParaRPr lang="en-US"/>
          </a:p>
        </p:txBody>
      </p:sp>
      <p:sp>
        <p:nvSpPr>
          <p:cNvPr id="8" name="Date Placeholder 1">
            <a:extLst>
              <a:ext uri="{FF2B5EF4-FFF2-40B4-BE49-F238E27FC236}">
                <a16:creationId xmlns:a16="http://schemas.microsoft.com/office/drawing/2014/main" id="{DE43EC51-91B5-FD22-00B2-236D66281C56}"/>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4EA0681A-FC77-F3B7-E0B7-2C0227F085C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9B40E3E2-5E10-88E0-3998-29935746873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31</a:t>
            </a:fld>
            <a:endParaRPr lang="en-US"/>
          </a:p>
        </p:txBody>
      </p:sp>
      <p:sp>
        <p:nvSpPr>
          <p:cNvPr id="11" name="Date Placeholder 3">
            <a:extLst>
              <a:ext uri="{FF2B5EF4-FFF2-40B4-BE49-F238E27FC236}">
                <a16:creationId xmlns:a16="http://schemas.microsoft.com/office/drawing/2014/main" id="{546BAE15-4296-E96E-6478-0E7B34F4D57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33B71CD1-1C05-3AFF-233F-D03031EC49B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31</a:t>
            </a:fld>
            <a:endParaRPr lang="en-US"/>
          </a:p>
        </p:txBody>
      </p:sp>
      <p:sp>
        <p:nvSpPr>
          <p:cNvPr id="13" name="Title 8">
            <a:extLst>
              <a:ext uri="{FF2B5EF4-FFF2-40B4-BE49-F238E27FC236}">
                <a16:creationId xmlns:a16="http://schemas.microsoft.com/office/drawing/2014/main" id="{9B8AC336-F3BD-D4E8-0FDD-B0BC1D6A396E}"/>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10D186FD-9067-A23B-CC02-0FA62B310056}"/>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54D23659-3E74-BE9E-185A-65C3E6820671}"/>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CDE0260D-B412-2929-7AB6-CC6A5AF9214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5D74D939-1EC5-4E00-1041-DCB4179C3E1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A17DA691-7931-17E2-D3F7-84A6AD0DE67D}"/>
              </a:ext>
            </a:extLst>
          </p:cNvPr>
          <p:cNvSpPr txBox="1"/>
          <p:nvPr/>
        </p:nvSpPr>
        <p:spPr>
          <a:xfrm>
            <a:off x="1295400" y="1397987"/>
            <a:ext cx="7467600" cy="4708981"/>
          </a:xfrm>
          <a:prstGeom prst="rect">
            <a:avLst/>
          </a:prstGeom>
          <a:noFill/>
        </p:spPr>
        <p:txBody>
          <a:bodyPr wrap="square" lIns="91440" tIns="45720" rIns="91440" bIns="45720" rtlCol="0" anchor="t">
            <a:spAutoFit/>
          </a:bodyPr>
          <a:lstStyle/>
          <a:p>
            <a:r>
              <a:rPr lang="en-US" sz="2000" b="1">
                <a:latin typeface="Times New Roman"/>
                <a:ea typeface="+mn-lt"/>
                <a:cs typeface="Times New Roman"/>
              </a:rPr>
              <a:t>Retrieval-Augmented Generation (RAG)</a:t>
            </a:r>
            <a:endParaRPr lang="en-US" sz="2000" b="1" dirty="0">
              <a:latin typeface="Times New Roman"/>
              <a:cs typeface="Times New Roman"/>
            </a:endParaRPr>
          </a:p>
          <a:p>
            <a:pPr marL="342900" indent="-342900">
              <a:buFont typeface="Arial"/>
              <a:buChar char="•"/>
            </a:pPr>
            <a:endParaRPr lang="en-US" altLang="en-US" sz="2000" b="1" dirty="0">
              <a:latin typeface="Times New Roman"/>
              <a:ea typeface="+mn-lt"/>
              <a:cs typeface="Times New Roman"/>
            </a:endParaRPr>
          </a:p>
          <a:p>
            <a:pPr marL="342900" indent="-342900">
              <a:buFont typeface="Arial"/>
              <a:buChar char="•"/>
            </a:pPr>
            <a:r>
              <a:rPr lang="en-US" sz="2000">
                <a:latin typeface="Times New Roman"/>
                <a:ea typeface="+mn-lt"/>
                <a:cs typeface="Times New Roman"/>
              </a:rPr>
              <a:t>Combines document retrieval and language generation.</a:t>
            </a:r>
            <a:endParaRPr lang="en-US" altLang="en-US" sz="2000">
              <a:latin typeface="Times New Roman"/>
              <a:ea typeface="+mn-lt"/>
              <a:cs typeface="Times New Roman"/>
            </a:endParaRP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Retrieves relevant breed information from a knowledge base.</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Uses retrieved data to generate context-aware responses.</a:t>
            </a:r>
            <a:endParaRPr lang="en-US" sz="200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Supports an AI-powered chatbot for breed-related queries.</a:t>
            </a:r>
            <a:endParaRPr lang="en-US" sz="200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Improves accuracy and reliability of generated answers.</a:t>
            </a:r>
          </a:p>
          <a:p>
            <a:pPr marL="342900" indent="-342900">
              <a:buFont typeface="Arial"/>
              <a:buChar char="•"/>
            </a:pPr>
            <a:endParaRPr lang="en-US" sz="2000" dirty="0">
              <a:latin typeface="Times New Roman"/>
              <a:ea typeface="+mn-lt"/>
              <a:cs typeface="Times New Roman"/>
            </a:endParaRPr>
          </a:p>
          <a:p>
            <a:pPr marL="342900" indent="-342900">
              <a:buFont typeface="Arial"/>
              <a:buChar char="•"/>
            </a:pPr>
            <a:endParaRPr lang="en-US" sz="2000" dirty="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457200" lvl="0" indent="-457200">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853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6EC92-EDBB-335B-7ED9-2A286533A2F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EF2E27A-7337-35ED-70ED-5CA44F8000E6}"/>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CA8E98BC-94C9-E264-1E0F-9E1637E648B1}"/>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B1230090-8812-CA4D-947E-C183E8D081B3}"/>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5" name="Date Placeholder 1">
            <a:extLst>
              <a:ext uri="{FF2B5EF4-FFF2-40B4-BE49-F238E27FC236}">
                <a16:creationId xmlns:a16="http://schemas.microsoft.com/office/drawing/2014/main" id="{A6DAA03C-F7A6-3B34-8CF9-7793F0C0BD8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5C848900-E548-3417-1684-6D0C3995E76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E6A1595D-22E8-1027-4C64-6C1F95784C0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32</a:t>
            </a:fld>
            <a:endParaRPr lang="en-US"/>
          </a:p>
        </p:txBody>
      </p:sp>
      <p:sp>
        <p:nvSpPr>
          <p:cNvPr id="8" name="Date Placeholder 1">
            <a:extLst>
              <a:ext uri="{FF2B5EF4-FFF2-40B4-BE49-F238E27FC236}">
                <a16:creationId xmlns:a16="http://schemas.microsoft.com/office/drawing/2014/main" id="{7533F1EF-4EA0-3BD3-DB64-47BC1C540C7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957421F9-6351-325D-986B-FB40A6CD565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B9207542-3275-9199-96F0-7E2D73918DA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32</a:t>
            </a:fld>
            <a:endParaRPr lang="en-US"/>
          </a:p>
        </p:txBody>
      </p:sp>
      <p:sp>
        <p:nvSpPr>
          <p:cNvPr id="11" name="Date Placeholder 3">
            <a:extLst>
              <a:ext uri="{FF2B5EF4-FFF2-40B4-BE49-F238E27FC236}">
                <a16:creationId xmlns:a16="http://schemas.microsoft.com/office/drawing/2014/main" id="{9022D0DD-E767-B027-5C43-6A389A4331D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6BAEE068-290A-C44D-CB2C-1ACD5BD78BF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32</a:t>
            </a:fld>
            <a:endParaRPr lang="en-US"/>
          </a:p>
        </p:txBody>
      </p:sp>
      <p:sp>
        <p:nvSpPr>
          <p:cNvPr id="13" name="Title 8">
            <a:extLst>
              <a:ext uri="{FF2B5EF4-FFF2-40B4-BE49-F238E27FC236}">
                <a16:creationId xmlns:a16="http://schemas.microsoft.com/office/drawing/2014/main" id="{CA3136A7-68B3-0AA8-0014-557F6C0D2E87}"/>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82169F89-31F4-1496-12A9-22A751C6FB7D}"/>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6B8E0C7D-2E93-2AD8-FDC2-616D82771197}"/>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17182F8A-D8C4-D4E4-618C-37449E9EA16F}"/>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982A5DFB-90D4-C90B-1FC9-12709A04741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96708315-F5BA-DA03-AB07-ECE0519DCFE8}"/>
              </a:ext>
            </a:extLst>
          </p:cNvPr>
          <p:cNvSpPr txBox="1"/>
          <p:nvPr/>
        </p:nvSpPr>
        <p:spPr>
          <a:xfrm>
            <a:off x="1295400" y="1397987"/>
            <a:ext cx="7467600" cy="5324535"/>
          </a:xfrm>
          <a:prstGeom prst="rect">
            <a:avLst/>
          </a:prstGeom>
          <a:noFill/>
        </p:spPr>
        <p:txBody>
          <a:bodyPr wrap="square" lIns="91440" tIns="45720" rIns="91440" bIns="45720" rtlCol="0" anchor="t">
            <a:spAutoFit/>
          </a:bodyPr>
          <a:lstStyle/>
          <a:p>
            <a:r>
              <a:rPr lang="en-US" sz="2000" b="1">
                <a:latin typeface="Times New Roman"/>
                <a:ea typeface="+mn-lt"/>
                <a:cs typeface="Times New Roman"/>
              </a:rPr>
              <a:t>FAISS-Based Vector Similarity Search</a:t>
            </a:r>
            <a:endParaRPr lang="en-US" sz="2000" b="1" dirty="0">
              <a:latin typeface="Times New Roman"/>
              <a:cs typeface="Times New Roman"/>
            </a:endParaRPr>
          </a:p>
          <a:p>
            <a:pPr marL="342900" indent="-342900">
              <a:buFont typeface="Arial"/>
              <a:buChar char="•"/>
            </a:pPr>
            <a:endParaRPr lang="en-US" altLang="en-US" sz="2000" b="1" dirty="0">
              <a:latin typeface="Times New Roman"/>
              <a:ea typeface="+mn-lt"/>
              <a:cs typeface="Times New Roman"/>
            </a:endParaRPr>
          </a:p>
          <a:p>
            <a:pPr marL="342900" indent="-342900">
              <a:buFont typeface="Arial"/>
              <a:buChar char="•"/>
            </a:pPr>
            <a:endParaRPr lang="en-US" altLang="en-US" sz="20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Uses FAISS for efficient vector search.</a:t>
            </a:r>
            <a:endParaRPr lang="en-US" sz="200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Indexes high-dimensional embeddings from breed documents.</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Retrieves the most relevant information quickly.</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Improves chatbot response speed and accuracy.</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Supports large-scale document retrieval systems.</a:t>
            </a:r>
          </a:p>
          <a:p>
            <a:pPr marL="342900" indent="-342900">
              <a:buFont typeface="Arial"/>
              <a:buChar char="•"/>
            </a:pPr>
            <a:endParaRPr lang="en-US" sz="2000" dirty="0">
              <a:latin typeface="Times New Roman"/>
              <a:ea typeface="+mn-lt"/>
              <a:cs typeface="Times New Roman"/>
            </a:endParaRPr>
          </a:p>
          <a:p>
            <a:pPr marL="342900" indent="-342900">
              <a:buFont typeface="Arial"/>
              <a:buChar char="•"/>
            </a:pPr>
            <a:endParaRPr lang="en-US" sz="2000" dirty="0">
              <a:latin typeface="Times New Roman"/>
              <a:ea typeface="+mn-lt"/>
              <a:cs typeface="Times New Roman"/>
            </a:endParaRPr>
          </a:p>
          <a:p>
            <a:pPr marL="342900" indent="-342900">
              <a:buFont typeface="Arial"/>
              <a:buChar char="•"/>
            </a:pPr>
            <a:endParaRPr lang="en-US" sz="2000" dirty="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457200" lvl="0" indent="-457200">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76438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C331-A0C4-0AFD-EF12-285C9765938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CACD9CF-85ED-181E-39E7-859CAEA5CBAE}"/>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4F2E71B7-E09B-A974-5A06-2FCFB84D9EF0}"/>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BD49A460-9D24-868B-28FB-B2F82977FDEB}"/>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5" name="Date Placeholder 1">
            <a:extLst>
              <a:ext uri="{FF2B5EF4-FFF2-40B4-BE49-F238E27FC236}">
                <a16:creationId xmlns:a16="http://schemas.microsoft.com/office/drawing/2014/main" id="{586B4D79-1BE8-D222-E446-1334D20DE15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41E5EFCB-7E13-BC0E-B5E1-095B035CC8B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9667C745-8A3D-EBC6-94D7-4DEB8B8CC62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33</a:t>
            </a:fld>
            <a:endParaRPr lang="en-US"/>
          </a:p>
        </p:txBody>
      </p:sp>
      <p:sp>
        <p:nvSpPr>
          <p:cNvPr id="8" name="Date Placeholder 1">
            <a:extLst>
              <a:ext uri="{FF2B5EF4-FFF2-40B4-BE49-F238E27FC236}">
                <a16:creationId xmlns:a16="http://schemas.microsoft.com/office/drawing/2014/main" id="{D9BC5259-C6C0-194D-CBE9-243395DFCFD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DB220B5A-5EDB-FAB7-4B06-DCE0ABF0C98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218D3E22-80E2-C7C8-9FCB-2BEE7E155EC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33</a:t>
            </a:fld>
            <a:endParaRPr lang="en-US"/>
          </a:p>
        </p:txBody>
      </p:sp>
      <p:sp>
        <p:nvSpPr>
          <p:cNvPr id="11" name="Date Placeholder 3">
            <a:extLst>
              <a:ext uri="{FF2B5EF4-FFF2-40B4-BE49-F238E27FC236}">
                <a16:creationId xmlns:a16="http://schemas.microsoft.com/office/drawing/2014/main" id="{DCC2529D-3979-5E1C-E442-3F1AB22C7CC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0DF25676-7021-E052-C495-CA51DF08B72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33</a:t>
            </a:fld>
            <a:endParaRPr lang="en-US"/>
          </a:p>
        </p:txBody>
      </p:sp>
      <p:sp>
        <p:nvSpPr>
          <p:cNvPr id="13" name="Title 8">
            <a:extLst>
              <a:ext uri="{FF2B5EF4-FFF2-40B4-BE49-F238E27FC236}">
                <a16:creationId xmlns:a16="http://schemas.microsoft.com/office/drawing/2014/main" id="{044BC8C9-2977-C65E-B664-713349387BCA}"/>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FBC0F9CD-03F2-9B3E-69B5-51B9869EF094}"/>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2D1A8B07-1867-C8FC-0AA0-9DB242469334}"/>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8F42D759-4E09-B9D4-D42D-BA748B0A3E0A}"/>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BBB43FAA-FE99-367D-3192-93F31CD14AD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94D5263A-F80A-6A76-FE4D-4E61B505F2A4}"/>
              </a:ext>
            </a:extLst>
          </p:cNvPr>
          <p:cNvSpPr txBox="1"/>
          <p:nvPr/>
        </p:nvSpPr>
        <p:spPr>
          <a:xfrm>
            <a:off x="1295400" y="1377206"/>
            <a:ext cx="7041573" cy="5940088"/>
          </a:xfrm>
          <a:prstGeom prst="rect">
            <a:avLst/>
          </a:prstGeom>
          <a:noFill/>
        </p:spPr>
        <p:txBody>
          <a:bodyPr wrap="square" lIns="91440" tIns="45720" rIns="91440" bIns="45720" rtlCol="0" anchor="t">
            <a:spAutoFit/>
          </a:bodyPr>
          <a:lstStyle/>
          <a:p>
            <a:r>
              <a:rPr lang="en-US" sz="2000" b="1">
                <a:latin typeface="Times New Roman"/>
                <a:ea typeface="+mn-lt"/>
                <a:cs typeface="Times New Roman"/>
              </a:rPr>
              <a:t>Large Language Model (LLM) with NLP Techniques</a:t>
            </a:r>
            <a:endParaRPr lang="en-US" sz="2000" b="1">
              <a:latin typeface="Times New Roman"/>
              <a:ea typeface="Calibri"/>
              <a:cs typeface="Times New Roman"/>
            </a:endParaRPr>
          </a:p>
          <a:p>
            <a:endParaRPr lang="en-US" sz="2000" b="1" dirty="0">
              <a:latin typeface="Times New Roman"/>
              <a:ea typeface="+mn-lt"/>
              <a:cs typeface="Times New Roman"/>
            </a:endParaRPr>
          </a:p>
          <a:p>
            <a:pPr marL="342900" indent="-342900">
              <a:buFont typeface="Arial"/>
              <a:buChar char="•"/>
            </a:pPr>
            <a:endParaRPr lang="en-US" altLang="en-US" sz="20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Uses Large Language Models (LLMs) for natural language understanding.</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Processes user queries about Indian bovine breeds.</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Generates human-readable explanations and insights.</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Enhances user interaction and learning experience.</a:t>
            </a:r>
          </a:p>
          <a:p>
            <a:pPr marL="342900" indent="-342900">
              <a:buFont typeface="Arial"/>
              <a:buChar char="•"/>
            </a:pPr>
            <a:endParaRPr lang="en-US" sz="2000" dirty="0">
              <a:latin typeface="Times New Roman"/>
              <a:cs typeface="Times New Roman"/>
            </a:endParaRPr>
          </a:p>
          <a:p>
            <a:pPr marL="342900" indent="-342900">
              <a:buFont typeface="Arial"/>
              <a:buChar char="•"/>
            </a:pPr>
            <a:r>
              <a:rPr lang="en-US" sz="2000">
                <a:latin typeface="Times New Roman"/>
                <a:ea typeface="+mn-lt"/>
                <a:cs typeface="Times New Roman"/>
              </a:rPr>
              <a:t>Makes the system more interactive and informative.</a:t>
            </a:r>
          </a:p>
          <a:p>
            <a:pPr marL="342900" indent="-342900">
              <a:buFont typeface="Arial"/>
              <a:buChar char="•"/>
            </a:pPr>
            <a:endParaRPr lang="en-US" sz="2000" dirty="0">
              <a:latin typeface="Times New Roman"/>
              <a:ea typeface="+mn-lt"/>
              <a:cs typeface="Times New Roman"/>
            </a:endParaRPr>
          </a:p>
          <a:p>
            <a:pPr marL="342900" indent="-342900">
              <a:buFont typeface="Arial"/>
              <a:buChar char="•"/>
            </a:pPr>
            <a:endParaRPr lang="en-US" sz="2000" dirty="0">
              <a:latin typeface="Times New Roman"/>
              <a:ea typeface="+mn-lt"/>
              <a:cs typeface="Times New Roman"/>
            </a:endParaRPr>
          </a:p>
          <a:p>
            <a:pPr marL="342900" indent="-342900">
              <a:buFont typeface="Arial"/>
              <a:buChar char="•"/>
            </a:pPr>
            <a:endParaRPr lang="en-US" sz="2000" dirty="0">
              <a:latin typeface="Times New Roman"/>
              <a:ea typeface="+mn-lt"/>
              <a:cs typeface="Times New Roman"/>
            </a:endParaRPr>
          </a:p>
          <a:p>
            <a:pPr marL="342900" indent="-342900">
              <a:buFont typeface="Arial"/>
              <a:buChar char="•"/>
            </a:pPr>
            <a:endParaRPr lang="en-US" sz="2000" dirty="0">
              <a:latin typeface="Times New Roman"/>
              <a:ea typeface="Calibri"/>
              <a:cs typeface="Times New Roman"/>
            </a:endParaRPr>
          </a:p>
          <a:p>
            <a:pPr marL="342900" indent="-342900">
              <a:buFont typeface="Arial"/>
              <a:buChar char="•"/>
            </a:pPr>
            <a:endParaRPr lang="en-US" sz="2000" dirty="0">
              <a:latin typeface="Times New Roman"/>
              <a:cs typeface="Times New Roman"/>
            </a:endParaRPr>
          </a:p>
          <a:p>
            <a:pPr marL="457200" lvl="0" indent="-457200">
              <a:spcBef>
                <a:spcPct val="0"/>
              </a:spcBef>
              <a:spcAft>
                <a:spcPct val="0"/>
              </a:spcAft>
              <a:buFont typeface="Arial"/>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7933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0381D-5321-99B3-1FB0-15069004835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7C7CCBD-6830-A433-25E2-5B6AE9525F5B}"/>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CB29FFC3-2112-F06D-C490-5BE213C82FAB}"/>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8E8FE21B-B9CD-0AA7-BCE1-30C66DF39D3E}"/>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5" name="Date Placeholder 1">
            <a:extLst>
              <a:ext uri="{FF2B5EF4-FFF2-40B4-BE49-F238E27FC236}">
                <a16:creationId xmlns:a16="http://schemas.microsoft.com/office/drawing/2014/main" id="{0754CA3A-F077-A9BE-C1B1-BDB0A5E77F8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07253ABB-797B-184E-6508-ACF05B3FE45F}"/>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90170697-7E5F-1708-5059-AE1C3090791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34</a:t>
            </a:fld>
            <a:endParaRPr lang="en-US"/>
          </a:p>
        </p:txBody>
      </p:sp>
      <p:sp>
        <p:nvSpPr>
          <p:cNvPr id="8" name="Date Placeholder 1">
            <a:extLst>
              <a:ext uri="{FF2B5EF4-FFF2-40B4-BE49-F238E27FC236}">
                <a16:creationId xmlns:a16="http://schemas.microsoft.com/office/drawing/2014/main" id="{E6BE39D4-FD9D-C29A-2990-4B892F97921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CBB58761-EFB3-985B-C838-07217C2894A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E6D02DEF-98F6-8655-21CC-4F43D7B88E2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34</a:t>
            </a:fld>
            <a:endParaRPr lang="en-US"/>
          </a:p>
        </p:txBody>
      </p:sp>
      <p:sp>
        <p:nvSpPr>
          <p:cNvPr id="11" name="Date Placeholder 3">
            <a:extLst>
              <a:ext uri="{FF2B5EF4-FFF2-40B4-BE49-F238E27FC236}">
                <a16:creationId xmlns:a16="http://schemas.microsoft.com/office/drawing/2014/main" id="{1A2B7313-A3E8-2019-DBD6-7B9ABA481F8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98A257FF-6BC3-072A-1043-957939DBA06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34</a:t>
            </a:fld>
            <a:endParaRPr lang="en-US"/>
          </a:p>
        </p:txBody>
      </p:sp>
      <p:sp>
        <p:nvSpPr>
          <p:cNvPr id="13" name="Title 8">
            <a:extLst>
              <a:ext uri="{FF2B5EF4-FFF2-40B4-BE49-F238E27FC236}">
                <a16:creationId xmlns:a16="http://schemas.microsoft.com/office/drawing/2014/main" id="{8963D778-5D9C-B137-EF27-175B76297826}"/>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Output Screenshot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2998CE93-DF78-51C3-4207-0B02346E212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0B4FCBB1-2C32-8E29-BFBB-159911CDE4BB}"/>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FB44E95B-C08A-7592-EEDF-E73EF98A1186}"/>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D5D97D0A-223C-3DE6-FCC9-EBA42CFB589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pic>
        <p:nvPicPr>
          <p:cNvPr id="22" name="Picture 21" descr="A screenshot of a computer&#10;&#10;AI-generated content may be incorrect.">
            <a:extLst>
              <a:ext uri="{FF2B5EF4-FFF2-40B4-BE49-F238E27FC236}">
                <a16:creationId xmlns:a16="http://schemas.microsoft.com/office/drawing/2014/main" id="{FDC2A4CE-513D-C2C4-8FE5-97F006333F9F}"/>
              </a:ext>
            </a:extLst>
          </p:cNvPr>
          <p:cNvPicPr>
            <a:picLocks noChangeAspect="1"/>
          </p:cNvPicPr>
          <p:nvPr/>
        </p:nvPicPr>
        <p:blipFill>
          <a:blip r:embed="rId2"/>
          <a:stretch>
            <a:fillRect/>
          </a:stretch>
        </p:blipFill>
        <p:spPr>
          <a:xfrm>
            <a:off x="1724891" y="1709305"/>
            <a:ext cx="6733309" cy="4322619"/>
          </a:xfrm>
          <a:prstGeom prst="rect">
            <a:avLst/>
          </a:prstGeom>
        </p:spPr>
      </p:pic>
    </p:spTree>
    <p:extLst>
      <p:ext uri="{BB962C8B-B14F-4D97-AF65-F5344CB8AC3E}">
        <p14:creationId xmlns:p14="http://schemas.microsoft.com/office/powerpoint/2010/main" val="41465542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E4FB4-9A56-8D0F-E905-34CDFF78EF8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EDEAA40-1738-AE9E-F0C5-1AA405BBE750}"/>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B1A7AF01-74CB-5E4D-7BC3-72873F1E8935}"/>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FB56F232-6206-706A-2702-714FA5794BFF}"/>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5" name="Date Placeholder 1">
            <a:extLst>
              <a:ext uri="{FF2B5EF4-FFF2-40B4-BE49-F238E27FC236}">
                <a16:creationId xmlns:a16="http://schemas.microsoft.com/office/drawing/2014/main" id="{5327BB5F-40ED-04C1-FE24-860D5CF84941}"/>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8C2E941C-42EE-44FD-1B21-53535C8DD97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D5E2E174-1083-CFD9-4FB9-0704894CDFE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35</a:t>
            </a:fld>
            <a:endParaRPr lang="en-US"/>
          </a:p>
        </p:txBody>
      </p:sp>
      <p:sp>
        <p:nvSpPr>
          <p:cNvPr id="8" name="Date Placeholder 1">
            <a:extLst>
              <a:ext uri="{FF2B5EF4-FFF2-40B4-BE49-F238E27FC236}">
                <a16:creationId xmlns:a16="http://schemas.microsoft.com/office/drawing/2014/main" id="{96D90CE5-9428-3648-5054-4134791EEA1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4ED55367-4B98-EB4C-D743-E21EED27FA6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8BC66AF9-6802-E638-10D9-E498E4DF491D}"/>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35</a:t>
            </a:fld>
            <a:endParaRPr lang="en-US"/>
          </a:p>
        </p:txBody>
      </p:sp>
      <p:sp>
        <p:nvSpPr>
          <p:cNvPr id="11" name="Date Placeholder 3">
            <a:extLst>
              <a:ext uri="{FF2B5EF4-FFF2-40B4-BE49-F238E27FC236}">
                <a16:creationId xmlns:a16="http://schemas.microsoft.com/office/drawing/2014/main" id="{5FA729AC-71C6-3B0C-F146-66BDE081705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4687BD5C-8BA1-16F2-28CB-1234BA0512B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35</a:t>
            </a:fld>
            <a:endParaRPr lang="en-US"/>
          </a:p>
        </p:txBody>
      </p:sp>
      <p:sp>
        <p:nvSpPr>
          <p:cNvPr id="13" name="Title 8">
            <a:extLst>
              <a:ext uri="{FF2B5EF4-FFF2-40B4-BE49-F238E27FC236}">
                <a16:creationId xmlns:a16="http://schemas.microsoft.com/office/drawing/2014/main" id="{DECE11D7-BF58-93DF-7545-A1851A72457A}"/>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Output Screenshot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33B1AAC9-427C-16F4-021A-36D5A5E9454A}"/>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A619AA30-25DE-5DC0-05B2-353BA6F3A476}"/>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D32D21DE-EAEC-9EF8-1D84-159A4271B578}"/>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A45467FF-8753-B1A4-FB1F-55064BEE78DF}"/>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pic>
        <p:nvPicPr>
          <p:cNvPr id="21" name="Picture 20" descr="A screenshot of a computer&#10;&#10;AI-generated content may be incorrect.">
            <a:extLst>
              <a:ext uri="{FF2B5EF4-FFF2-40B4-BE49-F238E27FC236}">
                <a16:creationId xmlns:a16="http://schemas.microsoft.com/office/drawing/2014/main" id="{95508544-71A5-4506-205C-C1907A2E011B}"/>
              </a:ext>
            </a:extLst>
          </p:cNvPr>
          <p:cNvPicPr>
            <a:picLocks noChangeAspect="1"/>
          </p:cNvPicPr>
          <p:nvPr/>
        </p:nvPicPr>
        <p:blipFill>
          <a:blip r:embed="rId2"/>
          <a:stretch>
            <a:fillRect/>
          </a:stretch>
        </p:blipFill>
        <p:spPr>
          <a:xfrm>
            <a:off x="1787236" y="1470315"/>
            <a:ext cx="6889173" cy="4499264"/>
          </a:xfrm>
          <a:prstGeom prst="rect">
            <a:avLst/>
          </a:prstGeom>
        </p:spPr>
      </p:pic>
    </p:spTree>
    <p:extLst>
      <p:ext uri="{BB962C8B-B14F-4D97-AF65-F5344CB8AC3E}">
        <p14:creationId xmlns:p14="http://schemas.microsoft.com/office/powerpoint/2010/main" val="1712884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7B5E-250B-68AC-78B1-EF04D4C2EBC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1A3D215-ECE9-3F2F-4446-05135C8D0714}"/>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5817766F-0E9A-D2B7-4CFF-63139ACFC820}"/>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AF2F2C05-5A42-80A7-3859-CB81858E0806}"/>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5" name="Date Placeholder 1">
            <a:extLst>
              <a:ext uri="{FF2B5EF4-FFF2-40B4-BE49-F238E27FC236}">
                <a16:creationId xmlns:a16="http://schemas.microsoft.com/office/drawing/2014/main" id="{4B14C607-0D2C-96A4-1AC4-4D99E1F40D2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EC18E871-ADFF-3028-7143-373711271F9E}"/>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E75A681F-246C-D94A-9292-84FF34F568B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36</a:t>
            </a:fld>
            <a:endParaRPr lang="en-US"/>
          </a:p>
        </p:txBody>
      </p:sp>
      <p:sp>
        <p:nvSpPr>
          <p:cNvPr id="8" name="Date Placeholder 1">
            <a:extLst>
              <a:ext uri="{FF2B5EF4-FFF2-40B4-BE49-F238E27FC236}">
                <a16:creationId xmlns:a16="http://schemas.microsoft.com/office/drawing/2014/main" id="{68BA466D-5698-B04F-81F4-B071912561F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3491838F-89DD-2227-EBCF-457D589B2F1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C03E9B37-1C0E-C466-9DC7-453DD79FF90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36</a:t>
            </a:fld>
            <a:endParaRPr lang="en-US"/>
          </a:p>
        </p:txBody>
      </p:sp>
      <p:sp>
        <p:nvSpPr>
          <p:cNvPr id="11" name="Date Placeholder 3">
            <a:extLst>
              <a:ext uri="{FF2B5EF4-FFF2-40B4-BE49-F238E27FC236}">
                <a16:creationId xmlns:a16="http://schemas.microsoft.com/office/drawing/2014/main" id="{B503D561-5B7A-FBBB-70D8-77FE8AA94D0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544D7E89-B24F-78BE-A457-CA05139FB4B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36</a:t>
            </a:fld>
            <a:endParaRPr lang="en-US"/>
          </a:p>
        </p:txBody>
      </p:sp>
      <p:sp>
        <p:nvSpPr>
          <p:cNvPr id="13" name="Title 8">
            <a:extLst>
              <a:ext uri="{FF2B5EF4-FFF2-40B4-BE49-F238E27FC236}">
                <a16:creationId xmlns:a16="http://schemas.microsoft.com/office/drawing/2014/main" id="{2A3EE195-4997-4D4B-67E7-9D1314645FA2}"/>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Output Screenshot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FA36BBFD-92D5-8547-3373-5E5F4EEB1F9D}"/>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4629F7D2-1F7C-BE6F-BA86-C23F6A8BDA62}"/>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34F7D392-EF08-0FAA-66EF-E137E19284AA}"/>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1AD27C91-0AA7-E8F9-679E-994907EB8DA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pic>
        <p:nvPicPr>
          <p:cNvPr id="19" name="Picture 18" descr="A screenshot of a computer&#10;&#10;AI-generated content may be incorrect.">
            <a:extLst>
              <a:ext uri="{FF2B5EF4-FFF2-40B4-BE49-F238E27FC236}">
                <a16:creationId xmlns:a16="http://schemas.microsoft.com/office/drawing/2014/main" id="{006A4022-7622-3F1F-A618-D8AC8802782F}"/>
              </a:ext>
            </a:extLst>
          </p:cNvPr>
          <p:cNvPicPr>
            <a:picLocks noChangeAspect="1"/>
          </p:cNvPicPr>
          <p:nvPr/>
        </p:nvPicPr>
        <p:blipFill>
          <a:blip r:embed="rId2"/>
          <a:stretch>
            <a:fillRect/>
          </a:stretch>
        </p:blipFill>
        <p:spPr>
          <a:xfrm>
            <a:off x="2098963" y="1823605"/>
            <a:ext cx="6359237" cy="3325090"/>
          </a:xfrm>
          <a:prstGeom prst="rect">
            <a:avLst/>
          </a:prstGeom>
        </p:spPr>
      </p:pic>
    </p:spTree>
    <p:extLst>
      <p:ext uri="{BB962C8B-B14F-4D97-AF65-F5344CB8AC3E}">
        <p14:creationId xmlns:p14="http://schemas.microsoft.com/office/powerpoint/2010/main" val="18850650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23ABDA-591B-071E-790A-501583AEFDAA}"/>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A4A856B3-482D-E97A-74D4-7D4437CEA1C3}"/>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0C1CC7BA-A316-26C2-CB82-27CD7D568C1C}"/>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5" name="Date Placeholder 1">
            <a:extLst>
              <a:ext uri="{FF2B5EF4-FFF2-40B4-BE49-F238E27FC236}">
                <a16:creationId xmlns:a16="http://schemas.microsoft.com/office/drawing/2014/main" id="{956B530D-2E7F-8A98-F82A-3D8A5BCE6F82}"/>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6" name="Footer Placeholder 2">
            <a:extLst>
              <a:ext uri="{FF2B5EF4-FFF2-40B4-BE49-F238E27FC236}">
                <a16:creationId xmlns:a16="http://schemas.microsoft.com/office/drawing/2014/main" id="{A7D90896-5BF1-A106-D529-A4547528AA8C}"/>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0D311F45-A5A7-B060-8BE2-E758B5CFD6B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37</a:t>
            </a:fld>
            <a:endParaRPr lang="en-US"/>
          </a:p>
        </p:txBody>
      </p:sp>
      <p:sp>
        <p:nvSpPr>
          <p:cNvPr id="8" name="Date Placeholder 1">
            <a:extLst>
              <a:ext uri="{FF2B5EF4-FFF2-40B4-BE49-F238E27FC236}">
                <a16:creationId xmlns:a16="http://schemas.microsoft.com/office/drawing/2014/main" id="{F0F5AE2D-805C-531B-D5A2-2AFE3A7B080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9" name="Footer Placeholder 2">
            <a:extLst>
              <a:ext uri="{FF2B5EF4-FFF2-40B4-BE49-F238E27FC236}">
                <a16:creationId xmlns:a16="http://schemas.microsoft.com/office/drawing/2014/main" id="{2EB0CD73-B58A-78D0-3DE5-EA501F09488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8396AA1F-239D-ECD5-5FB4-DD8D0238C8D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37</a:t>
            </a:fld>
            <a:endParaRPr lang="en-US"/>
          </a:p>
        </p:txBody>
      </p:sp>
      <p:sp>
        <p:nvSpPr>
          <p:cNvPr id="11" name="Date Placeholder 3">
            <a:extLst>
              <a:ext uri="{FF2B5EF4-FFF2-40B4-BE49-F238E27FC236}">
                <a16:creationId xmlns:a16="http://schemas.microsoft.com/office/drawing/2014/main" id="{54A02353-A66B-C6BA-8108-214D23DFE5B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2" name="Slide Number Placeholder 5">
            <a:extLst>
              <a:ext uri="{FF2B5EF4-FFF2-40B4-BE49-F238E27FC236}">
                <a16:creationId xmlns:a16="http://schemas.microsoft.com/office/drawing/2014/main" id="{3D35CB7C-535B-C314-27C2-EBB8E74F806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37</a:t>
            </a:fld>
            <a:endParaRPr lang="en-US"/>
          </a:p>
        </p:txBody>
      </p:sp>
      <p:sp>
        <p:nvSpPr>
          <p:cNvPr id="13" name="Title 8">
            <a:extLst>
              <a:ext uri="{FF2B5EF4-FFF2-40B4-BE49-F238E27FC236}">
                <a16:creationId xmlns:a16="http://schemas.microsoft.com/office/drawing/2014/main" id="{90FB5D30-1C11-BF66-8311-5CFBC52B3D12}"/>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Output Screenshot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C5FE36F1-1909-405F-2FCE-70004B7AC3C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9BF139A7-DEC9-2118-E317-7739D6A0EF5B}"/>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EE290120-AC38-AF3B-8CF9-B84D88D603E1}"/>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8E78AA42-3503-5CF4-9ACF-88B7FBBFA1E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pic>
        <p:nvPicPr>
          <p:cNvPr id="18" name="Picture 17" descr="A screenshot of a computer&#10;&#10;AI-generated content may be incorrect.">
            <a:extLst>
              <a:ext uri="{FF2B5EF4-FFF2-40B4-BE49-F238E27FC236}">
                <a16:creationId xmlns:a16="http://schemas.microsoft.com/office/drawing/2014/main" id="{9FEC0F1C-8EC3-C907-DE21-9058BE230C6E}"/>
              </a:ext>
            </a:extLst>
          </p:cNvPr>
          <p:cNvPicPr>
            <a:picLocks noChangeAspect="1"/>
          </p:cNvPicPr>
          <p:nvPr/>
        </p:nvPicPr>
        <p:blipFill>
          <a:blip r:embed="rId2"/>
          <a:stretch>
            <a:fillRect/>
          </a:stretch>
        </p:blipFill>
        <p:spPr>
          <a:xfrm>
            <a:off x="2060863" y="1711901"/>
            <a:ext cx="6196446" cy="4203124"/>
          </a:xfrm>
          <a:prstGeom prst="rect">
            <a:avLst/>
          </a:prstGeom>
        </p:spPr>
      </p:pic>
    </p:spTree>
    <p:extLst>
      <p:ext uri="{BB962C8B-B14F-4D97-AF65-F5344CB8AC3E}">
        <p14:creationId xmlns:p14="http://schemas.microsoft.com/office/powerpoint/2010/main" val="1539667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4B6EFB-A23C-73B8-12FF-815E2B611D63}"/>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3B03BCDD-0B57-EBB5-EB25-C14310F6FB91}"/>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6EE6FB06-A7BC-DB00-7B3A-EF32F91B85B0}"/>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7" name="Date Placeholder 1">
            <a:extLst>
              <a:ext uri="{FF2B5EF4-FFF2-40B4-BE49-F238E27FC236}">
                <a16:creationId xmlns:a16="http://schemas.microsoft.com/office/drawing/2014/main" id="{A71B0D11-8E0B-461F-3C83-F8CA6E4A449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8" name="Footer Placeholder 2">
            <a:extLst>
              <a:ext uri="{FF2B5EF4-FFF2-40B4-BE49-F238E27FC236}">
                <a16:creationId xmlns:a16="http://schemas.microsoft.com/office/drawing/2014/main" id="{A3C95102-47E4-A840-4F12-9605959F599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9" name="Slide Number Placeholder 3">
            <a:extLst>
              <a:ext uri="{FF2B5EF4-FFF2-40B4-BE49-F238E27FC236}">
                <a16:creationId xmlns:a16="http://schemas.microsoft.com/office/drawing/2014/main" id="{5EFA1C23-4844-74D5-9FC1-29A5DD088F8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38</a:t>
            </a:fld>
            <a:endParaRPr lang="en-US"/>
          </a:p>
        </p:txBody>
      </p:sp>
      <p:sp>
        <p:nvSpPr>
          <p:cNvPr id="10" name="Date Placeholder 3">
            <a:extLst>
              <a:ext uri="{FF2B5EF4-FFF2-40B4-BE49-F238E27FC236}">
                <a16:creationId xmlns:a16="http://schemas.microsoft.com/office/drawing/2014/main" id="{DEE91DF6-D3FF-B947-0310-9044FDDEF12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1" name="Slide Number Placeholder 5">
            <a:extLst>
              <a:ext uri="{FF2B5EF4-FFF2-40B4-BE49-F238E27FC236}">
                <a16:creationId xmlns:a16="http://schemas.microsoft.com/office/drawing/2014/main" id="{7AB50CBE-5F60-36ED-3E11-188C42A8AB5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38</a:t>
            </a:fld>
            <a:endParaRPr lang="en-US"/>
          </a:p>
        </p:txBody>
      </p:sp>
      <p:sp>
        <p:nvSpPr>
          <p:cNvPr id="12" name="Title 8">
            <a:extLst>
              <a:ext uri="{FF2B5EF4-FFF2-40B4-BE49-F238E27FC236}">
                <a16:creationId xmlns:a16="http://schemas.microsoft.com/office/drawing/2014/main" id="{0DA6F02F-945B-4864-01D6-D6A8D2FE34F6}"/>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Future Enhancement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3" name="Title 8">
            <a:extLst>
              <a:ext uri="{FF2B5EF4-FFF2-40B4-BE49-F238E27FC236}">
                <a16:creationId xmlns:a16="http://schemas.microsoft.com/office/drawing/2014/main" id="{54190ED9-ADEC-824E-48F7-226739B32FC7}"/>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F7F44121-7A9E-D693-6871-8408E99188EB}"/>
              </a:ext>
            </a:extLst>
          </p:cNvPr>
          <p:cNvSpPr txBox="1">
            <a:spLocks/>
          </p:cNvSpPr>
          <p:nvPr/>
        </p:nvSpPr>
        <p:spPr>
          <a:xfrm>
            <a:off x="1295400" y="12573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D64C1BD-C168-D698-CD09-C5B88CD4F3AD}"/>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6" name="Footer Placeholder 4">
            <a:extLst>
              <a:ext uri="{FF2B5EF4-FFF2-40B4-BE49-F238E27FC236}">
                <a16:creationId xmlns:a16="http://schemas.microsoft.com/office/drawing/2014/main" id="{F672160E-7FFC-359F-E60B-959F6109771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7" name="Rectangle 3">
            <a:extLst>
              <a:ext uri="{FF2B5EF4-FFF2-40B4-BE49-F238E27FC236}">
                <a16:creationId xmlns:a16="http://schemas.microsoft.com/office/drawing/2014/main" id="{4A9196A1-92ED-B627-7546-48618127ABEA}"/>
              </a:ext>
            </a:extLst>
          </p:cNvPr>
          <p:cNvSpPr>
            <a:spLocks noChangeArrowheads="1"/>
          </p:cNvSpPr>
          <p:nvPr/>
        </p:nvSpPr>
        <p:spPr bwMode="auto">
          <a:xfrm>
            <a:off x="1513646" y="1505691"/>
            <a:ext cx="7159261"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Integration with Bharat </a:t>
            </a:r>
            <a:r>
              <a:rPr lang="en-US" sz="2000" b="1" dirty="0" err="1">
                <a:latin typeface="Times New Roman" panose="02020603050405020304" pitchFamily="18" charset="0"/>
                <a:cs typeface="Times New Roman" panose="02020603050405020304" pitchFamily="18" charset="0"/>
              </a:rPr>
              <a:t>Pashudhan</a:t>
            </a:r>
            <a:r>
              <a:rPr lang="en-US" sz="2000" b="1" dirty="0">
                <a:latin typeface="Times New Roman" panose="02020603050405020304" pitchFamily="18" charset="0"/>
                <a:cs typeface="Times New Roman" panose="02020603050405020304" pitchFamily="18" charset="0"/>
              </a:rPr>
              <a:t> App</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support real-time breed validation during livestock registration by Field Level Workers.</a:t>
            </a:r>
            <a:endParaRPr lang="en-US">
              <a:ea typeface="Calibri"/>
              <a:cs typeface="Calibri"/>
            </a:endParaRPr>
          </a:p>
          <a:p>
            <a:pPr marL="342900" indent="-342900">
              <a:lnSpc>
                <a:spcPct val="150000"/>
              </a:lnSpc>
              <a:buFont typeface="Arial" panose="020B0604020202020204" pitchFamily="34" charset="0"/>
              <a:buChar char="•"/>
            </a:pPr>
            <a:r>
              <a:rPr lang="en-US" sz="2000" b="1" dirty="0">
                <a:latin typeface="Times New Roman"/>
                <a:cs typeface="Times New Roman"/>
              </a:rPr>
              <a:t>Expansion of Breed Dataset</a:t>
            </a:r>
            <a:br>
              <a:rPr lang="en-US" sz="2000" dirty="0">
                <a:latin typeface="Times New Roman" panose="02020603050405020304" pitchFamily="18" charset="0"/>
                <a:cs typeface="Times New Roman" panose="02020603050405020304" pitchFamily="18" charset="0"/>
              </a:rPr>
            </a:br>
            <a:r>
              <a:rPr lang="en-US" sz="2000" dirty="0">
                <a:latin typeface="Times New Roman"/>
                <a:cs typeface="Times New Roman"/>
              </a:rPr>
              <a:t>Include more indigenous and crossbred cattle and buffalo breeds to improve system accuracy.</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Mobile Application Development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Enable field-level usage through a mobile app for easy image capture and prediction.</a:t>
            </a:r>
          </a:p>
          <a:p>
            <a:pPr marL="0" marR="0" lvl="0" indent="0" defTabSz="914400" rtl="0" eaLnBrk="0" fontAlgn="base" latinLnBrk="0" hangingPunct="0">
              <a:lnSpc>
                <a:spcPct val="150000"/>
              </a:lnSpc>
              <a:spcBef>
                <a:spcPct val="0"/>
              </a:spcBef>
              <a:spcAft>
                <a:spcPct val="0"/>
              </a:spcAft>
              <a:buClrTx/>
              <a:buSzTx/>
              <a:buFontTx/>
              <a:buChar char="•"/>
              <a:tabLst/>
            </a:pPr>
            <a:endParaRPr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177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CD7F-0345-4467-8215-B3F01AF6CD5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0950045-3758-8B03-5E63-AE9C07C0B87B}"/>
              </a:ext>
            </a:extLst>
          </p:cNvPr>
          <p:cNvSpPr>
            <a:spLocks noGrp="1"/>
          </p:cNvSpPr>
          <p:nvPr>
            <p:ph type="dt" sz="half" idx="10"/>
          </p:nvPr>
        </p:nvSpPr>
        <p:spPr/>
        <p:txBody>
          <a:bodyPr/>
          <a:lstStyle/>
          <a:p>
            <a:fld id="{DC5FBA68-9816-4686-9912-D98927DC24D3}" type="datetime5">
              <a:rPr lang="en-US" smtClean="0"/>
              <a:t>8-Mar-26</a:t>
            </a:fld>
            <a:endParaRPr lang="en-US"/>
          </a:p>
        </p:txBody>
      </p:sp>
      <p:sp>
        <p:nvSpPr>
          <p:cNvPr id="3" name="Footer Placeholder 2">
            <a:extLst>
              <a:ext uri="{FF2B5EF4-FFF2-40B4-BE49-F238E27FC236}">
                <a16:creationId xmlns:a16="http://schemas.microsoft.com/office/drawing/2014/main" id="{59D0A5D9-6A63-EA07-F310-3DB3403DBD9F}"/>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8AA2CBBA-2FAD-F188-6B2E-3D3C329DE736}"/>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7" name="Date Placeholder 1">
            <a:extLst>
              <a:ext uri="{FF2B5EF4-FFF2-40B4-BE49-F238E27FC236}">
                <a16:creationId xmlns:a16="http://schemas.microsoft.com/office/drawing/2014/main" id="{E1BE5191-CA02-F82C-B74A-EA0631A5324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8-Mar-26</a:t>
            </a:fld>
            <a:endParaRPr lang="en-US"/>
          </a:p>
        </p:txBody>
      </p:sp>
      <p:sp>
        <p:nvSpPr>
          <p:cNvPr id="8" name="Footer Placeholder 2">
            <a:extLst>
              <a:ext uri="{FF2B5EF4-FFF2-40B4-BE49-F238E27FC236}">
                <a16:creationId xmlns:a16="http://schemas.microsoft.com/office/drawing/2014/main" id="{77327924-E3F7-2058-28AD-A9C88282F4A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9" name="Slide Number Placeholder 3">
            <a:extLst>
              <a:ext uri="{FF2B5EF4-FFF2-40B4-BE49-F238E27FC236}">
                <a16:creationId xmlns:a16="http://schemas.microsoft.com/office/drawing/2014/main" id="{8A138F21-E90A-0965-2439-46BDFC2268C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39</a:t>
            </a:fld>
            <a:endParaRPr lang="en-US"/>
          </a:p>
        </p:txBody>
      </p:sp>
      <p:sp>
        <p:nvSpPr>
          <p:cNvPr id="10" name="Date Placeholder 3">
            <a:extLst>
              <a:ext uri="{FF2B5EF4-FFF2-40B4-BE49-F238E27FC236}">
                <a16:creationId xmlns:a16="http://schemas.microsoft.com/office/drawing/2014/main" id="{E6DA8BE7-EE3A-D8B1-ED68-F809DD7FC1F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8-Mar-26</a:t>
            </a:fld>
            <a:endParaRPr lang="en-US"/>
          </a:p>
        </p:txBody>
      </p:sp>
      <p:sp>
        <p:nvSpPr>
          <p:cNvPr id="11" name="Slide Number Placeholder 5">
            <a:extLst>
              <a:ext uri="{FF2B5EF4-FFF2-40B4-BE49-F238E27FC236}">
                <a16:creationId xmlns:a16="http://schemas.microsoft.com/office/drawing/2014/main" id="{ABB1EC92-2A4E-EF8C-FAFD-E1417C52AE7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39</a:t>
            </a:fld>
            <a:endParaRPr lang="en-US"/>
          </a:p>
        </p:txBody>
      </p:sp>
      <p:sp>
        <p:nvSpPr>
          <p:cNvPr id="12" name="Title 8">
            <a:extLst>
              <a:ext uri="{FF2B5EF4-FFF2-40B4-BE49-F238E27FC236}">
                <a16:creationId xmlns:a16="http://schemas.microsoft.com/office/drawing/2014/main" id="{6DC03897-E6AF-BEC5-3278-1045535DD520}"/>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3" name="Title 8">
            <a:extLst>
              <a:ext uri="{FF2B5EF4-FFF2-40B4-BE49-F238E27FC236}">
                <a16:creationId xmlns:a16="http://schemas.microsoft.com/office/drawing/2014/main" id="{A3C755CF-E286-8429-AF80-90CF05D2DC4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B26BA194-CD69-0780-C542-90D058A7C1FC}"/>
              </a:ext>
            </a:extLst>
          </p:cNvPr>
          <p:cNvSpPr txBox="1">
            <a:spLocks/>
          </p:cNvSpPr>
          <p:nvPr/>
        </p:nvSpPr>
        <p:spPr>
          <a:xfrm>
            <a:off x="1295400" y="12573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432CB1F-405A-E358-590F-4ADC9B15C826}"/>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6" name="Footer Placeholder 4">
            <a:extLst>
              <a:ext uri="{FF2B5EF4-FFF2-40B4-BE49-F238E27FC236}">
                <a16:creationId xmlns:a16="http://schemas.microsoft.com/office/drawing/2014/main" id="{20A749AF-741A-6F04-C40A-4D02446F542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9" name="TextBox 18">
            <a:extLst>
              <a:ext uri="{FF2B5EF4-FFF2-40B4-BE49-F238E27FC236}">
                <a16:creationId xmlns:a16="http://schemas.microsoft.com/office/drawing/2014/main" id="{4E83C445-F491-653D-AF95-1BA0FE29AF36}"/>
              </a:ext>
            </a:extLst>
          </p:cNvPr>
          <p:cNvSpPr txBox="1"/>
          <p:nvPr/>
        </p:nvSpPr>
        <p:spPr>
          <a:xfrm>
            <a:off x="1600200" y="1752600"/>
            <a:ext cx="7010400"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demonstrates the effective use of deep learning and computer vision for automated breed identification of dairy cattle and buffaloes.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AI-based system reduces human dependency and improves accuracy by analyzing visual and morphological features.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web-based implementation enables real-time predictions with confidence scores, enhancing usability and decision-making.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system validates the feasibility of AI-assisted livestock management and supports the digital transformation of the agricultural sector.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952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7C5E74A-848B-46C1-8599-E931603CD6B0}" type="datetime5">
              <a:rPr lang="en-US" smtClean="0"/>
              <a:t>8-Mar-26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8" name="Title 8"/>
          <p:cNvSpPr txBox="1">
            <a:spLocks/>
          </p:cNvSpPr>
          <p:nvPr/>
        </p:nvSpPr>
        <p:spPr>
          <a:xfrm>
            <a:off x="1295400" y="228600"/>
            <a:ext cx="7543800" cy="1143000"/>
          </a:xfrm>
          <a:prstGeom prst="rect">
            <a:avLst/>
          </a:prstGeom>
        </p:spPr>
        <p:txBody>
          <a:bodyPr>
            <a:normAutofit fontScale="85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39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References</a:t>
            </a: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 name="Rectangle 1">
            <a:extLst>
              <a:ext uri="{FF2B5EF4-FFF2-40B4-BE49-F238E27FC236}">
                <a16:creationId xmlns:a16="http://schemas.microsoft.com/office/drawing/2014/main" id="{7528CA35-82E5-25E8-5154-791FD70C9AFF}"/>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0FC6B548-9CA2-51CC-A01A-0415C6BAE2C8}"/>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7" name="Rectangle 2">
            <a:extLst>
              <a:ext uri="{FF2B5EF4-FFF2-40B4-BE49-F238E27FC236}">
                <a16:creationId xmlns:a16="http://schemas.microsoft.com/office/drawing/2014/main" id="{F8CC5B20-63A3-5E10-9C33-79C5DC21FE19}"/>
              </a:ext>
            </a:extLst>
          </p:cNvPr>
          <p:cNvSpPr>
            <a:spLocks noChangeArrowheads="1"/>
          </p:cNvSpPr>
          <p:nvPr/>
        </p:nvSpPr>
        <p:spPr bwMode="auto">
          <a:xfrm rot="10800000" flipV="1">
            <a:off x="1715931" y="1562234"/>
            <a:ext cx="6399369" cy="373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spcBef>
                <a:spcPct val="0"/>
              </a:spcBef>
              <a:spcAft>
                <a:spcPct val="0"/>
              </a:spcAft>
              <a:buFont typeface="Arial"/>
              <a:buChar char="•"/>
            </a:pPr>
            <a:r>
              <a:rPr lang="en-US" altLang="en-US" sz="2000" dirty="0">
                <a:latin typeface="Times New Roman"/>
                <a:ea typeface="+mn-lt"/>
                <a:cs typeface="Times New Roman"/>
              </a:rPr>
              <a:t>A. Sharma et al., “Deep Learning Models for Livestock Breed Identification,” </a:t>
            </a:r>
            <a:r>
              <a:rPr lang="en-US" altLang="en-US" sz="2000" i="1" dirty="0">
                <a:latin typeface="Times New Roman"/>
                <a:ea typeface="+mn-lt"/>
                <a:cs typeface="Times New Roman"/>
              </a:rPr>
              <a:t>IEEE Access</a:t>
            </a:r>
            <a:r>
              <a:rPr lang="en-US" altLang="en-US" sz="2000" dirty="0">
                <a:latin typeface="Times New Roman"/>
                <a:ea typeface="+mn-lt"/>
                <a:cs typeface="Times New Roman"/>
              </a:rPr>
              <a:t>, vol. 11, pp. 12345–12356, 2023.</a:t>
            </a:r>
            <a:endParaRPr lang="en-US" altLang="en-US" dirty="0">
              <a:latin typeface="Times New Roman"/>
              <a:ea typeface="+mn-lt"/>
              <a:cs typeface="Times New Roman"/>
            </a:endParaRPr>
          </a:p>
          <a:p>
            <a:pPr marL="342900" indent="-342900">
              <a:lnSpc>
                <a:spcPct val="150000"/>
              </a:lnSpc>
              <a:spcBef>
                <a:spcPct val="0"/>
              </a:spcBef>
              <a:spcAft>
                <a:spcPct val="0"/>
              </a:spcAft>
              <a:buFont typeface="Arial"/>
              <a:buChar char="•"/>
            </a:pPr>
            <a:r>
              <a:rPr lang="en-US" altLang="en-US" sz="2000" dirty="0">
                <a:latin typeface="Times New Roman"/>
                <a:ea typeface="+mn-lt"/>
                <a:cs typeface="Times New Roman"/>
              </a:rPr>
              <a:t>Ministry of Fisheries, Animal Husbandry &amp; Dairying, </a:t>
            </a:r>
            <a:r>
              <a:rPr lang="en-US" altLang="en-US" sz="2000" i="1" dirty="0">
                <a:latin typeface="Times New Roman"/>
                <a:ea typeface="+mn-lt"/>
                <a:cs typeface="Times New Roman"/>
              </a:rPr>
              <a:t>Bharat </a:t>
            </a:r>
            <a:r>
              <a:rPr lang="en-US" altLang="en-US" sz="2000" i="1" dirty="0" err="1">
                <a:latin typeface="Times New Roman"/>
                <a:ea typeface="+mn-lt"/>
                <a:cs typeface="Times New Roman"/>
              </a:rPr>
              <a:t>Pashudhan</a:t>
            </a:r>
            <a:r>
              <a:rPr lang="en-US" altLang="en-US" sz="2000" i="1" dirty="0">
                <a:latin typeface="Times New Roman"/>
                <a:ea typeface="+mn-lt"/>
                <a:cs typeface="Times New Roman"/>
              </a:rPr>
              <a:t> App</a:t>
            </a:r>
            <a:r>
              <a:rPr lang="en-US" altLang="en-US" sz="2000" dirty="0">
                <a:latin typeface="Times New Roman"/>
                <a:ea typeface="+mn-lt"/>
                <a:cs typeface="Times New Roman"/>
              </a:rPr>
              <a:t>, Govt. of India, 2022.</a:t>
            </a:r>
            <a:endParaRPr lang="en-US" altLang="en-US">
              <a:latin typeface="Times New Roman"/>
              <a:ea typeface="Calibri"/>
              <a:cs typeface="Times New Roman"/>
            </a:endParaRPr>
          </a:p>
          <a:p>
            <a:pPr marL="342900" indent="-342900">
              <a:lnSpc>
                <a:spcPct val="150000"/>
              </a:lnSpc>
              <a:spcBef>
                <a:spcPct val="0"/>
              </a:spcBef>
              <a:spcAft>
                <a:spcPct val="0"/>
              </a:spcAft>
              <a:buFont typeface="Arial"/>
              <a:buChar char="•"/>
            </a:pPr>
            <a:r>
              <a:rPr lang="en-US" altLang="en-US" sz="2000" dirty="0">
                <a:latin typeface="Times New Roman"/>
                <a:ea typeface="Calibri"/>
                <a:cs typeface="Times New Roman"/>
              </a:rPr>
              <a:t>R. Singh and K. Mehta, “Applications of Computer Vision in Precision Livestock Farming,” </a:t>
            </a:r>
            <a:r>
              <a:rPr lang="en-US" altLang="en-US" sz="2000" i="1" dirty="0">
                <a:latin typeface="Times New Roman"/>
                <a:ea typeface="Calibri"/>
                <a:cs typeface="Times New Roman"/>
              </a:rPr>
              <a:t>Computers and Electronics in Agriculture</a:t>
            </a:r>
            <a:r>
              <a:rPr lang="en-US" altLang="en-US" sz="2000" dirty="0">
                <a:latin typeface="Times New Roman"/>
                <a:ea typeface="Calibri"/>
                <a:cs typeface="Times New Roman"/>
              </a:rPr>
              <a:t>, vol. 198, 2022.</a:t>
            </a:r>
            <a:endParaRPr lang="en-US">
              <a:ea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404D0F-F50F-6BEF-2D87-75BDBEDA262F}"/>
              </a:ext>
            </a:extLst>
          </p:cNvPr>
          <p:cNvSpPr>
            <a:spLocks noGrp="1"/>
          </p:cNvSpPr>
          <p:nvPr>
            <p:ph type="dt" sz="half" idx="10"/>
          </p:nvPr>
        </p:nvSpPr>
        <p:spPr/>
        <p:txBody>
          <a:bodyPr/>
          <a:lstStyle/>
          <a:p>
            <a:fld id="{D37E42D3-501F-479D-99F6-244FCC059CF6}" type="datetime5">
              <a:rPr lang="en-US" smtClean="0"/>
              <a:t>8-Mar-26</a:t>
            </a:fld>
            <a:endParaRPr lang="en-US"/>
          </a:p>
        </p:txBody>
      </p:sp>
      <p:sp>
        <p:nvSpPr>
          <p:cNvPr id="3" name="Footer Placeholder 2">
            <a:extLst>
              <a:ext uri="{FF2B5EF4-FFF2-40B4-BE49-F238E27FC236}">
                <a16:creationId xmlns:a16="http://schemas.microsoft.com/office/drawing/2014/main" id="{00D9D4B1-77C8-8B17-86FC-4EE64CE1522C}"/>
              </a:ext>
            </a:extLst>
          </p:cNvPr>
          <p:cNvSpPr>
            <a:spLocks noGrp="1"/>
          </p:cNvSpPr>
          <p:nvPr>
            <p:ph type="ftr" sz="quarter" idx="11"/>
          </p:nvPr>
        </p:nvSpPr>
        <p:spPr/>
        <p:txBody>
          <a:bodyPr/>
          <a:lstStyle/>
          <a:p>
            <a:r>
              <a:rPr lang="en-US" dirty="0"/>
              <a:t>Department of AI&amp;DS</a:t>
            </a:r>
          </a:p>
        </p:txBody>
      </p:sp>
      <p:sp>
        <p:nvSpPr>
          <p:cNvPr id="4" name="Slide Number Placeholder 3">
            <a:extLst>
              <a:ext uri="{FF2B5EF4-FFF2-40B4-BE49-F238E27FC236}">
                <a16:creationId xmlns:a16="http://schemas.microsoft.com/office/drawing/2014/main" id="{563B0C75-3240-5A9F-C3BF-3829A22A595E}"/>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5" name="Date Placeholder 1">
            <a:extLst>
              <a:ext uri="{FF2B5EF4-FFF2-40B4-BE49-F238E27FC236}">
                <a16:creationId xmlns:a16="http://schemas.microsoft.com/office/drawing/2014/main" id="{549A616B-43D2-1210-EF0D-D25E7E82705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87808B-5E86-4FDB-A372-B3022D5E9247}" type="datetime5">
              <a:rPr lang="en-US" smtClean="0"/>
              <a:pPr/>
              <a:t>8-Mar-26</a:t>
            </a:fld>
            <a:endParaRPr lang="en-US"/>
          </a:p>
        </p:txBody>
      </p:sp>
      <p:sp>
        <p:nvSpPr>
          <p:cNvPr id="7" name="Slide Number Placeholder 3">
            <a:extLst>
              <a:ext uri="{FF2B5EF4-FFF2-40B4-BE49-F238E27FC236}">
                <a16:creationId xmlns:a16="http://schemas.microsoft.com/office/drawing/2014/main" id="{585B17F0-A803-9FB9-BA42-F55524F1869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42</a:t>
            </a:fld>
            <a:endParaRPr lang="en-US"/>
          </a:p>
        </p:txBody>
      </p:sp>
      <p:sp>
        <p:nvSpPr>
          <p:cNvPr id="9" name="Date Placeholder 1">
            <a:extLst>
              <a:ext uri="{FF2B5EF4-FFF2-40B4-BE49-F238E27FC236}">
                <a16:creationId xmlns:a16="http://schemas.microsoft.com/office/drawing/2014/main" id="{D0990AC3-1D40-244A-B2EB-CEF69C06B10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87808B-5E86-4FDB-A372-B3022D5E9247}" type="datetime5">
              <a:rPr lang="en-US" smtClean="0"/>
              <a:pPr/>
              <a:t>8-Mar-26</a:t>
            </a:fld>
            <a:endParaRPr lang="en-US"/>
          </a:p>
        </p:txBody>
      </p:sp>
      <p:sp>
        <p:nvSpPr>
          <p:cNvPr id="11" name="Slide Number Placeholder 3">
            <a:extLst>
              <a:ext uri="{FF2B5EF4-FFF2-40B4-BE49-F238E27FC236}">
                <a16:creationId xmlns:a16="http://schemas.microsoft.com/office/drawing/2014/main" id="{E0BB8D0B-6FD0-BFFB-DAFD-A676A23728A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42</a:t>
            </a:fld>
            <a:endParaRPr lang="en-US"/>
          </a:p>
        </p:txBody>
      </p:sp>
      <p:sp>
        <p:nvSpPr>
          <p:cNvPr id="12" name="Rectangle 11">
            <a:extLst>
              <a:ext uri="{FF2B5EF4-FFF2-40B4-BE49-F238E27FC236}">
                <a16:creationId xmlns:a16="http://schemas.microsoft.com/office/drawing/2014/main" id="{79145545-A6EB-F01F-A8DE-C37A7FB2BF5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3" name="Title 8">
            <a:extLst>
              <a:ext uri="{FF2B5EF4-FFF2-40B4-BE49-F238E27FC236}">
                <a16:creationId xmlns:a16="http://schemas.microsoft.com/office/drawing/2014/main" id="{7ED13557-51BE-0B45-799A-EA0A188CB4B1}"/>
              </a:ext>
            </a:extLst>
          </p:cNvPr>
          <p:cNvSpPr txBox="1">
            <a:spLocks/>
          </p:cNvSpPr>
          <p:nvPr/>
        </p:nvSpPr>
        <p:spPr>
          <a:xfrm>
            <a:off x="3134360" y="2839915"/>
            <a:ext cx="4257040" cy="114300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4000" dirty="0">
                <a:latin typeface="Times New Roman" pitchFamily="18" charset="0"/>
                <a:ea typeface="+mj-ea"/>
                <a:cs typeface="Times New Roman" pitchFamily="18" charset="0"/>
              </a:rPr>
              <a:t>THANK YOU</a:t>
            </a:r>
            <a:endParaRPr kumimoji="0" lang="en-US" sz="40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3226663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DC1BAF-06D6-4458-A61D-4F967272DA4D}" type="datetime5">
              <a:rPr lang="en-US" smtClean="0"/>
              <a:t>8-Mar-26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2" name="Rectangle 1">
            <a:extLst>
              <a:ext uri="{FF2B5EF4-FFF2-40B4-BE49-F238E27FC236}">
                <a16:creationId xmlns:a16="http://schemas.microsoft.com/office/drawing/2014/main" id="{F0FC77DE-FC44-B2A9-FC38-06A3F94E4C4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42131025-94C2-06F7-91D1-E6A596762763}"/>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5" name="Date Placeholder 3">
            <a:extLst>
              <a:ext uri="{FF2B5EF4-FFF2-40B4-BE49-F238E27FC236}">
                <a16:creationId xmlns:a16="http://schemas.microsoft.com/office/drawing/2014/main" id="{8D63FD07-1360-D40A-0882-438F71E95F6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2E884-1C30-4E0D-A990-0434221FA751}" type="datetime5">
              <a:rPr lang="en-US" smtClean="0"/>
              <a:pPr/>
              <a:t>8-Mar-26</a:t>
            </a:fld>
            <a:endParaRPr lang="en-US"/>
          </a:p>
        </p:txBody>
      </p:sp>
      <p:sp>
        <p:nvSpPr>
          <p:cNvPr id="7" name="Slide Number Placeholder 5">
            <a:extLst>
              <a:ext uri="{FF2B5EF4-FFF2-40B4-BE49-F238E27FC236}">
                <a16:creationId xmlns:a16="http://schemas.microsoft.com/office/drawing/2014/main" id="{BBC662D1-C5FC-D6F6-8AC3-32F7E7EC171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41</a:t>
            </a:fld>
            <a:endParaRPr lang="en-US"/>
          </a:p>
        </p:txBody>
      </p:sp>
      <p:sp>
        <p:nvSpPr>
          <p:cNvPr id="8" name="Title 8">
            <a:extLst>
              <a:ext uri="{FF2B5EF4-FFF2-40B4-BE49-F238E27FC236}">
                <a16:creationId xmlns:a16="http://schemas.microsoft.com/office/drawing/2014/main" id="{4DB4C3C0-6B35-5243-60ED-AC74DA9B9EAB}"/>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Paper Status</a:t>
            </a: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9B05086E-C594-97D9-220F-87079CF13BDA}"/>
              </a:ext>
            </a:extLst>
          </p:cNvPr>
          <p:cNvSpPr txBox="1">
            <a:spLocks/>
          </p:cNvSpPr>
          <p:nvPr/>
        </p:nvSpPr>
        <p:spPr>
          <a:xfrm flipV="1">
            <a:off x="3686604" y="9969161"/>
            <a:ext cx="4390595" cy="45719"/>
          </a:xfrm>
          <a:prstGeom prst="rect">
            <a:avLst/>
          </a:prstGeom>
        </p:spPr>
        <p:txBody>
          <a:bodyPr>
            <a:normAutofit fontScale="25000" lnSpcReduction="20000"/>
          </a:bodyPr>
          <a:lstStyle/>
          <a:p>
            <a:endParaRPr lang="en-IN"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4DCD0C03-5D45-D1A6-5C7C-8969B8ACDF18}"/>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Footer Placeholder 4">
            <a:extLst>
              <a:ext uri="{FF2B5EF4-FFF2-40B4-BE49-F238E27FC236}">
                <a16:creationId xmlns:a16="http://schemas.microsoft.com/office/drawing/2014/main" id="{CD89762E-A3E6-5676-1EB7-ECEAA48CEFE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31" name="TextBox 30">
            <a:extLst>
              <a:ext uri="{FF2B5EF4-FFF2-40B4-BE49-F238E27FC236}">
                <a16:creationId xmlns:a16="http://schemas.microsoft.com/office/drawing/2014/main" id="{D1B90B06-796A-1B23-B707-626FD0BC5A07}"/>
              </a:ext>
            </a:extLst>
          </p:cNvPr>
          <p:cNvSpPr txBox="1"/>
          <p:nvPr/>
        </p:nvSpPr>
        <p:spPr>
          <a:xfrm>
            <a:off x="1752600" y="1792396"/>
            <a:ext cx="6781800" cy="2862322"/>
          </a:xfrm>
          <a:prstGeom prst="rect">
            <a:avLst/>
          </a:prstGeom>
          <a:noFill/>
        </p:spPr>
        <p:txBody>
          <a:bodyPr wrap="square">
            <a:spAutoFit/>
          </a:bodyPr>
          <a:lstStyle/>
          <a:p>
            <a:pPr marL="342900" indent="-3429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rPr>
              <a:t>14th International Conference on Contemporary Engineering and Technology – ICCET 2026</a:t>
            </a:r>
          </a:p>
          <a:p>
            <a:pPr marL="342900" indent="-342900" eaLnBrk="0" fontAlgn="base" hangingPunct="0">
              <a:spcBef>
                <a:spcPct val="0"/>
              </a:spcBef>
              <a:spcAft>
                <a:spcPct val="0"/>
              </a:spcAft>
              <a:buFont typeface="Arial" panose="020B0604020202020204" pitchFamily="34" charset="0"/>
              <a:buChar char="•"/>
            </a:pPr>
            <a:endParaRPr lang="en-US" sz="2000" dirty="0">
              <a:latin typeface="Times New Roman" panose="02020603050405020304" pitchFamily="18" charset="0"/>
            </a:endParaRPr>
          </a:p>
          <a:p>
            <a:pPr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Paper Status: (ACCEPTED) </a:t>
            </a:r>
          </a:p>
          <a:p>
            <a:pPr eaLnBrk="0" fontAlgn="base" hangingPunct="0">
              <a:spcBef>
                <a:spcPct val="0"/>
              </a:spcBef>
              <a:spcAft>
                <a:spcPct val="0"/>
              </a:spcAft>
            </a:pPr>
            <a:endParaRPr lang="en-US" sz="2000" b="1"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Paper ID: ICCET260592</a:t>
            </a:r>
          </a:p>
          <a:p>
            <a:pPr lvl="0" algn="just" eaLnBrk="0" fontAlgn="base" hangingPunct="0">
              <a:spcBef>
                <a:spcPct val="0"/>
              </a:spcBef>
              <a:spcAft>
                <a:spcPct val="0"/>
              </a:spcAft>
            </a:pPr>
            <a:endParaRPr lang="en-US" sz="20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Paper Title: </a:t>
            </a:r>
            <a:r>
              <a:rPr lang="en-US" sz="2000" dirty="0">
                <a:latin typeface="Times New Roman" panose="02020603050405020304" pitchFamily="18" charset="0"/>
                <a:cs typeface="Times New Roman" panose="02020603050405020304" pitchFamily="18" charset="0"/>
              </a:rPr>
              <a:t>AI-Driven Cattle Breed Identification and Livestock Monitoring for the Indian Agricultural Ecosystem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902</TotalTime>
  <Words>2251</Words>
  <Application>Microsoft Office PowerPoint</Application>
  <PresentationFormat>On-screen Show (4:3)</PresentationFormat>
  <Paragraphs>338</Paragraphs>
  <Slides>42</Slides>
  <Notes>12</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Objective</vt:lpstr>
      <vt:lpstr>Introduction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DSLAB</dc:creator>
  <cp:lastModifiedBy>nj navya</cp:lastModifiedBy>
  <cp:revision>588</cp:revision>
  <dcterms:created xsi:type="dcterms:W3CDTF">2006-08-16T00:00:00Z</dcterms:created>
  <dcterms:modified xsi:type="dcterms:W3CDTF">2026-03-08T20:08:30Z</dcterms:modified>
</cp:coreProperties>
</file>